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Helvetica Neue"/>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5" roundtripDataSignature="AMtx7mgV10Mlj9uKfnm63nrM8O81YM9c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6a5c14414_1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a6a5c14414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7"/>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29"/>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p:nvPr>
            <p:ph idx="2" type="pic"/>
          </p:nvPr>
        </p:nvSpPr>
        <p:spPr>
          <a:xfrm>
            <a:off x="1792288" y="459581"/>
            <a:ext cx="5486400" cy="3086100"/>
          </a:xfrm>
          <a:prstGeom prst="rect">
            <a:avLst/>
          </a:prstGeom>
          <a:noFill/>
          <a:ln>
            <a:noFill/>
          </a:ln>
        </p:spPr>
      </p:sp>
      <p:sp>
        <p:nvSpPr>
          <p:cNvPr id="36" name="Google Shape;36;p29"/>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0"/>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1"/>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1"/>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34"/>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2.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597819"/>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Arial"/>
              <a:buNone/>
            </a:pPr>
            <a:r>
              <a:rPr b="1" lang="en-ID" sz="3600">
                <a:solidFill>
                  <a:schemeClr val="lt1"/>
                </a:solidFill>
              </a:rPr>
              <a:t>Web Service and Database part 3  Submission form</a:t>
            </a:r>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10</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400"/>
              <a:buFont typeface="Arial"/>
              <a:buNone/>
            </a:pPr>
            <a:r>
              <a:rPr b="0" i="0" lang="en-ID" sz="24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400"/>
              <a:buFont typeface="Arial"/>
              <a:buNone/>
            </a:pPr>
            <a:r>
              <a:rPr b="1" lang="en-ID" sz="4400">
                <a:solidFill>
                  <a:srgbClr val="DAE5F1"/>
                </a:solidFill>
              </a:rPr>
              <a:t>BUILD FORM WITH VALIDATION</a:t>
            </a:r>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FORM WITH VALIDATION</a:t>
            </a:r>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03" name="Google Shape;103;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3"/>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59459"/>
              <a:buNone/>
            </a:pPr>
            <a:r>
              <a:rPr lang="en-ID" sz="2000"/>
              <a:t>Sometimes we need to validate user input. The validation can be invoked in </a:t>
            </a:r>
            <a:r>
              <a:rPr b="1" lang="en-ID" sz="2000"/>
              <a:t>frontend (client side--device), backend (server side--web service), or both.</a:t>
            </a:r>
            <a:r>
              <a:rPr lang="en-ID" sz="2000"/>
              <a:t> </a:t>
            </a:r>
            <a:endParaRPr sz="2000"/>
          </a:p>
          <a:p>
            <a:pPr indent="0" lvl="0" marL="0" rtl="0" algn="l">
              <a:lnSpc>
                <a:spcPct val="90000"/>
              </a:lnSpc>
              <a:spcBef>
                <a:spcPts val="0"/>
              </a:spcBef>
              <a:spcAft>
                <a:spcPts val="0"/>
              </a:spcAft>
              <a:buClr>
                <a:schemeClr val="dk1"/>
              </a:buClr>
              <a:buSzPct val="59459"/>
              <a:buNone/>
            </a:pPr>
            <a:r>
              <a:t/>
            </a:r>
            <a:endParaRPr sz="2000"/>
          </a:p>
          <a:p>
            <a:pPr indent="0" lvl="0" marL="0" rtl="0" algn="l">
              <a:lnSpc>
                <a:spcPct val="90000"/>
              </a:lnSpc>
              <a:spcBef>
                <a:spcPts val="0"/>
              </a:spcBef>
              <a:spcAft>
                <a:spcPts val="0"/>
              </a:spcAft>
              <a:buClr>
                <a:schemeClr val="dk1"/>
              </a:buClr>
              <a:buSzPct val="59459"/>
              <a:buNone/>
            </a:pPr>
            <a:r>
              <a:rPr lang="en-ID" sz="2000"/>
              <a:t>However, client-side validation can </a:t>
            </a:r>
            <a:r>
              <a:rPr b="1" lang="en-ID" sz="2000"/>
              <a:t>reduce server computation</a:t>
            </a:r>
            <a:r>
              <a:rPr lang="en-ID" sz="2000"/>
              <a:t> and </a:t>
            </a:r>
            <a:r>
              <a:rPr b="1" lang="en-ID" sz="2000"/>
              <a:t>reduce bandwidth consumption</a:t>
            </a:r>
            <a:r>
              <a:rPr lang="en-ID" sz="2000"/>
              <a:t>. Therefore, it’s recommended to do a validation in a submission form before submitting data to server. </a:t>
            </a:r>
            <a:endParaRPr/>
          </a:p>
          <a:p>
            <a:pPr indent="0" lvl="0" marL="0" rtl="0" algn="l">
              <a:lnSpc>
                <a:spcPct val="90000"/>
              </a:lnSpc>
              <a:spcBef>
                <a:spcPts val="1000"/>
              </a:spcBef>
              <a:spcAft>
                <a:spcPts val="0"/>
              </a:spcAft>
              <a:buClr>
                <a:schemeClr val="dk1"/>
              </a:buClr>
              <a:buSzPct val="59459"/>
              <a:buNone/>
            </a:pPr>
            <a:r>
              <a:rPr lang="en-ID" sz="2000"/>
              <a:t>There are several basic validations: </a:t>
            </a:r>
            <a:r>
              <a:rPr b="1" lang="en-ID" sz="2000"/>
              <a:t>avoiding blank value, accepting number only, range validation, structure validation like email or website, etc.</a:t>
            </a:r>
            <a:endParaRPr b="1"/>
          </a:p>
          <a:p>
            <a:pPr indent="0" lvl="0" marL="0" rtl="0" algn="l">
              <a:lnSpc>
                <a:spcPct val="90000"/>
              </a:lnSpc>
              <a:spcBef>
                <a:spcPts val="1000"/>
              </a:spcBef>
              <a:spcAft>
                <a:spcPts val="0"/>
              </a:spcAft>
              <a:buClr>
                <a:schemeClr val="dk1"/>
              </a:buClr>
              <a:buSzPct val="59459"/>
              <a:buNone/>
            </a:pPr>
            <a:r>
              <a:rPr lang="en-ID" sz="2000"/>
              <a:t>We will start this weekly topic by implementing validation first, before studying how to insert data to database. There are 3 steps for implementing validation:</a:t>
            </a:r>
            <a:endParaRPr/>
          </a:p>
          <a:p>
            <a:pPr indent="-342900" lvl="0" marL="342900" rtl="0" algn="l">
              <a:spcBef>
                <a:spcPts val="370"/>
              </a:spcBef>
              <a:spcAft>
                <a:spcPts val="0"/>
              </a:spcAft>
              <a:buClr>
                <a:schemeClr val="dk1"/>
              </a:buClr>
              <a:buSzPct val="100000"/>
              <a:buChar char="•"/>
            </a:pPr>
            <a:r>
              <a:rPr lang="en-ID" sz="2000"/>
              <a:t>Create a form with a GlobalKey.</a:t>
            </a:r>
            <a:endParaRPr/>
          </a:p>
          <a:p>
            <a:pPr indent="-342900" lvl="0" marL="342900" rtl="0" algn="l">
              <a:spcBef>
                <a:spcPts val="370"/>
              </a:spcBef>
              <a:spcAft>
                <a:spcPts val="0"/>
              </a:spcAft>
              <a:buClr>
                <a:schemeClr val="dk1"/>
              </a:buClr>
              <a:buSzPct val="100000"/>
              <a:buChar char="•"/>
            </a:pPr>
            <a:r>
              <a:rPr lang="en-ID" sz="2000"/>
              <a:t>Add element for input with validation logic.</a:t>
            </a:r>
            <a:endParaRPr/>
          </a:p>
          <a:p>
            <a:pPr indent="-342900" lvl="0" marL="342900" rtl="0" algn="l">
              <a:spcBef>
                <a:spcPts val="370"/>
              </a:spcBef>
              <a:spcAft>
                <a:spcPts val="0"/>
              </a:spcAft>
              <a:buClr>
                <a:schemeClr val="dk1"/>
              </a:buClr>
              <a:buSzPct val="100000"/>
              <a:buChar char="•"/>
            </a:pPr>
            <a:r>
              <a:rPr lang="en-ID" sz="2000"/>
              <a:t>Add button to validate before submitting the form.</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Preparation </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11" name="Google Shape;111;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4"/>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None/>
            </a:pPr>
            <a:r>
              <a:rPr lang="en-ID" sz="2000"/>
              <a:t>We will implement validation in a form that will be used for adding new popular movie data. Prepare a stateful page, for example newpopmovie.dart. Also a menu to open this page.</a:t>
            </a:r>
            <a:endParaRPr sz="2000">
              <a:latin typeface="Arial"/>
              <a:ea typeface="Arial"/>
              <a:cs typeface="Arial"/>
              <a:sym typeface="Arial"/>
            </a:endParaRPr>
          </a:p>
          <a:p>
            <a:pPr indent="0" lvl="0" marL="0" rtl="0" algn="l">
              <a:lnSpc>
                <a:spcPct val="120000"/>
              </a:lnSpc>
              <a:spcBef>
                <a:spcPts val="1000"/>
              </a:spcBef>
              <a:spcAft>
                <a:spcPts val="0"/>
              </a:spcAft>
              <a:buClr>
                <a:schemeClr val="dk1"/>
              </a:buClr>
              <a:buSzPts val="1100"/>
              <a:buNone/>
            </a:pPr>
            <a:r>
              <a:t/>
            </a:r>
            <a:endParaRPr sz="2000">
              <a:latin typeface="Arial"/>
              <a:ea typeface="Arial"/>
              <a:cs typeface="Arial"/>
              <a:sym typeface="Arial"/>
            </a:endParaRPr>
          </a:p>
          <a:p>
            <a:pPr indent="0" lvl="0" marL="0" rtl="0" algn="l">
              <a:lnSpc>
                <a:spcPct val="120000"/>
              </a:lnSpc>
              <a:spcBef>
                <a:spcPts val="1000"/>
              </a:spcBef>
              <a:spcAft>
                <a:spcPts val="0"/>
              </a:spcAft>
              <a:buClr>
                <a:schemeClr val="dk1"/>
              </a:buClr>
              <a:buSzPts val="1100"/>
              <a:buNone/>
            </a:pPr>
            <a:r>
              <a:rPr lang="en-ID" sz="2000">
                <a:latin typeface="Arial"/>
                <a:ea typeface="Arial"/>
                <a:cs typeface="Arial"/>
                <a:sym typeface="Arial"/>
              </a:rPr>
              <a:t>The page will be added with a global key for the validation process.</a:t>
            </a:r>
            <a:endParaRPr sz="2000">
              <a:latin typeface="Arial"/>
              <a:ea typeface="Arial"/>
              <a:cs typeface="Arial"/>
              <a:sym typeface="Arial"/>
            </a:endParaRPr>
          </a:p>
          <a:p>
            <a:pPr indent="0" lvl="0" marL="0" rtl="0" algn="l">
              <a:lnSpc>
                <a:spcPct val="120000"/>
              </a:lnSpc>
              <a:spcBef>
                <a:spcPts val="1000"/>
              </a:spcBef>
              <a:spcAft>
                <a:spcPts val="0"/>
              </a:spcAft>
              <a:buClr>
                <a:schemeClr val="dk1"/>
              </a:buClr>
              <a:buSzPts val="1100"/>
              <a:buNone/>
            </a:pPr>
            <a:r>
              <a:rPr lang="en-ID" sz="2000"/>
              <a:t>GlobalKey is a special type of key that uniquely identifies an element across the entire application.</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g3a6a5c14414_1_1"/>
          <p:cNvSpPr txBox="1"/>
          <p:nvPr>
            <p:ph type="title"/>
          </p:nvPr>
        </p:nvSpPr>
        <p:spPr>
          <a:xfrm>
            <a:off x="0" y="0"/>
            <a:ext cx="8229600" cy="576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About FormState</a:t>
            </a:r>
            <a:endParaRPr/>
          </a:p>
        </p:txBody>
      </p:sp>
      <p:cxnSp>
        <p:nvCxnSpPr>
          <p:cNvPr id="118" name="Google Shape;118;g3a6a5c14414_1_1"/>
          <p:cNvCxnSpPr/>
          <p:nvPr/>
        </p:nvCxnSpPr>
        <p:spPr>
          <a:xfrm>
            <a:off x="0" y="576943"/>
            <a:ext cx="7337100" cy="15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50"/>
              </a:srgbClr>
            </a:outerShdw>
          </a:effectLst>
        </p:spPr>
      </p:cxnSp>
      <p:sp>
        <p:nvSpPr>
          <p:cNvPr descr="Google's Flutter framework spreads its wings and goes multi-platform |  TechCrunch" id="119" name="Google Shape;119;g3a6a5c14414_1_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g3a6a5c14414_1_1"/>
          <p:cNvSpPr txBox="1"/>
          <p:nvPr>
            <p:ph idx="1" type="body"/>
          </p:nvPr>
        </p:nvSpPr>
        <p:spPr>
          <a:xfrm>
            <a:off x="457200" y="783771"/>
            <a:ext cx="8229600" cy="38109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20000"/>
              </a:lnSpc>
              <a:spcBef>
                <a:spcPts val="1000"/>
              </a:spcBef>
              <a:spcAft>
                <a:spcPts val="0"/>
              </a:spcAft>
              <a:buClr>
                <a:schemeClr val="dk1"/>
              </a:buClr>
              <a:buSzPts val="1100"/>
              <a:buNone/>
            </a:pPr>
            <a:r>
              <a:rPr lang="en-ID" sz="2000"/>
              <a:t>FormState represents the </a:t>
            </a:r>
            <a:r>
              <a:rPr b="1" lang="en-ID" sz="2000"/>
              <a:t>mutable state</a:t>
            </a:r>
            <a:r>
              <a:rPr lang="en-ID" sz="2000"/>
              <a:t> associated with a Form widget. It provides methods to interact with and manage the form's fields, including </a:t>
            </a:r>
            <a:r>
              <a:rPr b="1" lang="en-ID" sz="2000"/>
              <a:t>validation, saving, and resetting.</a:t>
            </a:r>
            <a:endParaRPr b="1" sz="2000"/>
          </a:p>
          <a:p>
            <a:pPr indent="-355600" lvl="0" marL="457200" rtl="0" algn="l">
              <a:lnSpc>
                <a:spcPct val="120000"/>
              </a:lnSpc>
              <a:spcBef>
                <a:spcPts val="1000"/>
              </a:spcBef>
              <a:spcAft>
                <a:spcPts val="0"/>
              </a:spcAft>
              <a:buSzPts val="2000"/>
              <a:buChar char="•"/>
            </a:pPr>
            <a:r>
              <a:rPr lang="en-ID" sz="2000"/>
              <a:t>A FormState object is automatically created and managed by Flutter when a Form widget is built</a:t>
            </a:r>
            <a:endParaRPr sz="2000"/>
          </a:p>
          <a:p>
            <a:pPr indent="-355600" lvl="0" marL="457200" rtl="0" algn="l">
              <a:lnSpc>
                <a:spcPct val="120000"/>
              </a:lnSpc>
              <a:spcBef>
                <a:spcPts val="0"/>
              </a:spcBef>
              <a:spcAft>
                <a:spcPts val="0"/>
              </a:spcAft>
              <a:buSzPts val="2000"/>
              <a:buChar char="•"/>
            </a:pPr>
            <a:r>
              <a:rPr b="1" lang="en-ID" sz="2000">
                <a:latin typeface="Consolas"/>
                <a:ea typeface="Consolas"/>
                <a:cs typeface="Consolas"/>
                <a:sym typeface="Consolas"/>
              </a:rPr>
              <a:t>_formKey.currentState</a:t>
            </a:r>
            <a:r>
              <a:rPr lang="en-ID" sz="2000"/>
              <a:t> is used to get a reference to the FormState object</a:t>
            </a:r>
            <a:endParaRPr sz="2000"/>
          </a:p>
          <a:p>
            <a:pPr indent="-355600" lvl="0" marL="457200" rtl="0" algn="l">
              <a:lnSpc>
                <a:spcPct val="120000"/>
              </a:lnSpc>
              <a:spcBef>
                <a:spcPts val="0"/>
              </a:spcBef>
              <a:spcAft>
                <a:spcPts val="0"/>
              </a:spcAft>
              <a:buSzPts val="2000"/>
              <a:buChar char="•"/>
            </a:pPr>
            <a:r>
              <a:rPr lang="en-ID" sz="2000"/>
              <a:t>The </a:t>
            </a:r>
            <a:r>
              <a:rPr b="1" lang="en-ID" sz="2000">
                <a:latin typeface="Consolas"/>
                <a:ea typeface="Consolas"/>
                <a:cs typeface="Consolas"/>
                <a:sym typeface="Consolas"/>
              </a:rPr>
              <a:t>validate()</a:t>
            </a:r>
            <a:r>
              <a:rPr lang="en-ID" sz="2000"/>
              <a:t> method on FormState triggers the validator functions of all FormField descendants within the form. It returns </a:t>
            </a:r>
            <a:r>
              <a:rPr b="1" lang="en-ID" sz="2000"/>
              <a:t>true if all fields are valid</a:t>
            </a:r>
            <a:r>
              <a:rPr lang="en-ID" sz="2000"/>
              <a:t> and </a:t>
            </a:r>
            <a:r>
              <a:rPr b="1" lang="en-ID" sz="2000"/>
              <a:t>false otherwise</a:t>
            </a:r>
            <a:r>
              <a:rPr lang="en-ID" sz="2000"/>
              <a:t>, also causing the form to </a:t>
            </a:r>
            <a:r>
              <a:rPr b="1" lang="en-ID" sz="2000"/>
              <a:t>rebuild</a:t>
            </a:r>
            <a:r>
              <a:rPr lang="en-ID" sz="2000"/>
              <a:t> and display any </a:t>
            </a:r>
            <a:r>
              <a:rPr b="1" lang="en-ID" sz="2000"/>
              <a:t>validation errors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newpopmovie.dart</a:t>
            </a:r>
            <a:endParaRPr b="1" sz="3600">
              <a:solidFill>
                <a:srgbClr val="000090"/>
              </a:solidFill>
            </a:endParaRPr>
          </a:p>
        </p:txBody>
      </p:sp>
      <p:cxnSp>
        <p:nvCxnSpPr>
          <p:cNvPr id="126" name="Google Shape;126;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7" name="Google Shape;127;p5"/>
          <p:cNvSpPr/>
          <p:nvPr/>
        </p:nvSpPr>
        <p:spPr>
          <a:xfrm>
            <a:off x="8627" y="854501"/>
            <a:ext cx="4572000"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class NewPopMovie extends StatefulWidget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const NewPopMovie({super.key});</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@override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State&lt;NewPopMovie&gt; createState() =&gt; _NewPopMovieState();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sz="1400">
              <a:solidFill>
                <a:schemeClr val="dk1"/>
              </a:solidFill>
              <a:latin typeface="Helvetica Neue"/>
              <a:ea typeface="Helvetica Neue"/>
              <a:cs typeface="Helvetica Neue"/>
              <a:sym typeface="Helvetica Neue"/>
            </a:endParaRPr>
          </a:p>
        </p:txBody>
      </p:sp>
      <p:sp>
        <p:nvSpPr>
          <p:cNvPr id="128" name="Google Shape;128;p5"/>
          <p:cNvSpPr/>
          <p:nvPr/>
        </p:nvSpPr>
        <p:spPr>
          <a:xfrm>
            <a:off x="4563373" y="709451"/>
            <a:ext cx="45720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class _NewPopMovieState extends State&lt;NewPopMovie&gt;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_formKey = GlobalKey&lt;FormState&gt;();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String _title =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@override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Widget build(BuildContext context)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return Scaffold(</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appBar: AppBar(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title: Text("New Popular Movie"),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body: Form(</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key: _formKey,</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Column(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children: &lt;Widget&gt;[],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p:txBody>
      </p:sp>
      <p:cxnSp>
        <p:nvCxnSpPr>
          <p:cNvPr id="129" name="Google Shape;129;p5"/>
          <p:cNvCxnSpPr/>
          <p:nvPr/>
        </p:nvCxnSpPr>
        <p:spPr>
          <a:xfrm>
            <a:off x="4451230" y="596239"/>
            <a:ext cx="0" cy="4148289"/>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TextFormField</a:t>
            </a:r>
            <a:endParaRPr b="1" sz="3600">
              <a:solidFill>
                <a:srgbClr val="000090"/>
              </a:solidFill>
            </a:endParaRPr>
          </a:p>
        </p:txBody>
      </p:sp>
      <p:cxnSp>
        <p:nvCxnSpPr>
          <p:cNvPr id="135" name="Google Shape;135;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36" name="Google Shape;136;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6"/>
          <p:cNvSpPr/>
          <p:nvPr/>
        </p:nvSpPr>
        <p:spPr>
          <a:xfrm>
            <a:off x="-407814" y="881946"/>
            <a:ext cx="6397625"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			Padding(</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padding: EdgeInsets.all(10),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TextFormField(</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decoration: const InputDecoration(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labelText: 'Title',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onChanged: (value)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_title = value;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validator: (value)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 (value == null || value.isEmpty)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return 'Judul harus diisi';</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return null;</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sz="1400">
              <a:solidFill>
                <a:srgbClr val="FF0000"/>
              </a:solidFill>
              <a:latin typeface="Consolas"/>
              <a:ea typeface="Consolas"/>
              <a:cs typeface="Consolas"/>
              <a:sym typeface="Consolas"/>
            </a:endParaRPr>
          </a:p>
          <a:p>
            <a:pPr indent="0" lvl="0" marL="914400" marR="0" rtl="0" algn="l">
              <a:spcBef>
                <a:spcPts val="0"/>
              </a:spcBef>
              <a:spcAft>
                <a:spcPts val="0"/>
              </a:spcAft>
              <a:buNone/>
            </a:pPr>
            <a:r>
              <a:rPr lang="en-ID">
                <a:solidFill>
                  <a:srgbClr val="FF0000"/>
                </a:solidFill>
                <a:latin typeface="Consolas"/>
                <a:ea typeface="Consolas"/>
                <a:cs typeface="Consolas"/>
                <a:sym typeface="Consolas"/>
              </a:rPr>
              <a:t>   </a:t>
            </a:r>
            <a:r>
              <a:rPr lang="en-ID" sz="1400">
                <a:solidFill>
                  <a:srgbClr val="FF0000"/>
                </a:solidFill>
                <a:latin typeface="Consolas"/>
                <a:ea typeface="Consolas"/>
                <a:cs typeface="Consolas"/>
                <a:sym typeface="Consolas"/>
              </a:rPr>
              <a:t>)</a:t>
            </a:r>
            <a:endParaRPr sz="1400">
              <a:solidFill>
                <a:srgbClr val="FF0000"/>
              </a:solidFill>
              <a:latin typeface="Consolas"/>
              <a:ea typeface="Consolas"/>
              <a:cs typeface="Consolas"/>
              <a:sym typeface="Consolas"/>
            </a:endParaRPr>
          </a:p>
        </p:txBody>
      </p:sp>
      <p:pic>
        <p:nvPicPr>
          <p:cNvPr id="138" name="Google Shape;138;p6"/>
          <p:cNvPicPr preferRelativeResize="0"/>
          <p:nvPr/>
        </p:nvPicPr>
        <p:blipFill rotWithShape="1">
          <a:blip r:embed="rId4">
            <a:alphaModFix/>
          </a:blip>
          <a:srcRect b="0" l="0" r="0" t="0"/>
          <a:stretch/>
        </p:blipFill>
        <p:spPr>
          <a:xfrm>
            <a:off x="5989811" y="2405611"/>
            <a:ext cx="2491872" cy="24556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a Button</a:t>
            </a:r>
            <a:endParaRPr/>
          </a:p>
        </p:txBody>
      </p:sp>
      <p:cxnSp>
        <p:nvCxnSpPr>
          <p:cNvPr id="144" name="Google Shape;144;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45" name="Google Shape;145;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7"/>
          <p:cNvSpPr/>
          <p:nvPr/>
        </p:nvSpPr>
        <p:spPr>
          <a:xfrm>
            <a:off x="209995" y="838732"/>
            <a:ext cx="6558358" cy="289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Padding(</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padding: const EdgeInsets.symmetric(vertical: 16.0),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ElevatedButton(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 (_formKey.currentState != null &amp;&amp; </a:t>
            </a:r>
            <a:br>
              <a:rPr lang="en-ID" sz="1400">
                <a:solidFill>
                  <a:srgbClr val="FF0000"/>
                </a:solidFill>
                <a:latin typeface="Consolas"/>
                <a:ea typeface="Consolas"/>
                <a:cs typeface="Consolas"/>
                <a:sym typeface="Consolas"/>
              </a:rPr>
            </a:br>
            <a:r>
              <a:rPr lang="en-ID" sz="1400">
                <a:solidFill>
                  <a:srgbClr val="FF0000"/>
                </a:solidFill>
                <a:latin typeface="Consolas"/>
                <a:ea typeface="Consolas"/>
                <a:cs typeface="Consolas"/>
                <a:sym typeface="Consolas"/>
              </a:rPr>
              <a:t>		  !_formKey.currentState!.validate())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ScaffoldMessenger.of(context).showSnackBar(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r>
              <a:rPr lang="en-ID">
                <a:solidFill>
                  <a:srgbClr val="FF0000"/>
                </a:solidFill>
                <a:latin typeface="Consolas"/>
                <a:ea typeface="Consolas"/>
                <a:cs typeface="Consolas"/>
                <a:sym typeface="Consolas"/>
              </a:rPr>
              <a:t> </a:t>
            </a:r>
            <a:r>
              <a:rPr lang="en-ID" sz="1400">
                <a:solidFill>
                  <a:srgbClr val="FF0000"/>
                </a:solidFill>
                <a:latin typeface="Consolas"/>
                <a:ea typeface="Consolas"/>
                <a:cs typeface="Consolas"/>
                <a:sym typeface="Consolas"/>
              </a:rPr>
              <a:t>SnackBar(content: Text('Harap Isian diperbaiki')));</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r>
              <a:rPr lang="en-ID">
                <a:solidFill>
                  <a:srgbClr val="FF0000"/>
                </a:solidFill>
                <a:latin typeface="Consolas"/>
                <a:ea typeface="Consolas"/>
                <a:cs typeface="Consolas"/>
                <a:sym typeface="Consolas"/>
              </a:rPr>
              <a:t>c</a:t>
            </a:r>
            <a:r>
              <a:rPr lang="en-ID" sz="1400">
                <a:solidFill>
                  <a:srgbClr val="FF0000"/>
                </a:solidFill>
                <a:latin typeface="Consolas"/>
                <a:ea typeface="Consolas"/>
                <a:cs typeface="Consolas"/>
                <a:sym typeface="Consolas"/>
              </a:rPr>
              <a:t>hild: Text('Submit'),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br>
              <a:rPr lang="en-ID"/>
            </a:br>
            <a:r>
              <a:rPr lang="en-ID" sz="1400">
                <a:solidFill>
                  <a:srgbClr val="FF0000"/>
                </a:solidFill>
                <a:latin typeface="Consolas"/>
                <a:ea typeface="Consolas"/>
                <a:cs typeface="Consolas"/>
                <a:sym typeface="Consolas"/>
              </a:rPr>
              <a:t>),</a:t>
            </a:r>
            <a:endParaRPr/>
          </a:p>
        </p:txBody>
      </p:sp>
      <p:cxnSp>
        <p:nvCxnSpPr>
          <p:cNvPr id="147" name="Google Shape;147;p7"/>
          <p:cNvCxnSpPr/>
          <p:nvPr/>
        </p:nvCxnSpPr>
        <p:spPr>
          <a:xfrm>
            <a:off x="5469147" y="2648309"/>
            <a:ext cx="1380227" cy="2096219"/>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pic>
        <p:nvPicPr>
          <p:cNvPr id="148" name="Google Shape;148;p7"/>
          <p:cNvPicPr preferRelativeResize="0"/>
          <p:nvPr/>
        </p:nvPicPr>
        <p:blipFill rotWithShape="1">
          <a:blip r:embed="rId4">
            <a:alphaModFix/>
          </a:blip>
          <a:srcRect b="0" l="0" r="0" t="0"/>
          <a:stretch/>
        </p:blipFill>
        <p:spPr>
          <a:xfrm>
            <a:off x="6902458" y="576943"/>
            <a:ext cx="2172746" cy="45665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8"/>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WEB SERVICE</a:t>
            </a:r>
            <a:endParaRPr/>
          </a:p>
        </p:txBody>
      </p:sp>
      <p:sp>
        <p:nvSpPr>
          <p:cNvPr id="154" name="Google Shape;154;p8"/>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cxnSp>
        <p:nvCxnSpPr>
          <p:cNvPr id="159" name="Google Shape;159;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0" name="Google Shape;160;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9"/>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Web service preparation</a:t>
            </a:r>
            <a:endParaRPr/>
          </a:p>
        </p:txBody>
      </p:sp>
      <p:cxnSp>
        <p:nvCxnSpPr>
          <p:cNvPr id="162" name="Google Shape;162;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3" name="Google Shape;163;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9"/>
          <p:cNvSpPr/>
          <p:nvPr/>
        </p:nvSpPr>
        <p:spPr>
          <a:xfrm>
            <a:off x="307975" y="782675"/>
            <a:ext cx="8229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Prepare a webservice using Insert query , accepting title, overview, runtime, release_date, homepage, and url .  name it newmovie.php</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9"/>
          <p:cNvSpPr/>
          <p:nvPr/>
        </p:nvSpPr>
        <p:spPr>
          <a:xfrm>
            <a:off x="460375" y="1475950"/>
            <a:ext cx="8323800" cy="32184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//setelah koneksi DB</a:t>
            </a:r>
            <a:br>
              <a:rPr i="0" lang="en-ID" sz="1400" u="none" cap="none" strike="noStrike">
                <a:solidFill>
                  <a:srgbClr val="FF0000"/>
                </a:solidFill>
                <a:latin typeface="Consolas"/>
                <a:ea typeface="Consolas"/>
                <a:cs typeface="Consolas"/>
                <a:sym typeface="Consolas"/>
              </a:rPr>
            </a:br>
            <a:r>
              <a:rPr i="0" lang="en-ID" sz="1400" u="none" cap="none" strike="noStrike">
                <a:solidFill>
                  <a:srgbClr val="FF0000"/>
                </a:solidFill>
                <a:latin typeface="Consolas"/>
                <a:ea typeface="Consolas"/>
                <a:cs typeface="Consolas"/>
                <a:sym typeface="Consolas"/>
              </a:rPr>
              <a:t>extract($_POST);</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$sql="INSERT INTO movie(title,overview,runtime,release_date,homepage,url)</a:t>
            </a:r>
            <a:endParaRPr>
              <a:latin typeface="Consolas"/>
              <a:ea typeface="Consolas"/>
              <a:cs typeface="Consolas"/>
              <a:sym typeface="Consolas"/>
            </a:endParaRPr>
          </a:p>
          <a:p>
            <a:pPr indent="0" lvl="1" marL="45720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  VALUES(?,?,?,?,?,?)";</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$stmt=$conn-&gt;prepare($sql);</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$stmt-&gt;bind_param("ssisss",$title,$overview,$runtime,$release_date,$homepage,$url);</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$stmt-&gt;execute();</a:t>
            </a:r>
            <a:endParaRPr>
              <a:latin typeface="Consolas"/>
              <a:ea typeface="Consolas"/>
              <a:cs typeface="Consolas"/>
              <a:sym typeface="Consolas"/>
            </a:endParaRPr>
          </a:p>
          <a:p>
            <a:pPr indent="0" lvl="1" marL="0" marR="0" rtl="0" algn="l">
              <a:spcBef>
                <a:spcPts val="0"/>
              </a:spcBef>
              <a:spcAft>
                <a:spcPts val="0"/>
              </a:spcAft>
              <a:buNone/>
            </a:pPr>
            <a:r>
              <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if ($stmt-&gt;affected_rows &gt; 0) {</a:t>
            </a:r>
            <a:endParaRPr>
              <a:latin typeface="Consolas"/>
              <a:ea typeface="Consolas"/>
              <a:cs typeface="Consolas"/>
              <a:sym typeface="Consolas"/>
            </a:endParaRPr>
          </a:p>
          <a:p>
            <a:pPr indent="0" lvl="1" marL="45720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$arr=["result"=&gt;"success","id"=&gt;$conn-&gt;insert_id];</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 else {</a:t>
            </a:r>
            <a:endParaRPr>
              <a:latin typeface="Consolas"/>
              <a:ea typeface="Consolas"/>
              <a:cs typeface="Consolas"/>
              <a:sym typeface="Consolas"/>
            </a:endParaRPr>
          </a:p>
          <a:p>
            <a:pPr indent="0" lvl="1" marL="45720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$arr=["result"=&gt;"fail","Error"=&gt;$conn-&gt;error];</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a:t>
            </a:r>
            <a:endParaRPr>
              <a:latin typeface="Consolas"/>
              <a:ea typeface="Consolas"/>
              <a:cs typeface="Consolas"/>
              <a:sym typeface="Consolas"/>
            </a:endParaRPr>
          </a:p>
          <a:p>
            <a:pPr indent="0" lvl="1" marL="0" marR="0" rtl="0" algn="l">
              <a:spcBef>
                <a:spcPts val="0"/>
              </a:spcBef>
              <a:spcAft>
                <a:spcPts val="0"/>
              </a:spcAft>
              <a:buNone/>
            </a:pPr>
            <a:r>
              <a:rPr i="0" lang="en-ID" sz="1400" u="none" cap="none" strike="noStrike">
                <a:solidFill>
                  <a:srgbClr val="FF0000"/>
                </a:solidFill>
                <a:latin typeface="Consolas"/>
                <a:ea typeface="Consolas"/>
                <a:cs typeface="Consolas"/>
                <a:sym typeface="Consolas"/>
              </a:rPr>
              <a:t>echo json_encode($arr);</a:t>
            </a:r>
            <a:endParaRPr>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1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FORM ADD MOVIE</a:t>
            </a:r>
            <a:endParaRPr/>
          </a:p>
        </p:txBody>
      </p:sp>
      <p:sp>
        <p:nvSpPr>
          <p:cNvPr id="171" name="Google Shape;171;p1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cxnSp>
        <p:nvCxnSpPr>
          <p:cNvPr id="176" name="Google Shape;176;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7" name="Google Shape;177;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11"/>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TextFormField for homepage </a:t>
            </a:r>
            <a:endParaRPr/>
          </a:p>
        </p:txBody>
      </p:sp>
      <p:cxnSp>
        <p:nvCxnSpPr>
          <p:cNvPr id="179" name="Google Shape;179;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0" name="Google Shape;180;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11"/>
          <p:cNvSpPr/>
          <p:nvPr/>
        </p:nvSpPr>
        <p:spPr>
          <a:xfrm>
            <a:off x="307975" y="737281"/>
            <a:ext cx="8229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For homepage we will check the syntax of url</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11"/>
          <p:cNvSpPr/>
          <p:nvPr/>
        </p:nvSpPr>
        <p:spPr>
          <a:xfrm>
            <a:off x="460375" y="1373492"/>
            <a:ext cx="7838237"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Padding(</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padding: EdgeInsets.all(10),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TextFormField(</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decoration: const InputDecoration(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labelText: 'Homepage',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onChanged: (value)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_homepage = value;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validator: (value)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 (value == null || !Uri.parse(value).isAbsolute)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return 'alamat homepage salah';</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return null;</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p:txBody>
      </p:sp>
      <p:sp>
        <p:nvSpPr>
          <p:cNvPr id="183" name="Google Shape;183;p11"/>
          <p:cNvSpPr/>
          <p:nvPr/>
        </p:nvSpPr>
        <p:spPr>
          <a:xfrm>
            <a:off x="453704" y="1087465"/>
            <a:ext cx="2371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String _homepage = "";</a:t>
            </a:r>
            <a:endParaRPr b="0" sz="1400">
              <a:solidFill>
                <a:srgbClr val="FF0000"/>
              </a:solidFill>
              <a:latin typeface="Consolas"/>
              <a:ea typeface="Consolas"/>
              <a:cs typeface="Consolas"/>
              <a:sym typeface="Consolas"/>
            </a:endParaRPr>
          </a:p>
        </p:txBody>
      </p:sp>
      <p:pic>
        <p:nvPicPr>
          <p:cNvPr id="184" name="Google Shape;184;p11"/>
          <p:cNvPicPr preferRelativeResize="0"/>
          <p:nvPr/>
        </p:nvPicPr>
        <p:blipFill rotWithShape="1">
          <a:blip r:embed="rId4">
            <a:alphaModFix/>
          </a:blip>
          <a:srcRect b="0" l="0" r="0" t="0"/>
          <a:stretch/>
        </p:blipFill>
        <p:spPr>
          <a:xfrm>
            <a:off x="6907122" y="576943"/>
            <a:ext cx="2104011" cy="44220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cxnSp>
        <p:nvCxnSpPr>
          <p:cNvPr id="189" name="Google Shape;189;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0" name="Google Shape;190;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12"/>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TextFormField for overview </a:t>
            </a:r>
            <a:endParaRPr/>
          </a:p>
        </p:txBody>
      </p:sp>
      <p:cxnSp>
        <p:nvCxnSpPr>
          <p:cNvPr id="192" name="Google Shape;192;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3" name="Google Shape;193;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12"/>
          <p:cNvSpPr/>
          <p:nvPr/>
        </p:nvSpPr>
        <p:spPr>
          <a:xfrm>
            <a:off x="307975" y="737281"/>
            <a:ext cx="8229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Overview of the movie can be long, like a paragraph, </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therefore we will create it multilined</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12"/>
          <p:cNvSpPr/>
          <p:nvPr/>
        </p:nvSpPr>
        <p:spPr>
          <a:xfrm>
            <a:off x="460375" y="1749274"/>
            <a:ext cx="7838237" cy="289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Padding(</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padding: EdgeInsets.all(10),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 TextFormField(</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decoration: const InputDecoration(</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labelText: 'Overview',</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onChanged: (value)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_overview = value;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keyboardType: TextInputType.multiline,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minLines: 3,</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maxLines: 6,</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a:t>
            </a:r>
            <a:endParaRPr/>
          </a:p>
        </p:txBody>
      </p:sp>
      <p:sp>
        <p:nvSpPr>
          <p:cNvPr id="196" name="Google Shape;196;p12"/>
          <p:cNvSpPr/>
          <p:nvPr/>
        </p:nvSpPr>
        <p:spPr>
          <a:xfrm>
            <a:off x="460385" y="1424170"/>
            <a:ext cx="2547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Arial"/>
                <a:ea typeface="Arial"/>
                <a:cs typeface="Arial"/>
                <a:sym typeface="Arial"/>
              </a:rPr>
              <a:t>String _overview = "";</a:t>
            </a:r>
            <a:endParaRPr b="0" sz="1400">
              <a:solidFill>
                <a:srgbClr val="FF0000"/>
              </a:solidFill>
              <a:latin typeface="Arial"/>
              <a:ea typeface="Arial"/>
              <a:cs typeface="Arial"/>
              <a:sym typeface="Arial"/>
            </a:endParaRPr>
          </a:p>
        </p:txBody>
      </p:sp>
      <p:pic>
        <p:nvPicPr>
          <p:cNvPr id="197" name="Google Shape;197;p12"/>
          <p:cNvPicPr preferRelativeResize="0"/>
          <p:nvPr/>
        </p:nvPicPr>
        <p:blipFill rotWithShape="1">
          <a:blip r:embed="rId4">
            <a:alphaModFix/>
          </a:blip>
          <a:srcRect b="0" l="0" r="0" t="0"/>
          <a:stretch/>
        </p:blipFill>
        <p:spPr>
          <a:xfrm>
            <a:off x="6583280" y="576943"/>
            <a:ext cx="2172746" cy="4566557"/>
          </a:xfrm>
          <a:prstGeom prst="rect">
            <a:avLst/>
          </a:prstGeom>
          <a:noFill/>
          <a:ln>
            <a:noFill/>
          </a:ln>
        </p:spPr>
      </p:pic>
      <p:sp>
        <p:nvSpPr>
          <p:cNvPr id="198" name="Google Shape;198;p12"/>
          <p:cNvSpPr txBox="1"/>
          <p:nvPr/>
        </p:nvSpPr>
        <p:spPr>
          <a:xfrm>
            <a:off x="3141979" y="4063444"/>
            <a:ext cx="3196500" cy="646500"/>
          </a:xfrm>
          <a:prstGeom prst="rect">
            <a:avLst/>
          </a:prstGeom>
          <a:solidFill>
            <a:srgbClr val="93C47D"/>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lt1"/>
                </a:solidFill>
                <a:latin typeface="Arial"/>
                <a:ea typeface="Arial"/>
                <a:cs typeface="Arial"/>
                <a:sym typeface="Arial"/>
              </a:rPr>
              <a:t>can you add minimum character validation here?</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cxnSp>
        <p:nvCxnSpPr>
          <p:cNvPr id="203" name="Google Shape;203;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4" name="Google Shape;204;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13"/>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TextFormField for release_date </a:t>
            </a:r>
            <a:endParaRPr/>
          </a:p>
        </p:txBody>
      </p:sp>
      <p:cxnSp>
        <p:nvCxnSpPr>
          <p:cNvPr id="206" name="Google Shape;206;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7" name="Google Shape;207;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13"/>
          <p:cNvSpPr/>
          <p:nvPr/>
        </p:nvSpPr>
        <p:spPr>
          <a:xfrm>
            <a:off x="307975" y="737281"/>
            <a:ext cx="8490968"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For the release_date Input, we will provide a datepicker facility. The TextFormField can be automatically filled in when user clicks any date from a datepicker.</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For doing this automation, we need a TextEditingController object.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13"/>
          <p:cNvSpPr/>
          <p:nvPr/>
        </p:nvSpPr>
        <p:spPr>
          <a:xfrm>
            <a:off x="391363" y="1990814"/>
            <a:ext cx="7838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rgbClr val="FF0000"/>
                </a:solidFill>
                <a:latin typeface="Consolas"/>
                <a:ea typeface="Consolas"/>
                <a:cs typeface="Consolas"/>
                <a:sym typeface="Consolas"/>
              </a:rPr>
              <a:t>final _controllerDate = TextEditingController();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cxnSp>
        <p:nvCxnSpPr>
          <p:cNvPr id="214" name="Google Shape;214;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5" name="Google Shape;215;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TextFormField for release_date (2) </a:t>
            </a:r>
            <a:endParaRPr/>
          </a:p>
        </p:txBody>
      </p:sp>
      <p:cxnSp>
        <p:nvCxnSpPr>
          <p:cNvPr id="217" name="Google Shape;217;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8" name="Google Shape;218;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14"/>
          <p:cNvSpPr/>
          <p:nvPr/>
        </p:nvSpPr>
        <p:spPr>
          <a:xfrm>
            <a:off x="307975" y="819505"/>
            <a:ext cx="534875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Padding(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padding: EdgeInsets.all(10),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Row(</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mainAxisAlignment:MainAxisAlignment.start,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children: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Expanded(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TextFormField(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decoration: const InputDecoration(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labelText: 'Release Date',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controller: _controllerDate,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                ),</a:t>
            </a:r>
            <a:endParaRPr/>
          </a:p>
        </p:txBody>
      </p:sp>
      <p:sp>
        <p:nvSpPr>
          <p:cNvPr id="220" name="Google Shape;220;p14"/>
          <p:cNvSpPr/>
          <p:nvPr/>
        </p:nvSpPr>
        <p:spPr>
          <a:xfrm>
            <a:off x="4016189" y="721406"/>
            <a:ext cx="4894729"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ElevatedButton(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showDatePicker(</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context: context,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initialDate: DateTime.now(),</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firstDate: DateTime(2000),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lastDate: DateTime(2200))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.then((value)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_controllerDate.text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value.toString().substring(0, 10);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Icon(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Icons.calendar_today_sharp,</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color: Colors.white,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size: 24.0,</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cxnSp>
        <p:nvCxnSpPr>
          <p:cNvPr id="225" name="Google Shape;225;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26" name="Google Shape;226;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15"/>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The datepicker result</a:t>
            </a:r>
            <a:endParaRPr/>
          </a:p>
        </p:txBody>
      </p:sp>
      <p:cxnSp>
        <p:nvCxnSpPr>
          <p:cNvPr id="228" name="Google Shape;228;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29" name="Google Shape;229;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30" name="Google Shape;230;p15"/>
          <p:cNvPicPr preferRelativeResize="0"/>
          <p:nvPr/>
        </p:nvPicPr>
        <p:blipFill rotWithShape="1">
          <a:blip r:embed="rId4">
            <a:alphaModFix/>
          </a:blip>
          <a:srcRect b="0" l="0" r="0" t="0"/>
          <a:stretch/>
        </p:blipFill>
        <p:spPr>
          <a:xfrm>
            <a:off x="4206701" y="586370"/>
            <a:ext cx="2026337" cy="4258842"/>
          </a:xfrm>
          <a:prstGeom prst="rect">
            <a:avLst/>
          </a:prstGeom>
          <a:noFill/>
          <a:ln>
            <a:noFill/>
          </a:ln>
        </p:spPr>
      </p:pic>
      <p:pic>
        <p:nvPicPr>
          <p:cNvPr id="231" name="Google Shape;231;p15"/>
          <p:cNvPicPr preferRelativeResize="0"/>
          <p:nvPr/>
        </p:nvPicPr>
        <p:blipFill rotWithShape="1">
          <a:blip r:embed="rId5">
            <a:alphaModFix/>
          </a:blip>
          <a:srcRect b="0" l="0" r="0" t="0"/>
          <a:stretch/>
        </p:blipFill>
        <p:spPr>
          <a:xfrm>
            <a:off x="6397810" y="511568"/>
            <a:ext cx="2095072" cy="4403305"/>
          </a:xfrm>
          <a:prstGeom prst="rect">
            <a:avLst/>
          </a:prstGeom>
          <a:noFill/>
          <a:ln>
            <a:noFill/>
          </a:ln>
        </p:spPr>
      </p:pic>
      <p:sp>
        <p:nvSpPr>
          <p:cNvPr id="232" name="Google Shape;232;p15"/>
          <p:cNvSpPr txBox="1"/>
          <p:nvPr/>
        </p:nvSpPr>
        <p:spPr>
          <a:xfrm>
            <a:off x="197575" y="1866625"/>
            <a:ext cx="34881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D"/>
              <a:t>Dont forget add this:</a:t>
            </a:r>
            <a:br>
              <a:rPr lang="en-ID"/>
            </a:br>
            <a:r>
              <a:rPr lang="en-ID"/>
              <a:t> </a:t>
            </a:r>
            <a:r>
              <a:rPr lang="en-ID">
                <a:solidFill>
                  <a:srgbClr val="FF0000"/>
                </a:solidFill>
                <a:latin typeface="Consolas"/>
                <a:ea typeface="Consolas"/>
                <a:cs typeface="Consolas"/>
                <a:sym typeface="Consolas"/>
              </a:rPr>
              <a:t>@override</a:t>
            </a:r>
            <a:endParaRPr>
              <a:solidFill>
                <a:srgbClr val="FF0000"/>
              </a:solidFill>
              <a:latin typeface="Consolas"/>
              <a:ea typeface="Consolas"/>
              <a:cs typeface="Consolas"/>
              <a:sym typeface="Consolas"/>
            </a:endParaRPr>
          </a:p>
          <a:p>
            <a:pPr indent="0" lvl="0" marL="0" rtl="0" algn="l">
              <a:spcBef>
                <a:spcPts val="0"/>
              </a:spcBef>
              <a:spcAft>
                <a:spcPts val="0"/>
              </a:spcAft>
              <a:buNone/>
            </a:pPr>
            <a:r>
              <a:rPr lang="en-ID">
                <a:solidFill>
                  <a:srgbClr val="FF0000"/>
                </a:solidFill>
                <a:latin typeface="Consolas"/>
                <a:ea typeface="Consolas"/>
                <a:cs typeface="Consolas"/>
                <a:sym typeface="Consolas"/>
              </a:rPr>
              <a:t>  void initState() {</a:t>
            </a:r>
            <a:endParaRPr>
              <a:solidFill>
                <a:srgbClr val="FF0000"/>
              </a:solidFill>
              <a:latin typeface="Consolas"/>
              <a:ea typeface="Consolas"/>
              <a:cs typeface="Consolas"/>
              <a:sym typeface="Consolas"/>
            </a:endParaRPr>
          </a:p>
          <a:p>
            <a:pPr indent="0" lvl="0" marL="0" rtl="0" algn="l">
              <a:spcBef>
                <a:spcPts val="0"/>
              </a:spcBef>
              <a:spcAft>
                <a:spcPts val="0"/>
              </a:spcAft>
              <a:buNone/>
            </a:pPr>
            <a:r>
              <a:rPr lang="en-ID">
                <a:solidFill>
                  <a:srgbClr val="FF0000"/>
                </a:solidFill>
                <a:latin typeface="Consolas"/>
                <a:ea typeface="Consolas"/>
                <a:cs typeface="Consolas"/>
                <a:sym typeface="Consolas"/>
              </a:rPr>
              <a:t>    setState(() {</a:t>
            </a:r>
            <a:endParaRPr>
              <a:solidFill>
                <a:srgbClr val="FF0000"/>
              </a:solidFill>
              <a:latin typeface="Consolas"/>
              <a:ea typeface="Consolas"/>
              <a:cs typeface="Consolas"/>
              <a:sym typeface="Consolas"/>
            </a:endParaRPr>
          </a:p>
          <a:p>
            <a:pPr indent="0" lvl="0" marL="0" rtl="0" algn="l">
              <a:spcBef>
                <a:spcPts val="0"/>
              </a:spcBef>
              <a:spcAft>
                <a:spcPts val="0"/>
              </a:spcAft>
              <a:buNone/>
            </a:pPr>
            <a:r>
              <a:rPr lang="en-ID">
                <a:solidFill>
                  <a:srgbClr val="FF0000"/>
                </a:solidFill>
                <a:latin typeface="Consolas"/>
                <a:ea typeface="Consolas"/>
                <a:cs typeface="Consolas"/>
                <a:sym typeface="Consolas"/>
              </a:rPr>
              <a:t>      _controllerDate.text = "";</a:t>
            </a:r>
            <a:endParaRPr>
              <a:solidFill>
                <a:srgbClr val="FF0000"/>
              </a:solidFill>
              <a:latin typeface="Consolas"/>
              <a:ea typeface="Consolas"/>
              <a:cs typeface="Consolas"/>
              <a:sym typeface="Consolas"/>
            </a:endParaRPr>
          </a:p>
          <a:p>
            <a:pPr indent="0" lvl="0" marL="0" rtl="0" algn="l">
              <a:spcBef>
                <a:spcPts val="0"/>
              </a:spcBef>
              <a:spcAft>
                <a:spcPts val="0"/>
              </a:spcAft>
              <a:buNone/>
            </a:pPr>
            <a:r>
              <a:rPr lang="en-ID">
                <a:solidFill>
                  <a:srgbClr val="FF0000"/>
                </a:solidFill>
                <a:latin typeface="Consolas"/>
                <a:ea typeface="Consolas"/>
                <a:cs typeface="Consolas"/>
                <a:sym typeface="Consolas"/>
              </a:rPr>
              <a:t>    });</a:t>
            </a:r>
            <a:endParaRPr>
              <a:solidFill>
                <a:srgbClr val="FF0000"/>
              </a:solidFill>
              <a:latin typeface="Consolas"/>
              <a:ea typeface="Consolas"/>
              <a:cs typeface="Consolas"/>
              <a:sym typeface="Consolas"/>
            </a:endParaRPr>
          </a:p>
          <a:p>
            <a:pPr indent="0" lvl="0" marL="0" rtl="0" algn="l">
              <a:spcBef>
                <a:spcPts val="0"/>
              </a:spcBef>
              <a:spcAft>
                <a:spcPts val="0"/>
              </a:spcAft>
              <a:buNone/>
            </a:pPr>
            <a:r>
              <a:rPr lang="en-ID">
                <a:solidFill>
                  <a:srgbClr val="FF0000"/>
                </a:solidFill>
                <a:latin typeface="Consolas"/>
                <a:ea typeface="Consolas"/>
                <a:cs typeface="Consolas"/>
                <a:sym typeface="Consolas"/>
              </a:rPr>
              <a:t>  }</a:t>
            </a:r>
            <a:endParaRPr>
              <a:solidFill>
                <a:srgbClr val="FF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cxnSp>
        <p:nvCxnSpPr>
          <p:cNvPr id="237" name="Google Shape;237;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8" name="Google Shape;238;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9" name="Google Shape;239;p16"/>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runtime field </a:t>
            </a:r>
            <a:endParaRPr/>
          </a:p>
        </p:txBody>
      </p:sp>
      <p:cxnSp>
        <p:nvCxnSpPr>
          <p:cNvPr id="240" name="Google Shape;240;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1" name="Google Shape;241;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16"/>
          <p:cNvSpPr/>
          <p:nvPr/>
        </p:nvSpPr>
        <p:spPr>
          <a:xfrm>
            <a:off x="307975" y="737281"/>
            <a:ext cx="84909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Can you add textformfield that only accept number input?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16"/>
          <p:cNvSpPr txBox="1"/>
          <p:nvPr/>
        </p:nvSpPr>
        <p:spPr>
          <a:xfrm>
            <a:off x="307975" y="1647650"/>
            <a:ext cx="77427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 </a:t>
            </a:r>
            <a:r>
              <a:rPr lang="en-ID" sz="1800">
                <a:solidFill>
                  <a:srgbClr val="FF0000"/>
                </a:solidFill>
                <a:latin typeface="Consolas"/>
                <a:ea typeface="Consolas"/>
                <a:cs typeface="Consolas"/>
                <a:sym typeface="Consolas"/>
              </a:rPr>
              <a:t>inputFormatters: &lt;TextInputFormatter&gt;[</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FilteringTextInputFormatter.digitsOnly</a:t>
            </a:r>
            <a:endParaRPr sz="18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                ],</a:t>
            </a:r>
            <a:endParaRPr sz="1800">
              <a:solidFill>
                <a:srgbClr val="FF0000"/>
              </a:solidFill>
              <a:latin typeface="Consolas"/>
              <a:ea typeface="Consolas"/>
              <a:cs typeface="Consolas"/>
              <a:sym typeface="Consolas"/>
            </a:endParaRPr>
          </a:p>
        </p:txBody>
      </p:sp>
      <p:sp>
        <p:nvSpPr>
          <p:cNvPr id="244" name="Google Shape;244;p16"/>
          <p:cNvSpPr txBox="1"/>
          <p:nvPr/>
        </p:nvSpPr>
        <p:spPr>
          <a:xfrm>
            <a:off x="307975" y="1278321"/>
            <a:ext cx="46503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Hint:</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cxnSp>
        <p:nvCxnSpPr>
          <p:cNvPr id="249" name="Google Shape;249;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0" name="Google Shape;250;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1" name="Google Shape;251;p17"/>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URL Poster</a:t>
            </a:r>
            <a:endParaRPr/>
          </a:p>
        </p:txBody>
      </p:sp>
      <p:cxnSp>
        <p:nvCxnSpPr>
          <p:cNvPr id="252" name="Google Shape;252;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3" name="Google Shape;253;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4" name="Google Shape;254;p17"/>
          <p:cNvSpPr/>
          <p:nvPr/>
        </p:nvSpPr>
        <p:spPr>
          <a:xfrm>
            <a:off x="307975" y="737281"/>
            <a:ext cx="849096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Add  textformfield similar with homepage.</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Add a widget below textformfield that display the poster.</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cxnSp>
        <p:nvCxnSpPr>
          <p:cNvPr id="259" name="Google Shape;259;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0" name="Google Shape;260;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 name="Google Shape;261;p18"/>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URL Poster (2)</a:t>
            </a:r>
            <a:endParaRPr/>
          </a:p>
        </p:txBody>
      </p:sp>
      <p:cxnSp>
        <p:nvCxnSpPr>
          <p:cNvPr id="262" name="Google Shape;262;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3" name="Google Shape;263;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18"/>
          <p:cNvSpPr/>
          <p:nvPr/>
        </p:nvSpPr>
        <p:spPr>
          <a:xfrm>
            <a:off x="307975" y="737281"/>
            <a:ext cx="84909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How to make the image only display a picture when the url is a valid image url?</a:t>
            </a:r>
            <a:endParaRPr/>
          </a:p>
        </p:txBody>
      </p:sp>
      <p:sp>
        <p:nvSpPr>
          <p:cNvPr id="265" name="Google Shape;265;p18"/>
          <p:cNvSpPr txBox="1"/>
          <p:nvPr/>
        </p:nvSpPr>
        <p:spPr>
          <a:xfrm>
            <a:off x="307975" y="1265363"/>
            <a:ext cx="4650300" cy="349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300">
                <a:solidFill>
                  <a:srgbClr val="FF0000"/>
                </a:solidFill>
                <a:latin typeface="Consolas"/>
                <a:ea typeface="Consolas"/>
                <a:cs typeface="Consolas"/>
                <a:sym typeface="Consolas"/>
              </a:rPr>
              <a:t>Future&lt;bool&gt; validateImage(String imageUrl) async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http.Response res;</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try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res = await http.get(Uri.parse(imageUrl));</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 catch (e)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return false;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if (res.statusCode != 200) return false;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Map&lt;String, dynamic&gt; data = res.headers;</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if (data['content-type'] == 'image/jpeg' ||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data['content-type'] == 'image/png' ||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data['content-type'] == 'image/gif')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return true;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return false;</a:t>
            </a:r>
            <a:endParaRPr sz="1300">
              <a:latin typeface="Consolas"/>
              <a:ea typeface="Consolas"/>
              <a:cs typeface="Consolas"/>
              <a:sym typeface="Consolas"/>
            </a:endParaRPr>
          </a:p>
          <a:p>
            <a:pPr indent="0" lvl="0" marL="0" marR="0" rtl="0" algn="l">
              <a:spcBef>
                <a:spcPts val="0"/>
              </a:spcBef>
              <a:spcAft>
                <a:spcPts val="0"/>
              </a:spcAft>
              <a:buNone/>
            </a:pPr>
            <a:r>
              <a:rPr lang="en-ID"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p:txBody>
      </p:sp>
      <p:sp>
        <p:nvSpPr>
          <p:cNvPr id="266" name="Google Shape;266;p18"/>
          <p:cNvSpPr txBox="1"/>
          <p:nvPr/>
        </p:nvSpPr>
        <p:spPr>
          <a:xfrm>
            <a:off x="5225144" y="2388019"/>
            <a:ext cx="17591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use here:</a:t>
            </a:r>
            <a:endParaRPr sz="1800">
              <a:solidFill>
                <a:schemeClr val="dk1"/>
              </a:solidFill>
              <a:latin typeface="Arial"/>
              <a:ea typeface="Arial"/>
              <a:cs typeface="Arial"/>
              <a:sym typeface="Arial"/>
            </a:endParaRPr>
          </a:p>
        </p:txBody>
      </p:sp>
      <p:sp>
        <p:nvSpPr>
          <p:cNvPr id="267" name="Google Shape;267;p18"/>
          <p:cNvSpPr txBox="1"/>
          <p:nvPr/>
        </p:nvSpPr>
        <p:spPr>
          <a:xfrm>
            <a:off x="5225144" y="2756416"/>
            <a:ext cx="46503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onChanged: (value)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validateImage(value).then((v)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if(v)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_url = value;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sp>
        <p:nvSpPr>
          <p:cNvPr id="272" name="Google Shape;272;p1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SUBMIT DATA</a:t>
            </a:r>
            <a:endParaRPr/>
          </a:p>
        </p:txBody>
      </p:sp>
      <p:sp>
        <p:nvSpPr>
          <p:cNvPr id="273" name="Google Shape;273;p1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Submit function</a:t>
            </a:r>
            <a:endParaRPr/>
          </a:p>
        </p:txBody>
      </p:sp>
      <p:cxnSp>
        <p:nvCxnSpPr>
          <p:cNvPr id="279" name="Google Shape;279;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80" name="Google Shape;280;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81" name="Google Shape;281;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2" name="Google Shape;282;p20"/>
          <p:cNvSpPr/>
          <p:nvPr/>
        </p:nvSpPr>
        <p:spPr>
          <a:xfrm>
            <a:off x="382737" y="576943"/>
            <a:ext cx="7846863"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void submit() async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final response = await http</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.post(Uri.parse("https://ubaya.cloud/flutter/[NRP]/newmovie.php"), body: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'title': _title,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'overview': _overview,</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'homepage': _homepage,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'release_date': _controllerDate.text,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'runtime': _runtime,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'url':_url</a:t>
            </a:r>
            <a:endParaRPr sz="11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if (response.statusCode == 200)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Map json = jsonDecode(response.body);</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if (json['result'] == 'success')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if (!mounted) return;</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ScaffoldMessenger.of(context)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.showSnackBar(SnackBar(content: Text('Sukses Menambah Data')));</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 else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ScaffoldMessenger.of(context)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.showSnackBar(SnackBar(content: Text('Error')));</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throw Exception('Failed to read API');</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p:txBody>
      </p:sp>
      <p:sp>
        <p:nvSpPr>
          <p:cNvPr id="283" name="Google Shape;283;p20"/>
          <p:cNvSpPr txBox="1"/>
          <p:nvPr/>
        </p:nvSpPr>
        <p:spPr>
          <a:xfrm>
            <a:off x="5181600" y="1519265"/>
            <a:ext cx="3801035" cy="646331"/>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Consolas"/>
                <a:ea typeface="Consolas"/>
                <a:cs typeface="Consolas"/>
                <a:sym typeface="Consolas"/>
              </a:rPr>
              <a:t>Dont forget to import this:</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import 'dart:convert';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import 'package:http/http.dart' as http;</a:t>
            </a:r>
            <a:endParaRPr/>
          </a:p>
        </p:txBody>
      </p:sp>
      <p:sp>
        <p:nvSpPr>
          <p:cNvPr id="284" name="Google Shape;284;p20"/>
          <p:cNvSpPr txBox="1"/>
          <p:nvPr/>
        </p:nvSpPr>
        <p:spPr>
          <a:xfrm>
            <a:off x="5181599" y="2308904"/>
            <a:ext cx="3801035" cy="461665"/>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Consolas"/>
                <a:ea typeface="Consolas"/>
                <a:cs typeface="Consolas"/>
                <a:sym typeface="Consolas"/>
              </a:rPr>
              <a:t>Don’t forget to call this submit function in submit onPressed</a:t>
            </a:r>
            <a:endParaRPr sz="1200">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Test</a:t>
            </a:r>
            <a:endParaRPr/>
          </a:p>
        </p:txBody>
      </p:sp>
      <p:cxnSp>
        <p:nvCxnSpPr>
          <p:cNvPr id="290" name="Google Shape;290;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1" name="Google Shape;29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2" name="Google Shape;292;p21"/>
          <p:cNvSpPr txBox="1"/>
          <p:nvPr/>
        </p:nvSpPr>
        <p:spPr>
          <a:xfrm>
            <a:off x="457200" y="855023"/>
            <a:ext cx="8229600" cy="373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Try to add new movie. If it succeeds, check in popular movie list and try to search your new movie.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Next, when we already have EditMovie screen, after this submitting succeed, it continue to open the editing form to add the child data such as genre and casts.</a:t>
            </a:r>
            <a:endParaRPr/>
          </a:p>
        </p:txBody>
      </p:sp>
      <p:sp>
        <p:nvSpPr>
          <p:cNvPr descr="blob:https://web.whatsapp.com/4be9237d-cfc1-462e-ba51-978e9348df04" id="293" name="Google Shape;293;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7" name="Shape 297"/>
        <p:cNvGrpSpPr/>
        <p:nvPr/>
      </p:nvGrpSpPr>
      <p:grpSpPr>
        <a:xfrm>
          <a:off x="0" y="0"/>
          <a:ext cx="0" cy="0"/>
          <a:chOff x="0" y="0"/>
          <a:chExt cx="0" cy="0"/>
        </a:xfrm>
      </p:grpSpPr>
      <p:sp>
        <p:nvSpPr>
          <p:cNvPr id="298" name="Google Shape;298;p2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EXERCISE</a:t>
            </a:r>
            <a:endParaRPr/>
          </a:p>
        </p:txBody>
      </p:sp>
      <p:sp>
        <p:nvSpPr>
          <p:cNvPr id="299" name="Google Shape;299;p2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3" name="Shape 303"/>
        <p:cNvGrpSpPr/>
        <p:nvPr/>
      </p:nvGrpSpPr>
      <p:grpSpPr>
        <a:xfrm>
          <a:off x="0" y="0"/>
          <a:ext cx="0" cy="0"/>
          <a:chOff x="0" y="0"/>
          <a:chExt cx="0" cy="0"/>
        </a:xfrm>
      </p:grpSpPr>
      <p:sp>
        <p:nvSpPr>
          <p:cNvPr id="304" name="Google Shape;304;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a:t>
            </a:r>
            <a:endParaRPr/>
          </a:p>
        </p:txBody>
      </p:sp>
      <p:cxnSp>
        <p:nvCxnSpPr>
          <p:cNvPr id="305" name="Google Shape;305;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06" name="Google Shape;306;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307" name="Google Shape;307;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8" name="Google Shape;308;p23"/>
          <p:cNvSpPr/>
          <p:nvPr/>
        </p:nvSpPr>
        <p:spPr>
          <a:xfrm>
            <a:off x="460375" y="831273"/>
            <a:ext cx="8374867"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chemeClr val="dk1"/>
                </a:solidFill>
                <a:latin typeface="Arial"/>
                <a:ea typeface="Arial"/>
                <a:cs typeface="Arial"/>
                <a:sym typeface="Arial"/>
              </a:rPr>
              <a:t>Add a Delete button in </a:t>
            </a:r>
            <a:r>
              <a:rPr b="1" lang="en-ID" sz="2000">
                <a:solidFill>
                  <a:schemeClr val="dk1"/>
                </a:solidFill>
                <a:latin typeface="Arial"/>
                <a:ea typeface="Arial"/>
                <a:cs typeface="Arial"/>
                <a:sym typeface="Arial"/>
              </a:rPr>
              <a:t>detailpop.dart</a:t>
            </a:r>
            <a:r>
              <a:rPr lang="en-ID" sz="2000">
                <a:solidFill>
                  <a:schemeClr val="dk1"/>
                </a:solidFill>
                <a:latin typeface="Arial"/>
                <a:ea typeface="Arial"/>
                <a:cs typeface="Arial"/>
                <a:sym typeface="Arial"/>
              </a:rPr>
              <a:t>, when it is clicked, call a deletemovie.php web service. </a:t>
            </a:r>
            <a:endParaRPr/>
          </a:p>
          <a:p>
            <a:pPr indent="0" lvl="0" marL="0" marR="0" rtl="0" algn="l">
              <a:spcBef>
                <a:spcPts val="0"/>
              </a:spcBef>
              <a:spcAft>
                <a:spcPts val="0"/>
              </a:spcAft>
              <a:buNone/>
            </a:pPr>
            <a:r>
              <a:rPr lang="en-ID" sz="2000">
                <a:solidFill>
                  <a:schemeClr val="dk1"/>
                </a:solidFill>
                <a:latin typeface="Arial"/>
                <a:ea typeface="Arial"/>
                <a:cs typeface="Arial"/>
                <a:sym typeface="Arial"/>
              </a:rPr>
              <a:t>This time, we use a simple delete :</a:t>
            </a:r>
            <a:br>
              <a:rPr lang="en-ID" sz="2000">
                <a:solidFill>
                  <a:schemeClr val="dk1"/>
                </a:solidFill>
                <a:latin typeface="Arial"/>
                <a:ea typeface="Arial"/>
                <a:cs typeface="Arial"/>
                <a:sym typeface="Arial"/>
              </a:rPr>
            </a:br>
            <a:r>
              <a:rPr lang="en-ID" sz="2000">
                <a:solidFill>
                  <a:srgbClr val="538CD5"/>
                </a:solidFill>
                <a:latin typeface="Arial"/>
                <a:ea typeface="Arial"/>
                <a:cs typeface="Arial"/>
                <a:sym typeface="Arial"/>
              </a:rPr>
              <a:t>DELETE FROM movies WHERE movie_id=?</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ID" sz="2000">
                <a:solidFill>
                  <a:schemeClr val="dk1"/>
                </a:solidFill>
                <a:latin typeface="Arial"/>
                <a:ea typeface="Arial"/>
                <a:cs typeface="Arial"/>
                <a:sym typeface="Arial"/>
              </a:rPr>
              <a:t>With this simple delete query, you can </a:t>
            </a:r>
            <a:r>
              <a:rPr b="1" lang="en-ID" sz="2000">
                <a:solidFill>
                  <a:schemeClr val="dk1"/>
                </a:solidFill>
                <a:latin typeface="Arial"/>
                <a:ea typeface="Arial"/>
                <a:cs typeface="Arial"/>
                <a:sym typeface="Arial"/>
              </a:rPr>
              <a:t>only</a:t>
            </a:r>
            <a:r>
              <a:rPr lang="en-ID" sz="2000">
                <a:solidFill>
                  <a:schemeClr val="dk1"/>
                </a:solidFill>
                <a:latin typeface="Arial"/>
                <a:ea typeface="Arial"/>
                <a:cs typeface="Arial"/>
                <a:sym typeface="Arial"/>
              </a:rPr>
              <a:t> delete the new movies which are added by our previous submission form.</a:t>
            </a:r>
            <a:endParaRPr/>
          </a:p>
          <a:p>
            <a:pPr indent="0" lvl="0" marL="0" marR="0" rtl="0" algn="l">
              <a:spcBef>
                <a:spcPts val="0"/>
              </a:spcBef>
              <a:spcAft>
                <a:spcPts val="0"/>
              </a:spcAft>
              <a:buNone/>
            </a:pPr>
            <a:r>
              <a:rPr lang="en-ID" sz="2000">
                <a:solidFill>
                  <a:schemeClr val="dk1"/>
                </a:solidFill>
                <a:latin typeface="Arial"/>
                <a:ea typeface="Arial"/>
                <a:cs typeface="Arial"/>
                <a:sym typeface="Arial"/>
              </a:rPr>
              <a:t>The existing movies, before added with our submission form, have relations with another tables. Therefore, the delete query have to delete the related rows in these tables first before deleting the movie table row.</a:t>
            </a:r>
            <a:endParaRPr/>
          </a:p>
          <a:p>
            <a:pPr indent="0" lvl="0" marL="0" marR="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pic>
        <p:nvPicPr>
          <p:cNvPr descr="Blue-man-Questions-Comments" id="313" name="Google Shape;313;p24"/>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