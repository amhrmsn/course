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3" roundtripDataSignature="AMtx7mjICelFmX3BM1qvlTOe5v46nrTJ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43"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D"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886c7a67cc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g3886c7a67c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886c7a67cc_0_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g3886c7a67cc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886c7a67cc_0_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g3886c7a67cc_0_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886c7a67cc_0_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g3886c7a67cc_0_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886c7a67cc_0_1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g3886c7a67cc_0_1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886c7a67cc_0_1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g3886c7a67cc_0_1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886c7a67cc_0_1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g3886c7a67cc_0_1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2"/>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2"/>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3"/>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Arial"/>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3"/>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4" name="Google Shape;24;p3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3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4"/>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3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3" name="Shape 33"/>
        <p:cNvGrpSpPr/>
        <p:nvPr/>
      </p:nvGrpSpPr>
      <p:grpSpPr>
        <a:xfrm>
          <a:off x="0" y="0"/>
          <a:ext cx="0" cy="0"/>
          <a:chOff x="0" y="0"/>
          <a:chExt cx="0" cy="0"/>
        </a:xfrm>
      </p:grpSpPr>
      <p:sp>
        <p:nvSpPr>
          <p:cNvPr id="34" name="Google Shape;34;p35"/>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5"/>
          <p:cNvSpPr/>
          <p:nvPr>
            <p:ph idx="2" type="pic"/>
          </p:nvPr>
        </p:nvSpPr>
        <p:spPr>
          <a:xfrm>
            <a:off x="1792288" y="459581"/>
            <a:ext cx="5486400" cy="3086100"/>
          </a:xfrm>
          <a:prstGeom prst="rect">
            <a:avLst/>
          </a:prstGeom>
          <a:noFill/>
          <a:ln>
            <a:noFill/>
          </a:ln>
        </p:spPr>
      </p:sp>
      <p:sp>
        <p:nvSpPr>
          <p:cNvPr id="36" name="Google Shape;36;p35"/>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7" name="Google Shape;37;p3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3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6"/>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3" name="Google Shape;43;p36"/>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3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3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37"/>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37"/>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1" name="Google Shape;51;p37"/>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2" name="Google Shape;52;p37"/>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3" name="Google Shape;53;p3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3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3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3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40"/>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0"/>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8" name="Google Shape;68;p40"/>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4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solidFill>
                <a:srgbClr val="88A44E"/>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1"/>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4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2"/>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2"/>
          <p:cNvSpPr txBox="1"/>
          <p:nvPr>
            <p:ph idx="1" type="body"/>
          </p:nvPr>
        </p:nvSpPr>
        <p:spPr>
          <a:xfrm rot="5400000">
            <a:off x="1272778" y="-609599"/>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1"/>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3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hyperlink" Target="https://youtu.be/WRj86iHihgY?si=6f-iyJom0PvNQ6N7" TargetMode="External"/><Relationship Id="rId5" Type="http://schemas.openxmlformats.org/officeDocument/2006/relationships/hyperlink" Target="https://youtu.be/l8dj0yPBvgQ?si=8occoT4OVrbtKDRm" TargetMode="External"/><Relationship Id="rId6" Type="http://schemas.openxmlformats.org/officeDocument/2006/relationships/hyperlink" Target="https://api.flutter.dev/flutter/widgets/Column-class.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7.png"/><Relationship Id="rId4" Type="http://schemas.openxmlformats.org/officeDocument/2006/relationships/hyperlink" Target="https://www.youtube.com/watch?v=VfUUOI6BUt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api.flutter.dev/flutter/material/MaterialPageRoute-class.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3.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2.png"/><Relationship Id="rId4" Type="http://schemas.openxmlformats.org/officeDocument/2006/relationships/image" Target="../media/image18.png"/><Relationship Id="rId5" Type="http://schemas.openxmlformats.org/officeDocument/2006/relationships/image" Target="../media/image17.png"/><Relationship Id="rId6"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5.png"/><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8.png"/><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9.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2.jpg"/><Relationship Id="rId4" Type="http://schemas.openxmlformats.org/officeDocument/2006/relationships/hyperlink" Target="https://i.pravatar.cc/150?img=%5bimagenumber" TargetMode="External"/><Relationship Id="rId5" Type="http://schemas.openxmlformats.org/officeDocument/2006/relationships/hyperlink" Target="https://i.pravatar.cc/150?img=%5bimagenumber"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2.jpg"/><Relationship Id="rId4" Type="http://schemas.openxmlformats.org/officeDocument/2006/relationships/image" Target="../media/image32.png"/><Relationship Id="rId5" Type="http://schemas.openxmlformats.org/officeDocument/2006/relationships/image" Target="../media/image34.png"/><Relationship Id="rId6"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docs.flutter.dev/ui/widgets/material" TargetMode="External"/><Relationship Id="rId4" Type="http://schemas.openxmlformats.org/officeDocument/2006/relationships/hyperlink" Target="https://docs.flutter.dev/ui/widgets/cupertino"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31.jp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sp>
        <p:nvSpPr>
          <p:cNvPr id="88" name="Google Shape;88;p1"/>
          <p:cNvSpPr txBox="1"/>
          <p:nvPr>
            <p:ph type="ctrTitle"/>
          </p:nvPr>
        </p:nvSpPr>
        <p:spPr>
          <a:xfrm>
            <a:off x="685799" y="1935264"/>
            <a:ext cx="8162926" cy="127297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6000"/>
              <a:buFont typeface="Arial"/>
              <a:buNone/>
            </a:pPr>
            <a:r>
              <a:rPr lang="en-ID" sz="6000">
                <a:solidFill>
                  <a:schemeClr val="lt1"/>
                </a:solidFill>
              </a:rPr>
              <a:t>Navigation and Route</a:t>
            </a:r>
            <a:endParaRPr b="1" sz="6000">
              <a:solidFill>
                <a:schemeClr val="lt1"/>
              </a:solidFill>
            </a:endParaRPr>
          </a:p>
        </p:txBody>
      </p:sp>
      <p:sp>
        <p:nvSpPr>
          <p:cNvPr id="89" name="Google Shape;89;p1"/>
          <p:cNvSpPr txBox="1"/>
          <p:nvPr>
            <p:ph idx="1" type="subTitle"/>
          </p:nvPr>
        </p:nvSpPr>
        <p:spPr>
          <a:xfrm>
            <a:off x="4685145" y="3468832"/>
            <a:ext cx="3962400" cy="110316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FFFF"/>
              </a:buClr>
              <a:buSzPts val="1600"/>
              <a:buNone/>
            </a:pPr>
            <a:r>
              <a:rPr lang="en-ID" sz="1600">
                <a:solidFill>
                  <a:srgbClr val="FFFFFF"/>
                </a:solidFill>
              </a:rPr>
              <a:t>Week 2</a:t>
            </a:r>
            <a:endParaRPr/>
          </a:p>
          <a:p>
            <a:pPr indent="0" lvl="0" marL="0" rtl="0" algn="l">
              <a:spcBef>
                <a:spcPts val="320"/>
              </a:spcBef>
              <a:spcAft>
                <a:spcPts val="0"/>
              </a:spcAft>
              <a:buClr>
                <a:srgbClr val="C6D9F1"/>
              </a:buClr>
              <a:buSzPts val="1600"/>
              <a:buNone/>
            </a:pPr>
            <a:r>
              <a:rPr lang="en-ID" sz="1600">
                <a:solidFill>
                  <a:srgbClr val="C6D9F1"/>
                </a:solidFill>
              </a:rPr>
              <a:t>Program Studi Teknik Informatika</a:t>
            </a:r>
            <a:endParaRPr sz="1600">
              <a:solidFill>
                <a:srgbClr val="C6D9F1"/>
              </a:solidFill>
            </a:endParaRPr>
          </a:p>
          <a:p>
            <a:pPr indent="0" lvl="0" marL="0" rtl="0" algn="l">
              <a:spcBef>
                <a:spcPts val="320"/>
              </a:spcBef>
              <a:spcAft>
                <a:spcPts val="0"/>
              </a:spcAft>
              <a:buClr>
                <a:srgbClr val="C6D9F1"/>
              </a:buClr>
              <a:buSzPts val="1600"/>
              <a:buNone/>
            </a:pPr>
            <a:r>
              <a:rPr lang="en-ID" sz="1600">
                <a:solidFill>
                  <a:srgbClr val="C6D9F1"/>
                </a:solidFill>
              </a:rPr>
              <a:t>Fakultas Teknik – Universitas Surabaya</a:t>
            </a:r>
            <a:endParaRPr/>
          </a:p>
        </p:txBody>
      </p:sp>
      <p:sp>
        <p:nvSpPr>
          <p:cNvPr id="90" name="Google Shape;90;p1"/>
          <p:cNvSpPr txBox="1"/>
          <p:nvPr/>
        </p:nvSpPr>
        <p:spPr>
          <a:xfrm>
            <a:off x="685799" y="1166090"/>
            <a:ext cx="5721927" cy="461674"/>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chemeClr val="lt1"/>
              </a:buClr>
              <a:buSzPts val="2000"/>
              <a:buFont typeface="Arial"/>
              <a:buNone/>
            </a:pPr>
            <a:r>
              <a:rPr b="0" i="0" lang="en-ID" sz="2000" u="none" cap="none" strike="noStrike">
                <a:solidFill>
                  <a:schemeClr val="lt1"/>
                </a:solidFill>
                <a:latin typeface="Arial"/>
                <a:ea typeface="Arial"/>
                <a:cs typeface="Arial"/>
                <a:sym typeface="Arial"/>
              </a:rPr>
              <a:t>Emerging Technology : Flutter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p2"/>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4800"/>
              <a:buFont typeface="Arial"/>
              <a:buNone/>
            </a:pPr>
            <a:r>
              <a:rPr b="1" lang="en-ID" sz="4800">
                <a:solidFill>
                  <a:srgbClr val="DAE5F1"/>
                </a:solidFill>
              </a:rPr>
              <a:t>STATELESS VS STATEFUL</a:t>
            </a:r>
            <a:endParaRPr/>
          </a:p>
        </p:txBody>
      </p:sp>
      <p:sp>
        <p:nvSpPr>
          <p:cNvPr id="96" name="Google Shape;96;p2"/>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i="0" lang="en-ID" sz="8000" u="none" cap="none" strike="noStrike">
                <a:solidFill>
                  <a:srgbClr val="538CD5"/>
                </a:solidFill>
                <a:latin typeface="Arial"/>
                <a:ea typeface="Arial"/>
                <a:cs typeface="Arial"/>
                <a:sym typeface="Arial"/>
              </a:rPr>
              <a:t>01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Flutter Widget</a:t>
            </a:r>
            <a:endParaRPr/>
          </a:p>
        </p:txBody>
      </p:sp>
      <p:cxnSp>
        <p:nvCxnSpPr>
          <p:cNvPr id="102" name="Google Shape;102;p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03" name="Google Shape;103;p3"/>
          <p:cNvSpPr txBox="1"/>
          <p:nvPr>
            <p:ph idx="1" type="body"/>
          </p:nvPr>
        </p:nvSpPr>
        <p:spPr>
          <a:xfrm>
            <a:off x="460375" y="902475"/>
            <a:ext cx="4036500" cy="3883200"/>
          </a:xfrm>
          <a:prstGeom prst="rect">
            <a:avLst/>
          </a:prstGeom>
          <a:noFill/>
          <a:ln>
            <a:noFill/>
          </a:ln>
        </p:spPr>
        <p:txBody>
          <a:bodyPr anchorCtr="0" anchor="t" bIns="45700" lIns="91425" spcFirstLastPara="1" rIns="91425" wrap="square" tIns="45700">
            <a:noAutofit/>
          </a:bodyPr>
          <a:lstStyle/>
          <a:p>
            <a:pPr indent="-342900" lvl="0" marL="457200" rtl="0" algn="l">
              <a:spcBef>
                <a:spcPts val="280"/>
              </a:spcBef>
              <a:spcAft>
                <a:spcPts val="0"/>
              </a:spcAft>
              <a:buSzPts val="1800"/>
              <a:buChar char="•"/>
            </a:pPr>
            <a:r>
              <a:rPr lang="en-ID" sz="1800"/>
              <a:t>A widget is the </a:t>
            </a:r>
            <a:r>
              <a:rPr b="1" lang="en-ID" sz="1800"/>
              <a:t>basic building block</a:t>
            </a:r>
            <a:r>
              <a:rPr lang="en-ID" sz="1800"/>
              <a:t> of the Flutter framework</a:t>
            </a:r>
            <a:endParaRPr sz="1800"/>
          </a:p>
          <a:p>
            <a:pPr indent="-342900" lvl="0" marL="457200" rtl="0" algn="l">
              <a:spcBef>
                <a:spcPts val="0"/>
              </a:spcBef>
              <a:spcAft>
                <a:spcPts val="0"/>
              </a:spcAft>
              <a:buSzPts val="1800"/>
              <a:buChar char="•"/>
            </a:pPr>
            <a:r>
              <a:rPr lang="en-ID" sz="1800"/>
              <a:t>Everything you see on the screen in a Flutter app i.e: text, buttons, images, layouts, is a widget</a:t>
            </a:r>
            <a:endParaRPr sz="1800"/>
          </a:p>
          <a:p>
            <a:pPr indent="-342900" lvl="0" marL="457200" rtl="0" algn="l">
              <a:spcBef>
                <a:spcPts val="0"/>
              </a:spcBef>
              <a:spcAft>
                <a:spcPts val="0"/>
              </a:spcAft>
              <a:buSzPts val="1800"/>
              <a:buChar char="•"/>
            </a:pPr>
            <a:r>
              <a:rPr lang="en-ID" sz="1800"/>
              <a:t>Flutter uses a </a:t>
            </a:r>
            <a:r>
              <a:rPr b="1" lang="en-ID" sz="1800"/>
              <a:t>widget tree structure</a:t>
            </a:r>
            <a:r>
              <a:rPr lang="en-ID" sz="1800"/>
              <a:t>: widgets are nested inside each other to build the entire UI</a:t>
            </a:r>
            <a:endParaRPr sz="1800"/>
          </a:p>
          <a:p>
            <a:pPr indent="-342900" lvl="0" marL="457200" rtl="0" algn="l">
              <a:spcBef>
                <a:spcPts val="0"/>
              </a:spcBef>
              <a:spcAft>
                <a:spcPts val="0"/>
              </a:spcAft>
              <a:buSzPts val="1800"/>
              <a:buChar char="•"/>
            </a:pPr>
            <a:r>
              <a:rPr lang="en-ID" sz="1800"/>
              <a:t>Think of a widget as both a visual element (like a button or text) and a structural element (like padding or row/column layout).</a:t>
            </a:r>
            <a:endParaRPr sz="1800"/>
          </a:p>
        </p:txBody>
      </p:sp>
      <p:sp>
        <p:nvSpPr>
          <p:cNvPr descr="Google's Flutter framework spreads its wings and goes multi-platform |  TechCrunch" id="104" name="Google Shape;104;p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05" name="Google Shape;105;p3"/>
          <p:cNvPicPr preferRelativeResize="0"/>
          <p:nvPr/>
        </p:nvPicPr>
        <p:blipFill>
          <a:blip r:embed="rId3">
            <a:alphaModFix/>
          </a:blip>
          <a:stretch>
            <a:fillRect/>
          </a:stretch>
        </p:blipFill>
        <p:spPr>
          <a:xfrm>
            <a:off x="4734675" y="699850"/>
            <a:ext cx="4253150" cy="4253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886c7a67cc_0_0"/>
          <p:cNvSpPr txBox="1"/>
          <p:nvPr>
            <p:ph type="title"/>
          </p:nvPr>
        </p:nvSpPr>
        <p:spPr>
          <a:xfrm>
            <a:off x="0" y="0"/>
            <a:ext cx="8229600" cy="5769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Stateless vs Stateful</a:t>
            </a:r>
            <a:endParaRPr/>
          </a:p>
        </p:txBody>
      </p:sp>
      <p:cxnSp>
        <p:nvCxnSpPr>
          <p:cNvPr id="111" name="Google Shape;111;g3886c7a67cc_0_0"/>
          <p:cNvCxnSpPr/>
          <p:nvPr/>
        </p:nvCxnSpPr>
        <p:spPr>
          <a:xfrm>
            <a:off x="0" y="576943"/>
            <a:ext cx="7337100" cy="150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50"/>
              </a:srgbClr>
            </a:outerShdw>
          </a:effectLst>
        </p:spPr>
      </p:cxnSp>
      <p:sp>
        <p:nvSpPr>
          <p:cNvPr id="112" name="Google Shape;112;g3886c7a67cc_0_0"/>
          <p:cNvSpPr txBox="1"/>
          <p:nvPr>
            <p:ph idx="1" type="body"/>
          </p:nvPr>
        </p:nvSpPr>
        <p:spPr>
          <a:xfrm>
            <a:off x="460375" y="902464"/>
            <a:ext cx="8151900" cy="38832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000"/>
              <a:buNone/>
            </a:pPr>
            <a:r>
              <a:rPr lang="en-ID" sz="1900"/>
              <a:t>Widgets in Flutter are divided into two main types:</a:t>
            </a:r>
            <a:endParaRPr sz="1900"/>
          </a:p>
          <a:p>
            <a:pPr indent="-349250" lvl="0" marL="457200" rtl="0" algn="l">
              <a:spcBef>
                <a:spcPts val="0"/>
              </a:spcBef>
              <a:spcAft>
                <a:spcPts val="0"/>
              </a:spcAft>
              <a:buSzPts val="1900"/>
              <a:buChar char="•"/>
            </a:pPr>
            <a:r>
              <a:rPr b="1" lang="en-ID" sz="1900"/>
              <a:t>Stateless</a:t>
            </a:r>
            <a:r>
              <a:rPr lang="en-ID" sz="1900"/>
              <a:t> widgets cannot change their state during the runtime of the app, which means the widgets cannot be redrawn while the app is in action.</a:t>
            </a:r>
            <a:br>
              <a:rPr lang="en-ID" sz="1900"/>
            </a:br>
            <a:r>
              <a:rPr lang="en-ID" sz="1900"/>
              <a:t>Example: A static text label</a:t>
            </a:r>
            <a:endParaRPr sz="1900"/>
          </a:p>
          <a:p>
            <a:pPr indent="0" lvl="0" marL="457200" rtl="0" algn="l">
              <a:spcBef>
                <a:spcPts val="0"/>
              </a:spcBef>
              <a:spcAft>
                <a:spcPts val="0"/>
              </a:spcAft>
              <a:buNone/>
            </a:pPr>
            <a:r>
              <a:t/>
            </a:r>
            <a:endParaRPr sz="1900"/>
          </a:p>
          <a:p>
            <a:pPr indent="-349250" lvl="0" marL="457200" rtl="0" algn="l">
              <a:spcBef>
                <a:spcPts val="0"/>
              </a:spcBef>
              <a:spcAft>
                <a:spcPts val="0"/>
              </a:spcAft>
              <a:buSzPts val="1900"/>
              <a:buChar char="•"/>
            </a:pPr>
            <a:r>
              <a:rPr b="1" lang="en-ID" sz="1900"/>
              <a:t>Stateful</a:t>
            </a:r>
            <a:r>
              <a:rPr lang="en-ID" sz="1900"/>
              <a:t> widgets have a mutable state, i.e., they are </a:t>
            </a:r>
            <a:r>
              <a:rPr b="1" lang="en-ID" sz="1900"/>
              <a:t>mutable</a:t>
            </a:r>
            <a:r>
              <a:rPr lang="en-ID" sz="1900"/>
              <a:t> and can be drawn multiple times within its lifetime. They are the widgets which can change their state multiple times and can be redrawn on to the screen any number of times while the app is in action.</a:t>
            </a:r>
            <a:br>
              <a:rPr lang="en-ID" sz="1900"/>
            </a:br>
            <a:r>
              <a:rPr lang="en-ID" sz="1900"/>
              <a:t>Example: A counter that increases when a button is pressed</a:t>
            </a:r>
            <a:endParaRPr sz="1900"/>
          </a:p>
          <a:p>
            <a:pPr indent="0" lvl="0" marL="0" rtl="0" algn="l">
              <a:spcBef>
                <a:spcPts val="400"/>
              </a:spcBef>
              <a:spcAft>
                <a:spcPts val="0"/>
              </a:spcAft>
              <a:buClr>
                <a:schemeClr val="dk1"/>
              </a:buClr>
              <a:buSzPts val="2000"/>
              <a:buNone/>
            </a:pPr>
            <a:r>
              <a:rPr lang="en-ID" sz="1900"/>
              <a:t>	Notes: Stateful widget can use </a:t>
            </a:r>
            <a:r>
              <a:rPr b="1" lang="en-ID" sz="1900">
                <a:latin typeface="Consolas"/>
                <a:ea typeface="Consolas"/>
                <a:cs typeface="Consolas"/>
                <a:sym typeface="Consolas"/>
              </a:rPr>
              <a:t>setState() </a:t>
            </a:r>
            <a:r>
              <a:rPr lang="en-ID" sz="1900"/>
              <a:t>method</a:t>
            </a:r>
            <a:endParaRPr sz="1900"/>
          </a:p>
          <a:p>
            <a:pPr indent="-342900" lvl="0" marL="342900" rtl="0" algn="l">
              <a:spcBef>
                <a:spcPts val="280"/>
              </a:spcBef>
              <a:spcAft>
                <a:spcPts val="0"/>
              </a:spcAft>
              <a:buClr>
                <a:schemeClr val="dk1"/>
              </a:buClr>
              <a:buSzPts val="1400"/>
              <a:buNone/>
            </a:pPr>
            <a:r>
              <a:t/>
            </a:r>
            <a:endParaRPr sz="1300"/>
          </a:p>
          <a:p>
            <a:pPr indent="-342900" lvl="0" marL="342900" rtl="0" algn="l">
              <a:spcBef>
                <a:spcPts val="280"/>
              </a:spcBef>
              <a:spcAft>
                <a:spcPts val="0"/>
              </a:spcAft>
              <a:buClr>
                <a:schemeClr val="dk1"/>
              </a:buClr>
              <a:buSzPts val="1400"/>
              <a:buNone/>
            </a:pPr>
            <a:r>
              <a:t/>
            </a:r>
            <a:endParaRPr sz="1300"/>
          </a:p>
        </p:txBody>
      </p:sp>
      <p:sp>
        <p:nvSpPr>
          <p:cNvPr descr="Google's Flutter framework spreads its wings and goes multi-platform |  TechCrunch" id="113" name="Google Shape;113;g3886c7a67cc_0_0"/>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4"/>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Skeleton </a:t>
            </a:r>
            <a:endParaRPr/>
          </a:p>
        </p:txBody>
      </p:sp>
      <p:cxnSp>
        <p:nvCxnSpPr>
          <p:cNvPr id="119" name="Google Shape;119;p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20" name="Google Shape;120;p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1" name="Google Shape;121;p4"/>
          <p:cNvSpPr/>
          <p:nvPr/>
        </p:nvSpPr>
        <p:spPr>
          <a:xfrm>
            <a:off x="155575" y="902744"/>
            <a:ext cx="4572000" cy="2569934"/>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100"/>
              <a:buNone/>
            </a:pPr>
            <a:r>
              <a:t/>
            </a:r>
            <a:endParaRPr sz="12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chemeClr val="dk1"/>
                </a:solidFill>
                <a:latin typeface="Consolas"/>
                <a:ea typeface="Consolas"/>
                <a:cs typeface="Consolas"/>
                <a:sym typeface="Consolas"/>
              </a:rPr>
              <a:t>class </a:t>
            </a:r>
            <a:r>
              <a:rPr b="1" lang="en-ID" sz="1200">
                <a:solidFill>
                  <a:schemeClr val="dk1"/>
                </a:solidFill>
                <a:latin typeface="Consolas"/>
                <a:ea typeface="Consolas"/>
                <a:cs typeface="Consolas"/>
                <a:sym typeface="Consolas"/>
              </a:rPr>
              <a:t>AboutScreen</a:t>
            </a:r>
            <a:r>
              <a:rPr lang="en-ID" sz="1200">
                <a:solidFill>
                  <a:schemeClr val="dk1"/>
                </a:solidFill>
                <a:latin typeface="Consolas"/>
                <a:ea typeface="Consolas"/>
                <a:cs typeface="Consolas"/>
                <a:sym typeface="Consolas"/>
              </a:rPr>
              <a:t> extends </a:t>
            </a:r>
            <a:r>
              <a:rPr b="1" lang="en-ID" sz="1200">
                <a:solidFill>
                  <a:schemeClr val="dk1"/>
                </a:solidFill>
                <a:latin typeface="Consolas"/>
                <a:ea typeface="Consolas"/>
                <a:cs typeface="Consolas"/>
                <a:sym typeface="Consolas"/>
              </a:rPr>
              <a:t>StatelessWidget</a:t>
            </a:r>
            <a:r>
              <a:rPr lang="en-ID"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chemeClr val="dk1"/>
                </a:solidFill>
                <a:latin typeface="Consolas"/>
                <a:ea typeface="Consolas"/>
                <a:cs typeface="Consolas"/>
                <a:sym typeface="Consolas"/>
              </a:rPr>
              <a:t>  @override</a:t>
            </a:r>
            <a:endParaRPr sz="12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chemeClr val="dk1"/>
                </a:solidFill>
                <a:latin typeface="Consolas"/>
                <a:ea typeface="Consolas"/>
                <a:cs typeface="Consolas"/>
                <a:sym typeface="Consolas"/>
              </a:rPr>
              <a:t>  Widget </a:t>
            </a:r>
            <a:r>
              <a:rPr b="1" lang="en-ID" sz="1200">
                <a:solidFill>
                  <a:schemeClr val="dk1"/>
                </a:solidFill>
                <a:latin typeface="Consolas"/>
                <a:ea typeface="Consolas"/>
                <a:cs typeface="Consolas"/>
                <a:sym typeface="Consolas"/>
              </a:rPr>
              <a:t>build</a:t>
            </a:r>
            <a:r>
              <a:rPr lang="en-ID" sz="1200">
                <a:solidFill>
                  <a:schemeClr val="dk1"/>
                </a:solidFill>
                <a:latin typeface="Consolas"/>
                <a:ea typeface="Consolas"/>
                <a:cs typeface="Consolas"/>
                <a:sym typeface="Consolas"/>
              </a:rPr>
              <a:t>(BuildContext context) {</a:t>
            </a:r>
            <a:endParaRPr sz="12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chemeClr val="dk1"/>
                </a:solidFill>
                <a:latin typeface="Consolas"/>
                <a:ea typeface="Consolas"/>
                <a:cs typeface="Consolas"/>
                <a:sym typeface="Consolas"/>
              </a:rPr>
              <a:t>    return Scaffold(</a:t>
            </a:r>
            <a:endParaRPr sz="12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chemeClr val="dk1"/>
                </a:solidFill>
                <a:latin typeface="Consolas"/>
                <a:ea typeface="Consolas"/>
                <a:cs typeface="Consolas"/>
                <a:sym typeface="Consolas"/>
              </a:rPr>
              <a:t>      appBar: AppBar(</a:t>
            </a:r>
            <a:endParaRPr sz="12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chemeClr val="dk1"/>
                </a:solidFill>
                <a:latin typeface="Consolas"/>
                <a:ea typeface="Consolas"/>
                <a:cs typeface="Consolas"/>
                <a:sym typeface="Consolas"/>
              </a:rPr>
              <a:t>        title: Text('About'),</a:t>
            </a:r>
            <a:endParaRPr sz="12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chemeClr val="dk1"/>
                </a:solidFill>
                <a:latin typeface="Consolas"/>
                <a:ea typeface="Consolas"/>
                <a:cs typeface="Consolas"/>
                <a:sym typeface="Consolas"/>
              </a:rPr>
              <a:t>      body: Center(</a:t>
            </a:r>
            <a:endParaRPr sz="12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chemeClr val="dk1"/>
                </a:solidFill>
                <a:latin typeface="Consolas"/>
                <a:ea typeface="Consolas"/>
                <a:cs typeface="Consolas"/>
                <a:sym typeface="Consolas"/>
              </a:rPr>
              <a:t>        child: Text("Example Text"),</a:t>
            </a:r>
            <a:endParaRPr sz="12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200">
              <a:solidFill>
                <a:schemeClr val="dk1"/>
              </a:solidFill>
              <a:latin typeface="Consolas"/>
              <a:ea typeface="Consolas"/>
              <a:cs typeface="Consolas"/>
              <a:sym typeface="Consolas"/>
            </a:endParaRPr>
          </a:p>
          <a:p>
            <a:pPr indent="0" lvl="0" marL="0" marR="0" rtl="0" algn="l">
              <a:spcBef>
                <a:spcPts val="0"/>
              </a:spcBef>
              <a:spcAft>
                <a:spcPts val="0"/>
              </a:spcAft>
              <a:buNone/>
            </a:pPr>
            <a:r>
              <a:t/>
            </a:r>
            <a:endParaRPr sz="1200">
              <a:solidFill>
                <a:schemeClr val="dk1"/>
              </a:solidFill>
              <a:latin typeface="Consolas"/>
              <a:ea typeface="Consolas"/>
              <a:cs typeface="Consolas"/>
              <a:sym typeface="Consolas"/>
            </a:endParaRPr>
          </a:p>
        </p:txBody>
      </p:sp>
      <p:sp>
        <p:nvSpPr>
          <p:cNvPr id="122" name="Google Shape;122;p4"/>
          <p:cNvSpPr/>
          <p:nvPr/>
        </p:nvSpPr>
        <p:spPr>
          <a:xfrm>
            <a:off x="4325875" y="974550"/>
            <a:ext cx="4611000" cy="3798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ID" sz="1100">
                <a:solidFill>
                  <a:srgbClr val="B7B7B7"/>
                </a:solidFill>
                <a:latin typeface="Consolas"/>
                <a:ea typeface="Consolas"/>
                <a:cs typeface="Consolas"/>
                <a:sym typeface="Consolas"/>
              </a:rPr>
              <a:t>class </a:t>
            </a:r>
            <a:r>
              <a:rPr b="1" lang="en-ID" sz="1100">
                <a:solidFill>
                  <a:srgbClr val="B7B7B7"/>
                </a:solidFill>
                <a:latin typeface="Consolas"/>
                <a:ea typeface="Consolas"/>
                <a:cs typeface="Consolas"/>
                <a:sym typeface="Consolas"/>
              </a:rPr>
              <a:t>MyApp</a:t>
            </a:r>
            <a:r>
              <a:rPr lang="en-ID" sz="1100">
                <a:solidFill>
                  <a:srgbClr val="B7B7B7"/>
                </a:solidFill>
                <a:latin typeface="Consolas"/>
                <a:ea typeface="Consolas"/>
                <a:cs typeface="Consolas"/>
                <a:sym typeface="Consolas"/>
              </a:rPr>
              <a:t> extends </a:t>
            </a:r>
            <a:r>
              <a:rPr b="1" lang="en-ID" sz="1100">
                <a:solidFill>
                  <a:srgbClr val="B7B7B7"/>
                </a:solidFill>
                <a:latin typeface="Consolas"/>
                <a:ea typeface="Consolas"/>
                <a:cs typeface="Consolas"/>
                <a:sym typeface="Consolas"/>
              </a:rPr>
              <a:t>StatefulWidget</a:t>
            </a:r>
            <a:r>
              <a:rPr lang="en-ID" sz="1100">
                <a:solidFill>
                  <a:srgbClr val="B7B7B7"/>
                </a:solidFill>
                <a:latin typeface="Consolas"/>
                <a:ea typeface="Consolas"/>
                <a:cs typeface="Consolas"/>
                <a:sym typeface="Consolas"/>
              </a:rPr>
              <a:t> {</a:t>
            </a:r>
            <a:endParaRPr sz="1100">
              <a:solidFill>
                <a:srgbClr val="B7B7B7"/>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B7B7B7"/>
                </a:solidFill>
                <a:latin typeface="Consolas"/>
                <a:ea typeface="Consolas"/>
                <a:cs typeface="Consolas"/>
                <a:sym typeface="Consolas"/>
              </a:rPr>
              <a:t>  @override</a:t>
            </a:r>
            <a:endParaRPr sz="1100">
              <a:solidFill>
                <a:srgbClr val="B7B7B7"/>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B7B7B7"/>
                </a:solidFill>
                <a:latin typeface="Consolas"/>
                <a:ea typeface="Consolas"/>
                <a:cs typeface="Consolas"/>
                <a:sym typeface="Consolas"/>
              </a:rPr>
              <a:t>  State&lt;StatefulWidget&gt; createState() {</a:t>
            </a:r>
            <a:endParaRPr sz="1100">
              <a:solidFill>
                <a:srgbClr val="B7B7B7"/>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B7B7B7"/>
                </a:solidFill>
                <a:latin typeface="Consolas"/>
                <a:ea typeface="Consolas"/>
                <a:cs typeface="Consolas"/>
                <a:sym typeface="Consolas"/>
              </a:rPr>
              <a:t>    return _MyAppState();</a:t>
            </a:r>
            <a:endParaRPr sz="1100">
              <a:solidFill>
                <a:srgbClr val="B7B7B7"/>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B7B7B7"/>
                </a:solidFill>
                <a:latin typeface="Consolas"/>
                <a:ea typeface="Consolas"/>
                <a:cs typeface="Consolas"/>
                <a:sym typeface="Consolas"/>
              </a:rPr>
              <a:t>  }</a:t>
            </a:r>
            <a:endParaRPr sz="1100">
              <a:solidFill>
                <a:srgbClr val="B7B7B7"/>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B7B7B7"/>
                </a:solidFill>
                <a:latin typeface="Consolas"/>
                <a:ea typeface="Consolas"/>
                <a:cs typeface="Consolas"/>
                <a:sym typeface="Consolas"/>
              </a:rPr>
              <a:t>}</a:t>
            </a:r>
            <a:endParaRPr sz="1100">
              <a:solidFill>
                <a:srgbClr val="B7B7B7"/>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100">
              <a:solidFill>
                <a:srgbClr val="B7B7B7"/>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B7B7B7"/>
                </a:solidFill>
                <a:latin typeface="Consolas"/>
                <a:ea typeface="Consolas"/>
                <a:cs typeface="Consolas"/>
                <a:sym typeface="Consolas"/>
              </a:rPr>
              <a:t>class </a:t>
            </a:r>
            <a:r>
              <a:rPr b="1" lang="en-ID" sz="1100">
                <a:solidFill>
                  <a:srgbClr val="B7B7B7"/>
                </a:solidFill>
                <a:latin typeface="Consolas"/>
                <a:ea typeface="Consolas"/>
                <a:cs typeface="Consolas"/>
                <a:sym typeface="Consolas"/>
              </a:rPr>
              <a:t>_MyAppState</a:t>
            </a:r>
            <a:r>
              <a:rPr lang="en-ID" sz="1100">
                <a:solidFill>
                  <a:srgbClr val="B7B7B7"/>
                </a:solidFill>
                <a:latin typeface="Consolas"/>
                <a:ea typeface="Consolas"/>
                <a:cs typeface="Consolas"/>
                <a:sym typeface="Consolas"/>
              </a:rPr>
              <a:t> extends </a:t>
            </a:r>
            <a:r>
              <a:rPr b="1" lang="en-ID" sz="1100">
                <a:solidFill>
                  <a:srgbClr val="B7B7B7"/>
                </a:solidFill>
                <a:latin typeface="Consolas"/>
                <a:ea typeface="Consolas"/>
                <a:cs typeface="Consolas"/>
                <a:sym typeface="Consolas"/>
              </a:rPr>
              <a:t>State</a:t>
            </a:r>
            <a:r>
              <a:rPr lang="en-ID" sz="1100">
                <a:solidFill>
                  <a:srgbClr val="B7B7B7"/>
                </a:solidFill>
                <a:latin typeface="Consolas"/>
                <a:ea typeface="Consolas"/>
                <a:cs typeface="Consolas"/>
                <a:sym typeface="Consolas"/>
              </a:rPr>
              <a:t>&lt;MyApp&gt; {</a:t>
            </a:r>
            <a:endParaRPr sz="1100">
              <a:solidFill>
                <a:srgbClr val="B7B7B7"/>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B7B7B7"/>
                </a:solidFill>
                <a:latin typeface="Consolas"/>
                <a:ea typeface="Consolas"/>
                <a:cs typeface="Consolas"/>
                <a:sym typeface="Consolas"/>
              </a:rPr>
              <a:t>  @override</a:t>
            </a:r>
            <a:endParaRPr sz="1100">
              <a:solidFill>
                <a:srgbClr val="B7B7B7"/>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B7B7B7"/>
                </a:solidFill>
                <a:latin typeface="Consolas"/>
                <a:ea typeface="Consolas"/>
                <a:cs typeface="Consolas"/>
                <a:sym typeface="Consolas"/>
              </a:rPr>
              <a:t>  Widget </a:t>
            </a:r>
            <a:r>
              <a:rPr b="1" lang="en-ID" sz="1100">
                <a:solidFill>
                  <a:srgbClr val="B7B7B7"/>
                </a:solidFill>
                <a:latin typeface="Consolas"/>
                <a:ea typeface="Consolas"/>
                <a:cs typeface="Consolas"/>
                <a:sym typeface="Consolas"/>
              </a:rPr>
              <a:t>build</a:t>
            </a:r>
            <a:r>
              <a:rPr lang="en-ID" sz="1100">
                <a:solidFill>
                  <a:srgbClr val="B7B7B7"/>
                </a:solidFill>
                <a:latin typeface="Consolas"/>
                <a:ea typeface="Consolas"/>
                <a:cs typeface="Consolas"/>
                <a:sym typeface="Consolas"/>
              </a:rPr>
              <a:t>(BuildContext context) {</a:t>
            </a:r>
            <a:endParaRPr sz="1100">
              <a:solidFill>
                <a:srgbClr val="B7B7B7"/>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B7B7B7"/>
                </a:solidFill>
                <a:latin typeface="Consolas"/>
                <a:ea typeface="Consolas"/>
                <a:cs typeface="Consolas"/>
                <a:sym typeface="Consolas"/>
              </a:rPr>
              <a:t>    return Scaffold(</a:t>
            </a:r>
            <a:endParaRPr sz="1100">
              <a:solidFill>
                <a:srgbClr val="B7B7B7"/>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B7B7B7"/>
                </a:solidFill>
                <a:latin typeface="Consolas"/>
                <a:ea typeface="Consolas"/>
                <a:cs typeface="Consolas"/>
                <a:sym typeface="Consolas"/>
              </a:rPr>
              <a:t>      appBar: AppBar(</a:t>
            </a:r>
            <a:endParaRPr sz="1100">
              <a:solidFill>
                <a:srgbClr val="B7B7B7"/>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B7B7B7"/>
                </a:solidFill>
                <a:latin typeface="Consolas"/>
                <a:ea typeface="Consolas"/>
                <a:cs typeface="Consolas"/>
                <a:sym typeface="Consolas"/>
              </a:rPr>
              <a:t>        title: Text('ExampleApp'),</a:t>
            </a:r>
            <a:endParaRPr sz="1100">
              <a:solidFill>
                <a:srgbClr val="B7B7B7"/>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B7B7B7"/>
                </a:solidFill>
                <a:latin typeface="Consolas"/>
                <a:ea typeface="Consolas"/>
                <a:cs typeface="Consolas"/>
                <a:sym typeface="Consolas"/>
              </a:rPr>
              <a:t>      ),</a:t>
            </a:r>
            <a:endParaRPr sz="1100">
              <a:solidFill>
                <a:srgbClr val="B7B7B7"/>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B7B7B7"/>
                </a:solidFill>
                <a:latin typeface="Consolas"/>
                <a:ea typeface="Consolas"/>
                <a:cs typeface="Consolas"/>
                <a:sym typeface="Consolas"/>
              </a:rPr>
              <a:t>      body: Center(</a:t>
            </a:r>
            <a:endParaRPr sz="1100">
              <a:solidFill>
                <a:srgbClr val="B7B7B7"/>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B7B7B7"/>
                </a:solidFill>
                <a:latin typeface="Consolas"/>
                <a:ea typeface="Consolas"/>
                <a:cs typeface="Consolas"/>
                <a:sym typeface="Consolas"/>
              </a:rPr>
              <a:t>        child: Text("Example Text"),</a:t>
            </a:r>
            <a:endParaRPr sz="1100">
              <a:solidFill>
                <a:srgbClr val="B7B7B7"/>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B7B7B7"/>
                </a:solidFill>
                <a:latin typeface="Consolas"/>
                <a:ea typeface="Consolas"/>
                <a:cs typeface="Consolas"/>
                <a:sym typeface="Consolas"/>
              </a:rPr>
              <a:t>      ),</a:t>
            </a:r>
            <a:endParaRPr sz="1100">
              <a:solidFill>
                <a:srgbClr val="B7B7B7"/>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B7B7B7"/>
                </a:solidFill>
                <a:latin typeface="Consolas"/>
                <a:ea typeface="Consolas"/>
                <a:cs typeface="Consolas"/>
                <a:sym typeface="Consolas"/>
              </a:rPr>
              <a:t>    );</a:t>
            </a:r>
            <a:endParaRPr sz="1100">
              <a:solidFill>
                <a:srgbClr val="B7B7B7"/>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B7B7B7"/>
                </a:solidFill>
                <a:latin typeface="Consolas"/>
                <a:ea typeface="Consolas"/>
                <a:cs typeface="Consolas"/>
                <a:sym typeface="Consolas"/>
              </a:rPr>
              <a:t>  }</a:t>
            </a:r>
            <a:endParaRPr sz="1100">
              <a:solidFill>
                <a:srgbClr val="B7B7B7"/>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B7B7B7"/>
                </a:solidFill>
                <a:latin typeface="Consolas"/>
                <a:ea typeface="Consolas"/>
                <a:cs typeface="Consolas"/>
                <a:sym typeface="Consolas"/>
              </a:rPr>
              <a:t>}</a:t>
            </a:r>
            <a:endParaRPr sz="1100">
              <a:solidFill>
                <a:srgbClr val="B7B7B7"/>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100">
              <a:solidFill>
                <a:srgbClr val="B7B7B7"/>
              </a:solidFill>
              <a:latin typeface="Consolas"/>
              <a:ea typeface="Consolas"/>
              <a:cs typeface="Consolas"/>
              <a:sym typeface="Consolas"/>
            </a:endParaRPr>
          </a:p>
          <a:p>
            <a:pPr indent="0" lvl="0" marL="0" marR="0" rtl="0" algn="l">
              <a:spcBef>
                <a:spcPts val="0"/>
              </a:spcBef>
              <a:spcAft>
                <a:spcPts val="0"/>
              </a:spcAft>
              <a:buNone/>
            </a:pPr>
            <a:r>
              <a:t/>
            </a:r>
            <a:endParaRPr sz="1100">
              <a:solidFill>
                <a:srgbClr val="B7B7B7"/>
              </a:solidFill>
              <a:latin typeface="Consolas"/>
              <a:ea typeface="Consolas"/>
              <a:cs typeface="Consolas"/>
              <a:sym typeface="Consolas"/>
            </a:endParaRPr>
          </a:p>
        </p:txBody>
      </p:sp>
      <p:cxnSp>
        <p:nvCxnSpPr>
          <p:cNvPr id="123" name="Google Shape;123;p4"/>
          <p:cNvCxnSpPr>
            <a:stCxn id="118" idx="2"/>
          </p:cNvCxnSpPr>
          <p:nvPr/>
        </p:nvCxnSpPr>
        <p:spPr>
          <a:xfrm>
            <a:off x="4114800" y="576943"/>
            <a:ext cx="0" cy="426510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24" name="Google Shape;124;p4"/>
          <p:cNvSpPr txBox="1"/>
          <p:nvPr/>
        </p:nvSpPr>
        <p:spPr>
          <a:xfrm>
            <a:off x="1345292" y="650342"/>
            <a:ext cx="733697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Stateless                                                   </a:t>
            </a:r>
            <a:r>
              <a:rPr lang="en-ID" sz="1800">
                <a:solidFill>
                  <a:srgbClr val="B7B7B7"/>
                </a:solidFill>
                <a:latin typeface="Arial"/>
                <a:ea typeface="Arial"/>
                <a:cs typeface="Arial"/>
                <a:sym typeface="Arial"/>
              </a:rPr>
              <a:t>Statefull</a:t>
            </a:r>
            <a:endParaRPr sz="1800">
              <a:solidFill>
                <a:srgbClr val="B7B7B7"/>
              </a:solidFill>
              <a:latin typeface="Arial"/>
              <a:ea typeface="Arial"/>
              <a:cs typeface="Arial"/>
              <a:sym typeface="Arial"/>
            </a:endParaRPr>
          </a:p>
        </p:txBody>
      </p:sp>
      <p:sp>
        <p:nvSpPr>
          <p:cNvPr id="125" name="Google Shape;125;p4"/>
          <p:cNvSpPr txBox="1"/>
          <p:nvPr/>
        </p:nvSpPr>
        <p:spPr>
          <a:xfrm>
            <a:off x="304250" y="3796900"/>
            <a:ext cx="3460800" cy="831300"/>
          </a:xfrm>
          <a:prstGeom prst="rect">
            <a:avLst/>
          </a:prstGeom>
          <a:solidFill>
            <a:schemeClr val="accen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D">
                <a:solidFill>
                  <a:schemeClr val="lt1"/>
                </a:solidFill>
              </a:rPr>
              <a:t>Every widget has a </a:t>
            </a:r>
            <a:r>
              <a:rPr b="1" lang="en-ID">
                <a:solidFill>
                  <a:schemeClr val="lt1"/>
                </a:solidFill>
              </a:rPr>
              <a:t>build()</a:t>
            </a:r>
            <a:r>
              <a:rPr lang="en-ID">
                <a:solidFill>
                  <a:schemeClr val="lt1"/>
                </a:solidFill>
              </a:rPr>
              <a:t> method that returns the widget tree for what should be displayed</a:t>
            </a:r>
            <a:endParaRPr sz="17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886c7a67cc_0_21"/>
          <p:cNvSpPr txBox="1"/>
          <p:nvPr>
            <p:ph type="title"/>
          </p:nvPr>
        </p:nvSpPr>
        <p:spPr>
          <a:xfrm>
            <a:off x="0" y="0"/>
            <a:ext cx="8229600" cy="5769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Skeleton </a:t>
            </a:r>
            <a:endParaRPr/>
          </a:p>
        </p:txBody>
      </p:sp>
      <p:cxnSp>
        <p:nvCxnSpPr>
          <p:cNvPr id="131" name="Google Shape;131;g3886c7a67cc_0_21"/>
          <p:cNvCxnSpPr/>
          <p:nvPr/>
        </p:nvCxnSpPr>
        <p:spPr>
          <a:xfrm>
            <a:off x="0" y="576943"/>
            <a:ext cx="7337100" cy="150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50"/>
              </a:srgbClr>
            </a:outerShdw>
          </a:effectLst>
        </p:spPr>
      </p:cxnSp>
      <p:sp>
        <p:nvSpPr>
          <p:cNvPr descr="Google's Flutter framework spreads its wings and goes multi-platform |  TechCrunch" id="132" name="Google Shape;132;g3886c7a67cc_0_21"/>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 name="Google Shape;133;g3886c7a67cc_0_21"/>
          <p:cNvSpPr/>
          <p:nvPr/>
        </p:nvSpPr>
        <p:spPr>
          <a:xfrm>
            <a:off x="155575" y="902744"/>
            <a:ext cx="4572000" cy="2569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t/>
            </a:r>
            <a:endParaRPr sz="1200">
              <a:solidFill>
                <a:srgbClr val="CCCCCC"/>
              </a:solidFill>
              <a:latin typeface="Consolas"/>
              <a:ea typeface="Consolas"/>
              <a:cs typeface="Consolas"/>
              <a:sym typeface="Consolas"/>
            </a:endParaRPr>
          </a:p>
          <a:p>
            <a:pPr indent="0" lvl="0" marL="0" rtl="0" algn="l">
              <a:spcBef>
                <a:spcPts val="0"/>
              </a:spcBef>
              <a:spcAft>
                <a:spcPts val="0"/>
              </a:spcAft>
              <a:buSzPts val="1100"/>
              <a:buNone/>
            </a:pPr>
            <a:r>
              <a:rPr lang="en-ID" sz="1200">
                <a:solidFill>
                  <a:srgbClr val="CCCCCC"/>
                </a:solidFill>
                <a:latin typeface="Consolas"/>
                <a:ea typeface="Consolas"/>
                <a:cs typeface="Consolas"/>
                <a:sym typeface="Consolas"/>
              </a:rPr>
              <a:t>class </a:t>
            </a:r>
            <a:r>
              <a:rPr b="1" lang="en-ID" sz="1200">
                <a:solidFill>
                  <a:srgbClr val="CCCCCC"/>
                </a:solidFill>
                <a:latin typeface="Consolas"/>
                <a:ea typeface="Consolas"/>
                <a:cs typeface="Consolas"/>
                <a:sym typeface="Consolas"/>
              </a:rPr>
              <a:t>AboutScreen</a:t>
            </a:r>
            <a:r>
              <a:rPr lang="en-ID" sz="1200">
                <a:solidFill>
                  <a:srgbClr val="CCCCCC"/>
                </a:solidFill>
                <a:latin typeface="Consolas"/>
                <a:ea typeface="Consolas"/>
                <a:cs typeface="Consolas"/>
                <a:sym typeface="Consolas"/>
              </a:rPr>
              <a:t> extends </a:t>
            </a:r>
            <a:r>
              <a:rPr b="1" lang="en-ID" sz="1200">
                <a:solidFill>
                  <a:srgbClr val="CCCCCC"/>
                </a:solidFill>
                <a:latin typeface="Consolas"/>
                <a:ea typeface="Consolas"/>
                <a:cs typeface="Consolas"/>
                <a:sym typeface="Consolas"/>
              </a:rPr>
              <a:t>StatelessWidget</a:t>
            </a:r>
            <a:r>
              <a:rPr lang="en-ID" sz="1200">
                <a:solidFill>
                  <a:srgbClr val="CCCCCC"/>
                </a:solidFill>
                <a:latin typeface="Consolas"/>
                <a:ea typeface="Consolas"/>
                <a:cs typeface="Consolas"/>
                <a:sym typeface="Consolas"/>
              </a:rPr>
              <a:t> {</a:t>
            </a:r>
            <a:endParaRPr sz="1200">
              <a:solidFill>
                <a:srgbClr val="CCCCCC"/>
              </a:solidFill>
              <a:latin typeface="Consolas"/>
              <a:ea typeface="Consolas"/>
              <a:cs typeface="Consolas"/>
              <a:sym typeface="Consolas"/>
            </a:endParaRPr>
          </a:p>
          <a:p>
            <a:pPr indent="0" lvl="0" marL="0" rtl="0" algn="l">
              <a:spcBef>
                <a:spcPts val="0"/>
              </a:spcBef>
              <a:spcAft>
                <a:spcPts val="0"/>
              </a:spcAft>
              <a:buSzPts val="1100"/>
              <a:buNone/>
            </a:pPr>
            <a:r>
              <a:rPr lang="en-ID" sz="1200">
                <a:solidFill>
                  <a:srgbClr val="CCCCCC"/>
                </a:solidFill>
                <a:latin typeface="Consolas"/>
                <a:ea typeface="Consolas"/>
                <a:cs typeface="Consolas"/>
                <a:sym typeface="Consolas"/>
              </a:rPr>
              <a:t>  @override</a:t>
            </a:r>
            <a:endParaRPr sz="1200">
              <a:solidFill>
                <a:srgbClr val="CCCCCC"/>
              </a:solidFill>
              <a:latin typeface="Consolas"/>
              <a:ea typeface="Consolas"/>
              <a:cs typeface="Consolas"/>
              <a:sym typeface="Consolas"/>
            </a:endParaRPr>
          </a:p>
          <a:p>
            <a:pPr indent="0" lvl="0" marL="0" rtl="0" algn="l">
              <a:spcBef>
                <a:spcPts val="0"/>
              </a:spcBef>
              <a:spcAft>
                <a:spcPts val="0"/>
              </a:spcAft>
              <a:buSzPts val="1100"/>
              <a:buNone/>
            </a:pPr>
            <a:r>
              <a:rPr lang="en-ID" sz="1200">
                <a:solidFill>
                  <a:srgbClr val="CCCCCC"/>
                </a:solidFill>
                <a:latin typeface="Consolas"/>
                <a:ea typeface="Consolas"/>
                <a:cs typeface="Consolas"/>
                <a:sym typeface="Consolas"/>
              </a:rPr>
              <a:t>  Widget </a:t>
            </a:r>
            <a:r>
              <a:rPr b="1" lang="en-ID" sz="1200">
                <a:solidFill>
                  <a:srgbClr val="CCCCCC"/>
                </a:solidFill>
                <a:latin typeface="Consolas"/>
                <a:ea typeface="Consolas"/>
                <a:cs typeface="Consolas"/>
                <a:sym typeface="Consolas"/>
              </a:rPr>
              <a:t>build</a:t>
            </a:r>
            <a:r>
              <a:rPr lang="en-ID" sz="1200">
                <a:solidFill>
                  <a:srgbClr val="CCCCCC"/>
                </a:solidFill>
                <a:latin typeface="Consolas"/>
                <a:ea typeface="Consolas"/>
                <a:cs typeface="Consolas"/>
                <a:sym typeface="Consolas"/>
              </a:rPr>
              <a:t>(BuildContext context) {</a:t>
            </a:r>
            <a:endParaRPr sz="1200">
              <a:solidFill>
                <a:srgbClr val="CCCCCC"/>
              </a:solidFill>
              <a:latin typeface="Consolas"/>
              <a:ea typeface="Consolas"/>
              <a:cs typeface="Consolas"/>
              <a:sym typeface="Consolas"/>
            </a:endParaRPr>
          </a:p>
          <a:p>
            <a:pPr indent="0" lvl="0" marL="0" rtl="0" algn="l">
              <a:spcBef>
                <a:spcPts val="0"/>
              </a:spcBef>
              <a:spcAft>
                <a:spcPts val="0"/>
              </a:spcAft>
              <a:buSzPts val="1100"/>
              <a:buNone/>
            </a:pPr>
            <a:r>
              <a:rPr lang="en-ID" sz="1200">
                <a:solidFill>
                  <a:srgbClr val="CCCCCC"/>
                </a:solidFill>
                <a:latin typeface="Consolas"/>
                <a:ea typeface="Consolas"/>
                <a:cs typeface="Consolas"/>
                <a:sym typeface="Consolas"/>
              </a:rPr>
              <a:t>    return Scaffold(</a:t>
            </a:r>
            <a:endParaRPr sz="1200">
              <a:solidFill>
                <a:srgbClr val="CCCCCC"/>
              </a:solidFill>
              <a:latin typeface="Consolas"/>
              <a:ea typeface="Consolas"/>
              <a:cs typeface="Consolas"/>
              <a:sym typeface="Consolas"/>
            </a:endParaRPr>
          </a:p>
          <a:p>
            <a:pPr indent="0" lvl="0" marL="0" rtl="0" algn="l">
              <a:spcBef>
                <a:spcPts val="0"/>
              </a:spcBef>
              <a:spcAft>
                <a:spcPts val="0"/>
              </a:spcAft>
              <a:buSzPts val="1100"/>
              <a:buNone/>
            </a:pPr>
            <a:r>
              <a:rPr lang="en-ID" sz="1200">
                <a:solidFill>
                  <a:srgbClr val="CCCCCC"/>
                </a:solidFill>
                <a:latin typeface="Consolas"/>
                <a:ea typeface="Consolas"/>
                <a:cs typeface="Consolas"/>
                <a:sym typeface="Consolas"/>
              </a:rPr>
              <a:t>      appBar: AppBar(</a:t>
            </a:r>
            <a:endParaRPr sz="1200">
              <a:solidFill>
                <a:srgbClr val="CCCCCC"/>
              </a:solidFill>
              <a:latin typeface="Consolas"/>
              <a:ea typeface="Consolas"/>
              <a:cs typeface="Consolas"/>
              <a:sym typeface="Consolas"/>
            </a:endParaRPr>
          </a:p>
          <a:p>
            <a:pPr indent="0" lvl="0" marL="0" rtl="0" algn="l">
              <a:spcBef>
                <a:spcPts val="0"/>
              </a:spcBef>
              <a:spcAft>
                <a:spcPts val="0"/>
              </a:spcAft>
              <a:buSzPts val="1100"/>
              <a:buNone/>
            </a:pPr>
            <a:r>
              <a:rPr lang="en-ID" sz="1200">
                <a:solidFill>
                  <a:srgbClr val="CCCCCC"/>
                </a:solidFill>
                <a:latin typeface="Consolas"/>
                <a:ea typeface="Consolas"/>
                <a:cs typeface="Consolas"/>
                <a:sym typeface="Consolas"/>
              </a:rPr>
              <a:t>        title: Text('About'),</a:t>
            </a:r>
            <a:endParaRPr sz="1200">
              <a:solidFill>
                <a:srgbClr val="CCCCCC"/>
              </a:solidFill>
              <a:latin typeface="Consolas"/>
              <a:ea typeface="Consolas"/>
              <a:cs typeface="Consolas"/>
              <a:sym typeface="Consolas"/>
            </a:endParaRPr>
          </a:p>
          <a:p>
            <a:pPr indent="0" lvl="0" marL="0" rtl="0" algn="l">
              <a:spcBef>
                <a:spcPts val="0"/>
              </a:spcBef>
              <a:spcAft>
                <a:spcPts val="0"/>
              </a:spcAft>
              <a:buSzPts val="1100"/>
              <a:buNone/>
            </a:pPr>
            <a:r>
              <a:rPr lang="en-ID" sz="1200">
                <a:solidFill>
                  <a:srgbClr val="CCCCCC"/>
                </a:solidFill>
                <a:latin typeface="Consolas"/>
                <a:ea typeface="Consolas"/>
                <a:cs typeface="Consolas"/>
                <a:sym typeface="Consolas"/>
              </a:rPr>
              <a:t>      ),</a:t>
            </a:r>
            <a:endParaRPr sz="1200">
              <a:solidFill>
                <a:srgbClr val="CCCCCC"/>
              </a:solidFill>
              <a:latin typeface="Consolas"/>
              <a:ea typeface="Consolas"/>
              <a:cs typeface="Consolas"/>
              <a:sym typeface="Consolas"/>
            </a:endParaRPr>
          </a:p>
          <a:p>
            <a:pPr indent="0" lvl="0" marL="0" rtl="0" algn="l">
              <a:spcBef>
                <a:spcPts val="0"/>
              </a:spcBef>
              <a:spcAft>
                <a:spcPts val="0"/>
              </a:spcAft>
              <a:buSzPts val="1100"/>
              <a:buNone/>
            </a:pPr>
            <a:r>
              <a:rPr lang="en-ID" sz="1200">
                <a:solidFill>
                  <a:srgbClr val="CCCCCC"/>
                </a:solidFill>
                <a:latin typeface="Consolas"/>
                <a:ea typeface="Consolas"/>
                <a:cs typeface="Consolas"/>
                <a:sym typeface="Consolas"/>
              </a:rPr>
              <a:t>      body: Center(</a:t>
            </a:r>
            <a:endParaRPr sz="1200">
              <a:solidFill>
                <a:srgbClr val="CCCCCC"/>
              </a:solidFill>
              <a:latin typeface="Consolas"/>
              <a:ea typeface="Consolas"/>
              <a:cs typeface="Consolas"/>
              <a:sym typeface="Consolas"/>
            </a:endParaRPr>
          </a:p>
          <a:p>
            <a:pPr indent="0" lvl="0" marL="0" rtl="0" algn="l">
              <a:spcBef>
                <a:spcPts val="0"/>
              </a:spcBef>
              <a:spcAft>
                <a:spcPts val="0"/>
              </a:spcAft>
              <a:buSzPts val="1100"/>
              <a:buNone/>
            </a:pPr>
            <a:r>
              <a:rPr lang="en-ID" sz="1200">
                <a:solidFill>
                  <a:srgbClr val="CCCCCC"/>
                </a:solidFill>
                <a:latin typeface="Consolas"/>
                <a:ea typeface="Consolas"/>
                <a:cs typeface="Consolas"/>
                <a:sym typeface="Consolas"/>
              </a:rPr>
              <a:t>        child: Text("Example Text"),</a:t>
            </a:r>
            <a:endParaRPr sz="1200">
              <a:solidFill>
                <a:srgbClr val="CCCCCC"/>
              </a:solidFill>
              <a:latin typeface="Consolas"/>
              <a:ea typeface="Consolas"/>
              <a:cs typeface="Consolas"/>
              <a:sym typeface="Consolas"/>
            </a:endParaRPr>
          </a:p>
          <a:p>
            <a:pPr indent="0" lvl="0" marL="0" rtl="0" algn="l">
              <a:spcBef>
                <a:spcPts val="0"/>
              </a:spcBef>
              <a:spcAft>
                <a:spcPts val="0"/>
              </a:spcAft>
              <a:buSzPts val="1100"/>
              <a:buNone/>
            </a:pPr>
            <a:r>
              <a:rPr lang="en-ID" sz="1200">
                <a:solidFill>
                  <a:srgbClr val="CCCCCC"/>
                </a:solidFill>
                <a:latin typeface="Consolas"/>
                <a:ea typeface="Consolas"/>
                <a:cs typeface="Consolas"/>
                <a:sym typeface="Consolas"/>
              </a:rPr>
              <a:t>      ),</a:t>
            </a:r>
            <a:endParaRPr sz="1200">
              <a:solidFill>
                <a:srgbClr val="CCCCCC"/>
              </a:solidFill>
              <a:latin typeface="Consolas"/>
              <a:ea typeface="Consolas"/>
              <a:cs typeface="Consolas"/>
              <a:sym typeface="Consolas"/>
            </a:endParaRPr>
          </a:p>
          <a:p>
            <a:pPr indent="0" lvl="0" marL="0" rtl="0" algn="l">
              <a:spcBef>
                <a:spcPts val="0"/>
              </a:spcBef>
              <a:spcAft>
                <a:spcPts val="0"/>
              </a:spcAft>
              <a:buSzPts val="1100"/>
              <a:buNone/>
            </a:pPr>
            <a:r>
              <a:rPr lang="en-ID" sz="1200">
                <a:solidFill>
                  <a:srgbClr val="CCCCCC"/>
                </a:solidFill>
                <a:latin typeface="Consolas"/>
                <a:ea typeface="Consolas"/>
                <a:cs typeface="Consolas"/>
                <a:sym typeface="Consolas"/>
              </a:rPr>
              <a:t>    );</a:t>
            </a:r>
            <a:endParaRPr sz="1200">
              <a:solidFill>
                <a:srgbClr val="CCCCCC"/>
              </a:solidFill>
              <a:latin typeface="Consolas"/>
              <a:ea typeface="Consolas"/>
              <a:cs typeface="Consolas"/>
              <a:sym typeface="Consolas"/>
            </a:endParaRPr>
          </a:p>
          <a:p>
            <a:pPr indent="0" lvl="0" marL="0" rtl="0" algn="l">
              <a:spcBef>
                <a:spcPts val="0"/>
              </a:spcBef>
              <a:spcAft>
                <a:spcPts val="0"/>
              </a:spcAft>
              <a:buSzPts val="1100"/>
              <a:buNone/>
            </a:pPr>
            <a:r>
              <a:rPr lang="en-ID" sz="1200">
                <a:solidFill>
                  <a:srgbClr val="CCCCCC"/>
                </a:solidFill>
                <a:latin typeface="Consolas"/>
                <a:ea typeface="Consolas"/>
                <a:cs typeface="Consolas"/>
                <a:sym typeface="Consolas"/>
              </a:rPr>
              <a:t>  }</a:t>
            </a:r>
            <a:endParaRPr sz="1200">
              <a:solidFill>
                <a:srgbClr val="CCCCCC"/>
              </a:solidFill>
              <a:latin typeface="Consolas"/>
              <a:ea typeface="Consolas"/>
              <a:cs typeface="Consolas"/>
              <a:sym typeface="Consolas"/>
            </a:endParaRPr>
          </a:p>
          <a:p>
            <a:pPr indent="0" lvl="0" marL="0" rtl="0" algn="l">
              <a:spcBef>
                <a:spcPts val="0"/>
              </a:spcBef>
              <a:spcAft>
                <a:spcPts val="0"/>
              </a:spcAft>
              <a:buSzPts val="1100"/>
              <a:buNone/>
            </a:pPr>
            <a:r>
              <a:rPr lang="en-ID" sz="1200">
                <a:solidFill>
                  <a:srgbClr val="CCCCCC"/>
                </a:solidFill>
                <a:latin typeface="Consolas"/>
                <a:ea typeface="Consolas"/>
                <a:cs typeface="Consolas"/>
                <a:sym typeface="Consolas"/>
              </a:rPr>
              <a:t>}</a:t>
            </a:r>
            <a:endParaRPr sz="1200">
              <a:solidFill>
                <a:srgbClr val="CCCCCC"/>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CCCCCC"/>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CCCCCC"/>
              </a:solidFill>
              <a:latin typeface="Consolas"/>
              <a:ea typeface="Consolas"/>
              <a:cs typeface="Consolas"/>
              <a:sym typeface="Consolas"/>
            </a:endParaRPr>
          </a:p>
        </p:txBody>
      </p:sp>
      <p:sp>
        <p:nvSpPr>
          <p:cNvPr id="134" name="Google Shape;134;g3886c7a67cc_0_21"/>
          <p:cNvSpPr/>
          <p:nvPr/>
        </p:nvSpPr>
        <p:spPr>
          <a:xfrm>
            <a:off x="4325875" y="974550"/>
            <a:ext cx="4611000" cy="3798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ID" sz="1100">
                <a:solidFill>
                  <a:schemeClr val="dk1"/>
                </a:solidFill>
                <a:latin typeface="Consolas"/>
                <a:ea typeface="Consolas"/>
                <a:cs typeface="Consolas"/>
                <a:sym typeface="Consolas"/>
              </a:rPr>
              <a:t>class </a:t>
            </a:r>
            <a:r>
              <a:rPr b="1" lang="en-ID" sz="1100">
                <a:solidFill>
                  <a:schemeClr val="dk1"/>
                </a:solidFill>
                <a:latin typeface="Consolas"/>
                <a:ea typeface="Consolas"/>
                <a:cs typeface="Consolas"/>
                <a:sym typeface="Consolas"/>
              </a:rPr>
              <a:t>MyApp</a:t>
            </a:r>
            <a:r>
              <a:rPr lang="en-ID" sz="1100">
                <a:solidFill>
                  <a:schemeClr val="dk1"/>
                </a:solidFill>
                <a:latin typeface="Consolas"/>
                <a:ea typeface="Consolas"/>
                <a:cs typeface="Consolas"/>
                <a:sym typeface="Consolas"/>
              </a:rPr>
              <a:t> extends </a:t>
            </a:r>
            <a:r>
              <a:rPr b="1" lang="en-ID" sz="1100">
                <a:solidFill>
                  <a:schemeClr val="dk1"/>
                </a:solidFill>
                <a:latin typeface="Consolas"/>
                <a:ea typeface="Consolas"/>
                <a:cs typeface="Consolas"/>
                <a:sym typeface="Consolas"/>
              </a:rPr>
              <a:t>StatefulWidget</a:t>
            </a:r>
            <a:r>
              <a:rPr lang="en-ID" sz="1100">
                <a:solidFill>
                  <a:schemeClr val="dk1"/>
                </a:solidFill>
                <a:latin typeface="Consolas"/>
                <a:ea typeface="Consolas"/>
                <a:cs typeface="Consolas"/>
                <a:sym typeface="Consolas"/>
              </a:rPr>
              <a:t> {</a:t>
            </a:r>
            <a:endParaRPr sz="1100">
              <a:solidFill>
                <a:schemeClr val="dk1"/>
              </a:solidFill>
              <a:latin typeface="Consolas"/>
              <a:ea typeface="Consolas"/>
              <a:cs typeface="Consolas"/>
              <a:sym typeface="Consolas"/>
            </a:endParaRPr>
          </a:p>
          <a:p>
            <a:pPr indent="0" lvl="0" marL="0" rtl="0" algn="l">
              <a:spcBef>
                <a:spcPts val="0"/>
              </a:spcBef>
              <a:spcAft>
                <a:spcPts val="0"/>
              </a:spcAft>
              <a:buSzPts val="1100"/>
              <a:buNone/>
            </a:pPr>
            <a:r>
              <a:rPr lang="en-ID" sz="1100">
                <a:solidFill>
                  <a:schemeClr val="dk1"/>
                </a:solidFill>
                <a:latin typeface="Consolas"/>
                <a:ea typeface="Consolas"/>
                <a:cs typeface="Consolas"/>
                <a:sym typeface="Consolas"/>
              </a:rPr>
              <a:t>  @override</a:t>
            </a:r>
            <a:endParaRPr sz="1100">
              <a:solidFill>
                <a:schemeClr val="dk1"/>
              </a:solidFill>
              <a:latin typeface="Consolas"/>
              <a:ea typeface="Consolas"/>
              <a:cs typeface="Consolas"/>
              <a:sym typeface="Consolas"/>
            </a:endParaRPr>
          </a:p>
          <a:p>
            <a:pPr indent="0" lvl="0" marL="0" rtl="0" algn="l">
              <a:spcBef>
                <a:spcPts val="0"/>
              </a:spcBef>
              <a:spcAft>
                <a:spcPts val="0"/>
              </a:spcAft>
              <a:buSzPts val="1100"/>
              <a:buNone/>
            </a:pPr>
            <a:r>
              <a:rPr lang="en-ID" sz="1100">
                <a:solidFill>
                  <a:schemeClr val="dk1"/>
                </a:solidFill>
                <a:latin typeface="Consolas"/>
                <a:ea typeface="Consolas"/>
                <a:cs typeface="Consolas"/>
                <a:sym typeface="Consolas"/>
              </a:rPr>
              <a:t>  State&lt;StatefulWidget&gt; createState() {</a:t>
            </a:r>
            <a:endParaRPr sz="1100">
              <a:solidFill>
                <a:schemeClr val="dk1"/>
              </a:solidFill>
              <a:latin typeface="Consolas"/>
              <a:ea typeface="Consolas"/>
              <a:cs typeface="Consolas"/>
              <a:sym typeface="Consolas"/>
            </a:endParaRPr>
          </a:p>
          <a:p>
            <a:pPr indent="0" lvl="0" marL="0" rtl="0" algn="l">
              <a:spcBef>
                <a:spcPts val="0"/>
              </a:spcBef>
              <a:spcAft>
                <a:spcPts val="0"/>
              </a:spcAft>
              <a:buSzPts val="1100"/>
              <a:buNone/>
            </a:pPr>
            <a:r>
              <a:rPr lang="en-ID" sz="1100">
                <a:solidFill>
                  <a:schemeClr val="dk1"/>
                </a:solidFill>
                <a:latin typeface="Consolas"/>
                <a:ea typeface="Consolas"/>
                <a:cs typeface="Consolas"/>
                <a:sym typeface="Consolas"/>
              </a:rPr>
              <a:t>    return _MyAppState();</a:t>
            </a:r>
            <a:endParaRPr sz="1100">
              <a:solidFill>
                <a:schemeClr val="dk1"/>
              </a:solidFill>
              <a:latin typeface="Consolas"/>
              <a:ea typeface="Consolas"/>
              <a:cs typeface="Consolas"/>
              <a:sym typeface="Consolas"/>
            </a:endParaRPr>
          </a:p>
          <a:p>
            <a:pPr indent="0" lvl="0" marL="0" rtl="0" algn="l">
              <a:spcBef>
                <a:spcPts val="0"/>
              </a:spcBef>
              <a:spcAft>
                <a:spcPts val="0"/>
              </a:spcAft>
              <a:buSzPts val="1100"/>
              <a:buNone/>
            </a:pPr>
            <a:r>
              <a:rPr lang="en-ID" sz="1100">
                <a:solidFill>
                  <a:schemeClr val="dk1"/>
                </a:solidFill>
                <a:latin typeface="Consolas"/>
                <a:ea typeface="Consolas"/>
                <a:cs typeface="Consolas"/>
                <a:sym typeface="Consolas"/>
              </a:rPr>
              <a:t>  }</a:t>
            </a:r>
            <a:endParaRPr sz="1100">
              <a:solidFill>
                <a:schemeClr val="dk1"/>
              </a:solidFill>
              <a:latin typeface="Consolas"/>
              <a:ea typeface="Consolas"/>
              <a:cs typeface="Consolas"/>
              <a:sym typeface="Consolas"/>
            </a:endParaRPr>
          </a:p>
          <a:p>
            <a:pPr indent="0" lvl="0" marL="0" rtl="0" algn="l">
              <a:spcBef>
                <a:spcPts val="0"/>
              </a:spcBef>
              <a:spcAft>
                <a:spcPts val="0"/>
              </a:spcAft>
              <a:buSzPts val="1100"/>
              <a:buNone/>
            </a:pPr>
            <a:r>
              <a:rPr lang="en-ID" sz="1100">
                <a:solidFill>
                  <a:schemeClr val="dk1"/>
                </a:solidFill>
                <a:latin typeface="Consolas"/>
                <a:ea typeface="Consolas"/>
                <a:cs typeface="Consolas"/>
                <a:sym typeface="Consolas"/>
              </a:rPr>
              <a:t>}</a:t>
            </a:r>
            <a:endParaRPr sz="1100">
              <a:solidFill>
                <a:schemeClr val="dk1"/>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chemeClr val="dk1"/>
              </a:solidFill>
              <a:latin typeface="Consolas"/>
              <a:ea typeface="Consolas"/>
              <a:cs typeface="Consolas"/>
              <a:sym typeface="Consolas"/>
            </a:endParaRPr>
          </a:p>
          <a:p>
            <a:pPr indent="0" lvl="0" marL="0" rtl="0" algn="l">
              <a:spcBef>
                <a:spcPts val="0"/>
              </a:spcBef>
              <a:spcAft>
                <a:spcPts val="0"/>
              </a:spcAft>
              <a:buSzPts val="1100"/>
              <a:buNone/>
            </a:pPr>
            <a:r>
              <a:rPr lang="en-ID" sz="1100">
                <a:solidFill>
                  <a:schemeClr val="dk1"/>
                </a:solidFill>
                <a:latin typeface="Consolas"/>
                <a:ea typeface="Consolas"/>
                <a:cs typeface="Consolas"/>
                <a:sym typeface="Consolas"/>
              </a:rPr>
              <a:t>class </a:t>
            </a:r>
            <a:r>
              <a:rPr b="1" lang="en-ID" sz="1100">
                <a:solidFill>
                  <a:schemeClr val="dk1"/>
                </a:solidFill>
                <a:latin typeface="Consolas"/>
                <a:ea typeface="Consolas"/>
                <a:cs typeface="Consolas"/>
                <a:sym typeface="Consolas"/>
              </a:rPr>
              <a:t>_MyAppState</a:t>
            </a:r>
            <a:r>
              <a:rPr lang="en-ID" sz="1100">
                <a:solidFill>
                  <a:schemeClr val="dk1"/>
                </a:solidFill>
                <a:latin typeface="Consolas"/>
                <a:ea typeface="Consolas"/>
                <a:cs typeface="Consolas"/>
                <a:sym typeface="Consolas"/>
              </a:rPr>
              <a:t> extends </a:t>
            </a:r>
            <a:r>
              <a:rPr b="1" lang="en-ID" sz="1100">
                <a:solidFill>
                  <a:schemeClr val="dk1"/>
                </a:solidFill>
                <a:latin typeface="Consolas"/>
                <a:ea typeface="Consolas"/>
                <a:cs typeface="Consolas"/>
                <a:sym typeface="Consolas"/>
              </a:rPr>
              <a:t>State</a:t>
            </a:r>
            <a:r>
              <a:rPr lang="en-ID" sz="1100">
                <a:solidFill>
                  <a:schemeClr val="dk1"/>
                </a:solidFill>
                <a:latin typeface="Consolas"/>
                <a:ea typeface="Consolas"/>
                <a:cs typeface="Consolas"/>
                <a:sym typeface="Consolas"/>
              </a:rPr>
              <a:t>&lt;MyApp&gt; {</a:t>
            </a:r>
            <a:endParaRPr sz="1100">
              <a:solidFill>
                <a:schemeClr val="dk1"/>
              </a:solidFill>
              <a:latin typeface="Consolas"/>
              <a:ea typeface="Consolas"/>
              <a:cs typeface="Consolas"/>
              <a:sym typeface="Consolas"/>
            </a:endParaRPr>
          </a:p>
          <a:p>
            <a:pPr indent="0" lvl="0" marL="0" rtl="0" algn="l">
              <a:spcBef>
                <a:spcPts val="0"/>
              </a:spcBef>
              <a:spcAft>
                <a:spcPts val="0"/>
              </a:spcAft>
              <a:buSzPts val="1100"/>
              <a:buNone/>
            </a:pPr>
            <a:r>
              <a:rPr lang="en-ID" sz="1100">
                <a:solidFill>
                  <a:schemeClr val="dk1"/>
                </a:solidFill>
                <a:latin typeface="Consolas"/>
                <a:ea typeface="Consolas"/>
                <a:cs typeface="Consolas"/>
                <a:sym typeface="Consolas"/>
              </a:rPr>
              <a:t>  @override</a:t>
            </a:r>
            <a:endParaRPr sz="1100">
              <a:solidFill>
                <a:schemeClr val="dk1"/>
              </a:solidFill>
              <a:latin typeface="Consolas"/>
              <a:ea typeface="Consolas"/>
              <a:cs typeface="Consolas"/>
              <a:sym typeface="Consolas"/>
            </a:endParaRPr>
          </a:p>
          <a:p>
            <a:pPr indent="0" lvl="0" marL="0" rtl="0" algn="l">
              <a:spcBef>
                <a:spcPts val="0"/>
              </a:spcBef>
              <a:spcAft>
                <a:spcPts val="0"/>
              </a:spcAft>
              <a:buSzPts val="1100"/>
              <a:buNone/>
            </a:pPr>
            <a:r>
              <a:rPr lang="en-ID" sz="1100">
                <a:solidFill>
                  <a:schemeClr val="dk1"/>
                </a:solidFill>
                <a:latin typeface="Consolas"/>
                <a:ea typeface="Consolas"/>
                <a:cs typeface="Consolas"/>
                <a:sym typeface="Consolas"/>
              </a:rPr>
              <a:t>  Widget </a:t>
            </a:r>
            <a:r>
              <a:rPr b="1" lang="en-ID" sz="1100">
                <a:solidFill>
                  <a:schemeClr val="dk1"/>
                </a:solidFill>
                <a:latin typeface="Consolas"/>
                <a:ea typeface="Consolas"/>
                <a:cs typeface="Consolas"/>
                <a:sym typeface="Consolas"/>
              </a:rPr>
              <a:t>build</a:t>
            </a:r>
            <a:r>
              <a:rPr lang="en-ID" sz="1100">
                <a:solidFill>
                  <a:schemeClr val="dk1"/>
                </a:solidFill>
                <a:latin typeface="Consolas"/>
                <a:ea typeface="Consolas"/>
                <a:cs typeface="Consolas"/>
                <a:sym typeface="Consolas"/>
              </a:rPr>
              <a:t>(BuildContext context) {</a:t>
            </a:r>
            <a:endParaRPr sz="1100">
              <a:solidFill>
                <a:schemeClr val="dk1"/>
              </a:solidFill>
              <a:latin typeface="Consolas"/>
              <a:ea typeface="Consolas"/>
              <a:cs typeface="Consolas"/>
              <a:sym typeface="Consolas"/>
            </a:endParaRPr>
          </a:p>
          <a:p>
            <a:pPr indent="0" lvl="0" marL="0" rtl="0" algn="l">
              <a:spcBef>
                <a:spcPts val="0"/>
              </a:spcBef>
              <a:spcAft>
                <a:spcPts val="0"/>
              </a:spcAft>
              <a:buSzPts val="1100"/>
              <a:buNone/>
            </a:pPr>
            <a:r>
              <a:rPr lang="en-ID" sz="1100">
                <a:solidFill>
                  <a:schemeClr val="dk1"/>
                </a:solidFill>
                <a:latin typeface="Consolas"/>
                <a:ea typeface="Consolas"/>
                <a:cs typeface="Consolas"/>
                <a:sym typeface="Consolas"/>
              </a:rPr>
              <a:t>    return Scaffold(</a:t>
            </a:r>
            <a:endParaRPr sz="1100">
              <a:solidFill>
                <a:schemeClr val="dk1"/>
              </a:solidFill>
              <a:latin typeface="Consolas"/>
              <a:ea typeface="Consolas"/>
              <a:cs typeface="Consolas"/>
              <a:sym typeface="Consolas"/>
            </a:endParaRPr>
          </a:p>
          <a:p>
            <a:pPr indent="0" lvl="0" marL="0" rtl="0" algn="l">
              <a:spcBef>
                <a:spcPts val="0"/>
              </a:spcBef>
              <a:spcAft>
                <a:spcPts val="0"/>
              </a:spcAft>
              <a:buSzPts val="1100"/>
              <a:buNone/>
            </a:pPr>
            <a:r>
              <a:rPr lang="en-ID" sz="1100">
                <a:solidFill>
                  <a:schemeClr val="dk1"/>
                </a:solidFill>
                <a:latin typeface="Consolas"/>
                <a:ea typeface="Consolas"/>
                <a:cs typeface="Consolas"/>
                <a:sym typeface="Consolas"/>
              </a:rPr>
              <a:t>      appBar: AppBar(</a:t>
            </a:r>
            <a:endParaRPr sz="1100">
              <a:solidFill>
                <a:schemeClr val="dk1"/>
              </a:solidFill>
              <a:latin typeface="Consolas"/>
              <a:ea typeface="Consolas"/>
              <a:cs typeface="Consolas"/>
              <a:sym typeface="Consolas"/>
            </a:endParaRPr>
          </a:p>
          <a:p>
            <a:pPr indent="0" lvl="0" marL="0" rtl="0" algn="l">
              <a:spcBef>
                <a:spcPts val="0"/>
              </a:spcBef>
              <a:spcAft>
                <a:spcPts val="0"/>
              </a:spcAft>
              <a:buSzPts val="1100"/>
              <a:buNone/>
            </a:pPr>
            <a:r>
              <a:rPr lang="en-ID" sz="1100">
                <a:solidFill>
                  <a:schemeClr val="dk1"/>
                </a:solidFill>
                <a:latin typeface="Consolas"/>
                <a:ea typeface="Consolas"/>
                <a:cs typeface="Consolas"/>
                <a:sym typeface="Consolas"/>
              </a:rPr>
              <a:t>        title: Text('ExampleApp'),</a:t>
            </a:r>
            <a:endParaRPr sz="1100">
              <a:solidFill>
                <a:schemeClr val="dk1"/>
              </a:solidFill>
              <a:latin typeface="Consolas"/>
              <a:ea typeface="Consolas"/>
              <a:cs typeface="Consolas"/>
              <a:sym typeface="Consolas"/>
            </a:endParaRPr>
          </a:p>
          <a:p>
            <a:pPr indent="0" lvl="0" marL="0" rtl="0" algn="l">
              <a:spcBef>
                <a:spcPts val="0"/>
              </a:spcBef>
              <a:spcAft>
                <a:spcPts val="0"/>
              </a:spcAft>
              <a:buSzPts val="1100"/>
              <a:buNone/>
            </a:pPr>
            <a:r>
              <a:rPr lang="en-ID" sz="1100">
                <a:solidFill>
                  <a:schemeClr val="dk1"/>
                </a:solidFill>
                <a:latin typeface="Consolas"/>
                <a:ea typeface="Consolas"/>
                <a:cs typeface="Consolas"/>
                <a:sym typeface="Consolas"/>
              </a:rPr>
              <a:t>      ),</a:t>
            </a:r>
            <a:endParaRPr sz="1100">
              <a:solidFill>
                <a:schemeClr val="dk1"/>
              </a:solidFill>
              <a:latin typeface="Consolas"/>
              <a:ea typeface="Consolas"/>
              <a:cs typeface="Consolas"/>
              <a:sym typeface="Consolas"/>
            </a:endParaRPr>
          </a:p>
          <a:p>
            <a:pPr indent="0" lvl="0" marL="0" rtl="0" algn="l">
              <a:spcBef>
                <a:spcPts val="0"/>
              </a:spcBef>
              <a:spcAft>
                <a:spcPts val="0"/>
              </a:spcAft>
              <a:buSzPts val="1100"/>
              <a:buNone/>
            </a:pPr>
            <a:r>
              <a:rPr lang="en-ID" sz="1100">
                <a:solidFill>
                  <a:schemeClr val="dk1"/>
                </a:solidFill>
                <a:latin typeface="Consolas"/>
                <a:ea typeface="Consolas"/>
                <a:cs typeface="Consolas"/>
                <a:sym typeface="Consolas"/>
              </a:rPr>
              <a:t>      body: Center(</a:t>
            </a:r>
            <a:endParaRPr sz="1100">
              <a:solidFill>
                <a:schemeClr val="dk1"/>
              </a:solidFill>
              <a:latin typeface="Consolas"/>
              <a:ea typeface="Consolas"/>
              <a:cs typeface="Consolas"/>
              <a:sym typeface="Consolas"/>
            </a:endParaRPr>
          </a:p>
          <a:p>
            <a:pPr indent="0" lvl="0" marL="0" rtl="0" algn="l">
              <a:spcBef>
                <a:spcPts val="0"/>
              </a:spcBef>
              <a:spcAft>
                <a:spcPts val="0"/>
              </a:spcAft>
              <a:buSzPts val="1100"/>
              <a:buNone/>
            </a:pPr>
            <a:r>
              <a:rPr lang="en-ID" sz="1100">
                <a:solidFill>
                  <a:schemeClr val="dk1"/>
                </a:solidFill>
                <a:latin typeface="Consolas"/>
                <a:ea typeface="Consolas"/>
                <a:cs typeface="Consolas"/>
                <a:sym typeface="Consolas"/>
              </a:rPr>
              <a:t>        child: Text("Example Text"),</a:t>
            </a:r>
            <a:endParaRPr sz="1100">
              <a:solidFill>
                <a:schemeClr val="dk1"/>
              </a:solidFill>
              <a:latin typeface="Consolas"/>
              <a:ea typeface="Consolas"/>
              <a:cs typeface="Consolas"/>
              <a:sym typeface="Consolas"/>
            </a:endParaRPr>
          </a:p>
          <a:p>
            <a:pPr indent="0" lvl="0" marL="0" rtl="0" algn="l">
              <a:spcBef>
                <a:spcPts val="0"/>
              </a:spcBef>
              <a:spcAft>
                <a:spcPts val="0"/>
              </a:spcAft>
              <a:buSzPts val="1100"/>
              <a:buNone/>
            </a:pPr>
            <a:r>
              <a:rPr lang="en-ID" sz="1100">
                <a:solidFill>
                  <a:schemeClr val="dk1"/>
                </a:solidFill>
                <a:latin typeface="Consolas"/>
                <a:ea typeface="Consolas"/>
                <a:cs typeface="Consolas"/>
                <a:sym typeface="Consolas"/>
              </a:rPr>
              <a:t>      ),</a:t>
            </a:r>
            <a:endParaRPr sz="1100">
              <a:solidFill>
                <a:schemeClr val="dk1"/>
              </a:solidFill>
              <a:latin typeface="Consolas"/>
              <a:ea typeface="Consolas"/>
              <a:cs typeface="Consolas"/>
              <a:sym typeface="Consolas"/>
            </a:endParaRPr>
          </a:p>
          <a:p>
            <a:pPr indent="0" lvl="0" marL="0" rtl="0" algn="l">
              <a:spcBef>
                <a:spcPts val="0"/>
              </a:spcBef>
              <a:spcAft>
                <a:spcPts val="0"/>
              </a:spcAft>
              <a:buSzPts val="1100"/>
              <a:buNone/>
            </a:pPr>
            <a:r>
              <a:rPr lang="en-ID" sz="1100">
                <a:solidFill>
                  <a:schemeClr val="dk1"/>
                </a:solidFill>
                <a:latin typeface="Consolas"/>
                <a:ea typeface="Consolas"/>
                <a:cs typeface="Consolas"/>
                <a:sym typeface="Consolas"/>
              </a:rPr>
              <a:t>    );</a:t>
            </a:r>
            <a:endParaRPr sz="1100">
              <a:solidFill>
                <a:schemeClr val="dk1"/>
              </a:solidFill>
              <a:latin typeface="Consolas"/>
              <a:ea typeface="Consolas"/>
              <a:cs typeface="Consolas"/>
              <a:sym typeface="Consolas"/>
            </a:endParaRPr>
          </a:p>
          <a:p>
            <a:pPr indent="0" lvl="0" marL="0" rtl="0" algn="l">
              <a:spcBef>
                <a:spcPts val="0"/>
              </a:spcBef>
              <a:spcAft>
                <a:spcPts val="0"/>
              </a:spcAft>
              <a:buSzPts val="1100"/>
              <a:buNone/>
            </a:pPr>
            <a:r>
              <a:rPr lang="en-ID" sz="1100">
                <a:solidFill>
                  <a:schemeClr val="dk1"/>
                </a:solidFill>
                <a:latin typeface="Consolas"/>
                <a:ea typeface="Consolas"/>
                <a:cs typeface="Consolas"/>
                <a:sym typeface="Consolas"/>
              </a:rPr>
              <a:t>  }</a:t>
            </a:r>
            <a:endParaRPr sz="1100">
              <a:solidFill>
                <a:schemeClr val="dk1"/>
              </a:solidFill>
              <a:latin typeface="Consolas"/>
              <a:ea typeface="Consolas"/>
              <a:cs typeface="Consolas"/>
              <a:sym typeface="Consolas"/>
            </a:endParaRPr>
          </a:p>
          <a:p>
            <a:pPr indent="0" lvl="0" marL="0" rtl="0" algn="l">
              <a:spcBef>
                <a:spcPts val="0"/>
              </a:spcBef>
              <a:spcAft>
                <a:spcPts val="0"/>
              </a:spcAft>
              <a:buSzPts val="1100"/>
              <a:buNone/>
            </a:pPr>
            <a:r>
              <a:rPr lang="en-ID" sz="1100">
                <a:solidFill>
                  <a:schemeClr val="dk1"/>
                </a:solidFill>
                <a:latin typeface="Consolas"/>
                <a:ea typeface="Consolas"/>
                <a:cs typeface="Consolas"/>
                <a:sym typeface="Consolas"/>
              </a:rPr>
              <a:t>}</a:t>
            </a:r>
            <a:endParaRPr sz="1100">
              <a:solidFill>
                <a:schemeClr val="dk1"/>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chemeClr val="dk1"/>
              </a:solidFill>
              <a:latin typeface="Consolas"/>
              <a:ea typeface="Consolas"/>
              <a:cs typeface="Consolas"/>
              <a:sym typeface="Consolas"/>
            </a:endParaRPr>
          </a:p>
          <a:p>
            <a:pPr indent="0" lvl="0" marL="0" marR="0" rtl="0" algn="l">
              <a:spcBef>
                <a:spcPts val="0"/>
              </a:spcBef>
              <a:spcAft>
                <a:spcPts val="0"/>
              </a:spcAft>
              <a:buNone/>
            </a:pPr>
            <a:r>
              <a:t/>
            </a:r>
            <a:endParaRPr sz="1100">
              <a:solidFill>
                <a:schemeClr val="dk1"/>
              </a:solidFill>
              <a:latin typeface="Consolas"/>
              <a:ea typeface="Consolas"/>
              <a:cs typeface="Consolas"/>
              <a:sym typeface="Consolas"/>
            </a:endParaRPr>
          </a:p>
        </p:txBody>
      </p:sp>
      <p:cxnSp>
        <p:nvCxnSpPr>
          <p:cNvPr id="135" name="Google Shape;135;g3886c7a67cc_0_21"/>
          <p:cNvCxnSpPr>
            <a:stCxn id="130" idx="2"/>
          </p:cNvCxnSpPr>
          <p:nvPr/>
        </p:nvCxnSpPr>
        <p:spPr>
          <a:xfrm>
            <a:off x="4114800" y="576900"/>
            <a:ext cx="0" cy="426510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50"/>
              </a:srgbClr>
            </a:outerShdw>
          </a:effectLst>
        </p:spPr>
      </p:cxnSp>
      <p:sp>
        <p:nvSpPr>
          <p:cNvPr id="136" name="Google Shape;136;g3886c7a67cc_0_21"/>
          <p:cNvSpPr txBox="1"/>
          <p:nvPr/>
        </p:nvSpPr>
        <p:spPr>
          <a:xfrm>
            <a:off x="1345292" y="650342"/>
            <a:ext cx="73371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rgbClr val="B7B7B7"/>
                </a:solidFill>
                <a:latin typeface="Arial"/>
                <a:ea typeface="Arial"/>
                <a:cs typeface="Arial"/>
                <a:sym typeface="Arial"/>
              </a:rPr>
              <a:t>Stateless</a:t>
            </a:r>
            <a:r>
              <a:rPr lang="en-ID" sz="1800">
                <a:solidFill>
                  <a:schemeClr val="dk1"/>
                </a:solidFill>
                <a:latin typeface="Arial"/>
                <a:ea typeface="Arial"/>
                <a:cs typeface="Arial"/>
                <a:sym typeface="Arial"/>
              </a:rPr>
              <a:t>                                                   Statefull</a:t>
            </a:r>
            <a:endParaRPr sz="1800">
              <a:solidFill>
                <a:schemeClr val="dk1"/>
              </a:solidFill>
              <a:latin typeface="Arial"/>
              <a:ea typeface="Arial"/>
              <a:cs typeface="Arial"/>
              <a:sym typeface="Arial"/>
            </a:endParaRPr>
          </a:p>
        </p:txBody>
      </p:sp>
      <p:sp>
        <p:nvSpPr>
          <p:cNvPr id="137" name="Google Shape;137;g3886c7a67cc_0_21"/>
          <p:cNvSpPr txBox="1"/>
          <p:nvPr/>
        </p:nvSpPr>
        <p:spPr>
          <a:xfrm>
            <a:off x="247200" y="995075"/>
            <a:ext cx="3460800" cy="831300"/>
          </a:xfrm>
          <a:prstGeom prst="rect">
            <a:avLst/>
          </a:prstGeom>
          <a:solidFill>
            <a:schemeClr val="accen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D">
                <a:solidFill>
                  <a:schemeClr val="lt1"/>
                </a:solidFill>
              </a:rPr>
              <a:t>Unlike a StatelessWidget, a StatefulWidget has a State object that manages changes</a:t>
            </a:r>
            <a:endParaRPr sz="1700">
              <a:solidFill>
                <a:schemeClr val="lt1"/>
              </a:solidFill>
            </a:endParaRPr>
          </a:p>
        </p:txBody>
      </p:sp>
      <p:cxnSp>
        <p:nvCxnSpPr>
          <p:cNvPr id="138" name="Google Shape;138;g3886c7a67cc_0_21"/>
          <p:cNvCxnSpPr>
            <a:stCxn id="137" idx="3"/>
          </p:cNvCxnSpPr>
          <p:nvPr/>
        </p:nvCxnSpPr>
        <p:spPr>
          <a:xfrm>
            <a:off x="3708000" y="1410725"/>
            <a:ext cx="760500" cy="43800"/>
          </a:xfrm>
          <a:prstGeom prst="straightConnector1">
            <a:avLst/>
          </a:prstGeom>
          <a:noFill/>
          <a:ln cap="flat" cmpd="sng" w="38100">
            <a:solidFill>
              <a:schemeClr val="dk2"/>
            </a:solidFill>
            <a:prstDash val="solid"/>
            <a:round/>
            <a:headEnd len="med" w="med" type="none"/>
            <a:tailEnd len="med" w="med" type="triangle"/>
          </a:ln>
        </p:spPr>
      </p:cxnSp>
      <p:sp>
        <p:nvSpPr>
          <p:cNvPr id="139" name="Google Shape;139;g3886c7a67cc_0_21"/>
          <p:cNvSpPr txBox="1"/>
          <p:nvPr/>
        </p:nvSpPr>
        <p:spPr>
          <a:xfrm>
            <a:off x="247200" y="2861725"/>
            <a:ext cx="3460800" cy="1262100"/>
          </a:xfrm>
          <a:prstGeom prst="rect">
            <a:avLst/>
          </a:prstGeom>
          <a:solidFill>
            <a:schemeClr val="accen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D">
                <a:solidFill>
                  <a:schemeClr val="lt1"/>
                </a:solidFill>
              </a:rPr>
              <a:t>This is the </a:t>
            </a:r>
            <a:r>
              <a:rPr b="1" lang="en-ID">
                <a:solidFill>
                  <a:schemeClr val="lt1"/>
                </a:solidFill>
              </a:rPr>
              <a:t>state</a:t>
            </a:r>
            <a:r>
              <a:rPr lang="en-ID">
                <a:solidFill>
                  <a:schemeClr val="lt1"/>
                </a:solidFill>
              </a:rPr>
              <a:t> class for MyApp. All the </a:t>
            </a:r>
            <a:r>
              <a:rPr b="1" lang="en-ID">
                <a:solidFill>
                  <a:schemeClr val="lt1"/>
                </a:solidFill>
              </a:rPr>
              <a:t>mutable state</a:t>
            </a:r>
            <a:r>
              <a:rPr lang="en-ID">
                <a:solidFill>
                  <a:schemeClr val="lt1"/>
                </a:solidFill>
              </a:rPr>
              <a:t> (like variables that change) would </a:t>
            </a:r>
            <a:r>
              <a:rPr b="1" lang="en-ID">
                <a:solidFill>
                  <a:schemeClr val="lt1"/>
                </a:solidFill>
              </a:rPr>
              <a:t>live here</a:t>
            </a:r>
            <a:r>
              <a:rPr lang="en-ID">
                <a:solidFill>
                  <a:schemeClr val="lt1"/>
                </a:solidFill>
              </a:rPr>
              <a:t>. When state changes, calling </a:t>
            </a:r>
            <a:r>
              <a:rPr b="1" lang="en-ID">
                <a:solidFill>
                  <a:schemeClr val="lt1"/>
                </a:solidFill>
                <a:latin typeface="Consolas"/>
                <a:ea typeface="Consolas"/>
                <a:cs typeface="Consolas"/>
                <a:sym typeface="Consolas"/>
              </a:rPr>
              <a:t>setState()</a:t>
            </a:r>
            <a:r>
              <a:rPr lang="en-ID">
                <a:solidFill>
                  <a:schemeClr val="lt1"/>
                </a:solidFill>
              </a:rPr>
              <a:t> </a:t>
            </a:r>
            <a:r>
              <a:rPr b="1" lang="en-ID">
                <a:solidFill>
                  <a:schemeClr val="lt1"/>
                </a:solidFill>
              </a:rPr>
              <a:t>will rebuild the UI</a:t>
            </a:r>
            <a:endParaRPr b="1">
              <a:solidFill>
                <a:schemeClr val="lt1"/>
              </a:solidFill>
            </a:endParaRPr>
          </a:p>
        </p:txBody>
      </p:sp>
      <p:cxnSp>
        <p:nvCxnSpPr>
          <p:cNvPr id="140" name="Google Shape;140;g3886c7a67cc_0_21"/>
          <p:cNvCxnSpPr>
            <a:stCxn id="139" idx="3"/>
            <a:endCxn id="134" idx="1"/>
          </p:cNvCxnSpPr>
          <p:nvPr/>
        </p:nvCxnSpPr>
        <p:spPr>
          <a:xfrm flipH="1" rot="10800000">
            <a:off x="3708000" y="2873575"/>
            <a:ext cx="618000" cy="619200"/>
          </a:xfrm>
          <a:prstGeom prst="straightConnector1">
            <a:avLst/>
          </a:prstGeom>
          <a:noFill/>
          <a:ln cap="flat" cmpd="sng" w="38100">
            <a:solidFill>
              <a:schemeClr val="dk2"/>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4" name="Shape 144"/>
        <p:cNvGrpSpPr/>
        <p:nvPr/>
      </p:nvGrpSpPr>
      <p:grpSpPr>
        <a:xfrm>
          <a:off x="0" y="0"/>
          <a:ext cx="0" cy="0"/>
          <a:chOff x="0" y="0"/>
          <a:chExt cx="0" cy="0"/>
        </a:xfrm>
      </p:grpSpPr>
      <p:sp>
        <p:nvSpPr>
          <p:cNvPr id="145" name="Google Shape;145;p5"/>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4800"/>
              <a:buFont typeface="Arial"/>
              <a:buNone/>
            </a:pPr>
            <a:r>
              <a:rPr b="1" lang="en-ID" sz="4800">
                <a:solidFill>
                  <a:srgbClr val="DAE5F1"/>
                </a:solidFill>
              </a:rPr>
              <a:t>THE SCAFFOLD</a:t>
            </a:r>
            <a:endParaRPr/>
          </a:p>
        </p:txBody>
      </p:sp>
      <p:sp>
        <p:nvSpPr>
          <p:cNvPr id="146" name="Google Shape;146;p5"/>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What is Scaffold</a:t>
            </a:r>
            <a:endParaRPr/>
          </a:p>
        </p:txBody>
      </p:sp>
      <p:cxnSp>
        <p:nvCxnSpPr>
          <p:cNvPr id="152" name="Google Shape;152;p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53" name="Google Shape;153;p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4" name="Google Shape;154;p6"/>
          <p:cNvSpPr/>
          <p:nvPr/>
        </p:nvSpPr>
        <p:spPr>
          <a:xfrm>
            <a:off x="307975" y="853206"/>
            <a:ext cx="4815840"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rgbClr val="292929"/>
                </a:solidFill>
                <a:latin typeface="Calibri"/>
                <a:ea typeface="Calibri"/>
                <a:cs typeface="Calibri"/>
                <a:sym typeface="Calibri"/>
              </a:rPr>
              <a:t>A Scaffold Widget provides a framework which implements the </a:t>
            </a:r>
            <a:r>
              <a:rPr b="1" lang="en-ID" sz="1800">
                <a:solidFill>
                  <a:srgbClr val="292929"/>
                </a:solidFill>
                <a:latin typeface="Calibri"/>
                <a:ea typeface="Calibri"/>
                <a:cs typeface="Calibri"/>
                <a:sym typeface="Calibri"/>
              </a:rPr>
              <a:t>basic material design visual layout structure</a:t>
            </a:r>
            <a:r>
              <a:rPr lang="en-ID" sz="1800">
                <a:solidFill>
                  <a:srgbClr val="292929"/>
                </a:solidFill>
                <a:latin typeface="Calibri"/>
                <a:ea typeface="Calibri"/>
                <a:cs typeface="Calibri"/>
                <a:sym typeface="Calibri"/>
              </a:rPr>
              <a:t> of the flutter app. It provides APIs for showing drawers, snack bars and bottom sheets. Have a look at its constructor and the properties it has.</a:t>
            </a:r>
            <a:endParaRPr sz="1800">
              <a:solidFill>
                <a:srgbClr val="292929"/>
              </a:solidFill>
              <a:latin typeface="Calibri"/>
              <a:ea typeface="Calibri"/>
              <a:cs typeface="Calibri"/>
              <a:sym typeface="Calibri"/>
            </a:endParaRPr>
          </a:p>
          <a:p>
            <a:pPr indent="0" lvl="0" marL="0" marR="0" rtl="0" algn="l">
              <a:spcBef>
                <a:spcPts val="0"/>
              </a:spcBef>
              <a:spcAft>
                <a:spcPts val="0"/>
              </a:spcAft>
              <a:buNone/>
            </a:pPr>
            <a:r>
              <a:t/>
            </a:r>
            <a:endParaRPr sz="1800">
              <a:solidFill>
                <a:srgbClr val="292929"/>
              </a:solidFill>
              <a:latin typeface="Calibri"/>
              <a:ea typeface="Calibri"/>
              <a:cs typeface="Calibri"/>
              <a:sym typeface="Calibri"/>
            </a:endParaRPr>
          </a:p>
          <a:p>
            <a:pPr indent="0" lvl="0" marL="0" marR="0" rtl="0" algn="l">
              <a:spcBef>
                <a:spcPts val="0"/>
              </a:spcBef>
              <a:spcAft>
                <a:spcPts val="0"/>
              </a:spcAft>
              <a:buNone/>
            </a:pPr>
            <a:r>
              <a:rPr lang="en-ID" sz="1800">
                <a:solidFill>
                  <a:srgbClr val="292929"/>
                </a:solidFill>
                <a:latin typeface="Calibri"/>
                <a:ea typeface="Calibri"/>
                <a:cs typeface="Calibri"/>
                <a:sym typeface="Calibri"/>
              </a:rPr>
              <a:t>Think of it like an empty page template that already has </a:t>
            </a:r>
            <a:r>
              <a:rPr b="1" lang="en-ID" sz="1800">
                <a:solidFill>
                  <a:srgbClr val="292929"/>
                </a:solidFill>
                <a:latin typeface="Calibri"/>
                <a:ea typeface="Calibri"/>
                <a:cs typeface="Calibri"/>
                <a:sym typeface="Calibri"/>
              </a:rPr>
              <a:t>slots for common UI elements</a:t>
            </a:r>
            <a:r>
              <a:rPr lang="en-ID" sz="1800">
                <a:solidFill>
                  <a:srgbClr val="292929"/>
                </a:solidFill>
                <a:latin typeface="Calibri"/>
                <a:ea typeface="Calibri"/>
                <a:cs typeface="Calibri"/>
                <a:sym typeface="Calibri"/>
              </a:rPr>
              <a:t> (app bar, body, drawer, floating action button, etc.).</a:t>
            </a:r>
            <a:endParaRPr sz="1800">
              <a:solidFill>
                <a:srgbClr val="292929"/>
              </a:solidFill>
              <a:latin typeface="Calibri"/>
              <a:ea typeface="Calibri"/>
              <a:cs typeface="Calibri"/>
              <a:sym typeface="Calibri"/>
            </a:endParaRPr>
          </a:p>
          <a:p>
            <a:pPr indent="0" lvl="0" marL="0" marR="0" rtl="0" algn="l">
              <a:spcBef>
                <a:spcPts val="0"/>
              </a:spcBef>
              <a:spcAft>
                <a:spcPts val="0"/>
              </a:spcAft>
              <a:buNone/>
            </a:pPr>
            <a:r>
              <a:t/>
            </a:r>
            <a:endParaRPr sz="1800">
              <a:solidFill>
                <a:srgbClr val="292929"/>
              </a:solidFill>
              <a:latin typeface="Calibri"/>
              <a:ea typeface="Calibri"/>
              <a:cs typeface="Calibri"/>
              <a:sym typeface="Calibri"/>
            </a:endParaRPr>
          </a:p>
          <a:p>
            <a:pPr indent="0" lvl="0" marL="0" marR="0" rtl="0" algn="l">
              <a:spcBef>
                <a:spcPts val="0"/>
              </a:spcBef>
              <a:spcAft>
                <a:spcPts val="0"/>
              </a:spcAft>
              <a:buNone/>
            </a:pPr>
            <a:r>
              <a:rPr lang="en-ID" sz="1800">
                <a:solidFill>
                  <a:srgbClr val="292929"/>
                </a:solidFill>
                <a:latin typeface="Calibri"/>
                <a:ea typeface="Calibri"/>
                <a:cs typeface="Calibri"/>
                <a:sym typeface="Calibri"/>
              </a:rPr>
              <a:t>appBar , body, and FAB is already shown in the default project</a:t>
            </a:r>
            <a:endParaRPr/>
          </a:p>
          <a:p>
            <a:pPr indent="0" lvl="0" marL="0" marR="0" rtl="0" algn="l">
              <a:spcBef>
                <a:spcPts val="0"/>
              </a:spcBef>
              <a:spcAft>
                <a:spcPts val="0"/>
              </a:spcAft>
              <a:buNone/>
            </a:pPr>
            <a:br>
              <a:rPr lang="en-ID" sz="1800">
                <a:solidFill>
                  <a:schemeClr val="dk1"/>
                </a:solidFill>
                <a:latin typeface="Arial"/>
                <a:ea typeface="Arial"/>
                <a:cs typeface="Arial"/>
                <a:sym typeface="Arial"/>
              </a:rPr>
            </a:br>
            <a:endParaRPr sz="1800">
              <a:solidFill>
                <a:srgbClr val="292929"/>
              </a:solidFill>
              <a:latin typeface="Arial"/>
              <a:ea typeface="Arial"/>
              <a:cs typeface="Arial"/>
              <a:sym typeface="Arial"/>
            </a:endParaRPr>
          </a:p>
          <a:p>
            <a:pPr indent="0" lvl="0" marL="0" marR="0" rtl="0" algn="l">
              <a:spcBef>
                <a:spcPts val="0"/>
              </a:spcBef>
              <a:spcAft>
                <a:spcPts val="0"/>
              </a:spcAft>
              <a:buNone/>
            </a:pPr>
            <a:br>
              <a:rPr lang="en-ID"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
        <p:nvSpPr>
          <p:cNvPr id="155" name="Google Shape;155;p6"/>
          <p:cNvSpPr/>
          <p:nvPr/>
        </p:nvSpPr>
        <p:spPr>
          <a:xfrm>
            <a:off x="5076950" y="853200"/>
            <a:ext cx="3745800" cy="383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D" sz="1200">
                <a:solidFill>
                  <a:schemeClr val="dk1"/>
                </a:solidFill>
                <a:latin typeface="Consolas"/>
                <a:ea typeface="Consolas"/>
                <a:cs typeface="Consolas"/>
                <a:sym typeface="Consolas"/>
              </a:rPr>
              <a:t>const </a:t>
            </a:r>
            <a:r>
              <a:rPr lang="en-ID" sz="1200">
                <a:solidFill>
                  <a:schemeClr val="dk1"/>
                </a:solidFill>
                <a:latin typeface="Consolas"/>
                <a:ea typeface="Consolas"/>
                <a:cs typeface="Consolas"/>
                <a:sym typeface="Consolas"/>
              </a:rPr>
              <a:t>Scaffold({</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Key key,</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a:t>
            </a:r>
            <a:r>
              <a:rPr b="1" lang="en-ID" sz="1200">
                <a:solidFill>
                  <a:schemeClr val="dk1"/>
                </a:solidFill>
                <a:latin typeface="Consolas"/>
                <a:ea typeface="Consolas"/>
                <a:cs typeface="Consolas"/>
                <a:sym typeface="Consolas"/>
              </a:rPr>
              <a:t>this</a:t>
            </a:r>
            <a:r>
              <a:rPr lang="en-ID" sz="1200">
                <a:solidFill>
                  <a:schemeClr val="dk1"/>
                </a:solidFill>
                <a:latin typeface="Consolas"/>
                <a:ea typeface="Consolas"/>
                <a:cs typeface="Consolas"/>
                <a:sym typeface="Consolas"/>
              </a:rPr>
              <a:t>.appBar,</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a:t>
            </a:r>
            <a:r>
              <a:rPr b="1" lang="en-ID" sz="1200">
                <a:solidFill>
                  <a:schemeClr val="dk1"/>
                </a:solidFill>
                <a:latin typeface="Consolas"/>
                <a:ea typeface="Consolas"/>
                <a:cs typeface="Consolas"/>
                <a:sym typeface="Consolas"/>
              </a:rPr>
              <a:t>this</a:t>
            </a:r>
            <a:r>
              <a:rPr lang="en-ID" sz="1200">
                <a:solidFill>
                  <a:schemeClr val="dk1"/>
                </a:solidFill>
                <a:latin typeface="Consolas"/>
                <a:ea typeface="Consolas"/>
                <a:cs typeface="Consolas"/>
                <a:sym typeface="Consolas"/>
              </a:rPr>
              <a:t>.body,</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a:t>
            </a:r>
            <a:r>
              <a:rPr b="1" lang="en-ID" sz="1200">
                <a:solidFill>
                  <a:schemeClr val="dk1"/>
                </a:solidFill>
                <a:latin typeface="Consolas"/>
                <a:ea typeface="Consolas"/>
                <a:cs typeface="Consolas"/>
                <a:sym typeface="Consolas"/>
              </a:rPr>
              <a:t>this</a:t>
            </a:r>
            <a:r>
              <a:rPr lang="en-ID" sz="1200">
                <a:solidFill>
                  <a:schemeClr val="dk1"/>
                </a:solidFill>
                <a:latin typeface="Consolas"/>
                <a:ea typeface="Consolas"/>
                <a:cs typeface="Consolas"/>
                <a:sym typeface="Consolas"/>
              </a:rPr>
              <a:t>.floatingActionButton,</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a:t>
            </a:r>
            <a:r>
              <a:rPr b="1" lang="en-ID" sz="1200">
                <a:solidFill>
                  <a:schemeClr val="dk1"/>
                </a:solidFill>
                <a:latin typeface="Consolas"/>
                <a:ea typeface="Consolas"/>
                <a:cs typeface="Consolas"/>
                <a:sym typeface="Consolas"/>
              </a:rPr>
              <a:t>this</a:t>
            </a:r>
            <a:r>
              <a:rPr lang="en-ID" sz="1200">
                <a:solidFill>
                  <a:schemeClr val="dk1"/>
                </a:solidFill>
                <a:latin typeface="Consolas"/>
                <a:ea typeface="Consolas"/>
                <a:cs typeface="Consolas"/>
                <a:sym typeface="Consolas"/>
              </a:rPr>
              <a:t>.floatingActionButtonLocation,</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a:t>
            </a:r>
            <a:r>
              <a:rPr b="1" lang="en-ID" sz="1200">
                <a:solidFill>
                  <a:schemeClr val="dk1"/>
                </a:solidFill>
                <a:latin typeface="Consolas"/>
                <a:ea typeface="Consolas"/>
                <a:cs typeface="Consolas"/>
                <a:sym typeface="Consolas"/>
              </a:rPr>
              <a:t>this</a:t>
            </a:r>
            <a:r>
              <a:rPr lang="en-ID" sz="1200">
                <a:solidFill>
                  <a:schemeClr val="dk1"/>
                </a:solidFill>
                <a:latin typeface="Consolas"/>
                <a:ea typeface="Consolas"/>
                <a:cs typeface="Consolas"/>
                <a:sym typeface="Consolas"/>
              </a:rPr>
              <a:t>.floatingActionButtonAnimator,</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a:t>
            </a:r>
            <a:r>
              <a:rPr b="1" lang="en-ID" sz="1200">
                <a:solidFill>
                  <a:schemeClr val="dk1"/>
                </a:solidFill>
                <a:latin typeface="Consolas"/>
                <a:ea typeface="Consolas"/>
                <a:cs typeface="Consolas"/>
                <a:sym typeface="Consolas"/>
              </a:rPr>
              <a:t>this</a:t>
            </a:r>
            <a:r>
              <a:rPr lang="en-ID" sz="1200">
                <a:solidFill>
                  <a:schemeClr val="dk1"/>
                </a:solidFill>
                <a:latin typeface="Consolas"/>
                <a:ea typeface="Consolas"/>
                <a:cs typeface="Consolas"/>
                <a:sym typeface="Consolas"/>
              </a:rPr>
              <a:t>.persistentFooterButtons,</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a:t>
            </a:r>
            <a:r>
              <a:rPr b="1" lang="en-ID" sz="1200">
                <a:solidFill>
                  <a:schemeClr val="dk1"/>
                </a:solidFill>
                <a:latin typeface="Consolas"/>
                <a:ea typeface="Consolas"/>
                <a:cs typeface="Consolas"/>
                <a:sym typeface="Consolas"/>
              </a:rPr>
              <a:t>this</a:t>
            </a:r>
            <a:r>
              <a:rPr lang="en-ID" sz="1200">
                <a:solidFill>
                  <a:schemeClr val="dk1"/>
                </a:solidFill>
                <a:latin typeface="Consolas"/>
                <a:ea typeface="Consolas"/>
                <a:cs typeface="Consolas"/>
                <a:sym typeface="Consolas"/>
              </a:rPr>
              <a:t>.drawer,</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a:t>
            </a:r>
            <a:r>
              <a:rPr b="1" lang="en-ID" sz="1200">
                <a:solidFill>
                  <a:schemeClr val="dk1"/>
                </a:solidFill>
                <a:latin typeface="Consolas"/>
                <a:ea typeface="Consolas"/>
                <a:cs typeface="Consolas"/>
                <a:sym typeface="Consolas"/>
              </a:rPr>
              <a:t>this</a:t>
            </a:r>
            <a:r>
              <a:rPr lang="en-ID" sz="1200">
                <a:solidFill>
                  <a:schemeClr val="dk1"/>
                </a:solidFill>
                <a:latin typeface="Consolas"/>
                <a:ea typeface="Consolas"/>
                <a:cs typeface="Consolas"/>
                <a:sym typeface="Consolas"/>
              </a:rPr>
              <a:t>.endDrawer,</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a:t>
            </a:r>
            <a:r>
              <a:rPr b="1" lang="en-ID" sz="1200">
                <a:solidFill>
                  <a:schemeClr val="dk1"/>
                </a:solidFill>
                <a:latin typeface="Consolas"/>
                <a:ea typeface="Consolas"/>
                <a:cs typeface="Consolas"/>
                <a:sym typeface="Consolas"/>
              </a:rPr>
              <a:t>this</a:t>
            </a:r>
            <a:r>
              <a:rPr lang="en-ID" sz="1200">
                <a:solidFill>
                  <a:schemeClr val="dk1"/>
                </a:solidFill>
                <a:latin typeface="Consolas"/>
                <a:ea typeface="Consolas"/>
                <a:cs typeface="Consolas"/>
                <a:sym typeface="Consolas"/>
              </a:rPr>
              <a:t>.bottomNavigationBar,</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a:t>
            </a:r>
            <a:r>
              <a:rPr b="1" lang="en-ID" sz="1200">
                <a:solidFill>
                  <a:schemeClr val="dk1"/>
                </a:solidFill>
                <a:latin typeface="Consolas"/>
                <a:ea typeface="Consolas"/>
                <a:cs typeface="Consolas"/>
                <a:sym typeface="Consolas"/>
              </a:rPr>
              <a:t>this</a:t>
            </a:r>
            <a:r>
              <a:rPr lang="en-ID" sz="1200">
                <a:solidFill>
                  <a:schemeClr val="dk1"/>
                </a:solidFill>
                <a:latin typeface="Consolas"/>
                <a:ea typeface="Consolas"/>
                <a:cs typeface="Consolas"/>
                <a:sym typeface="Consolas"/>
              </a:rPr>
              <a:t>.bottomSheet,</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a:t>
            </a:r>
            <a:r>
              <a:rPr b="1" lang="en-ID" sz="1200">
                <a:solidFill>
                  <a:schemeClr val="dk1"/>
                </a:solidFill>
                <a:latin typeface="Consolas"/>
                <a:ea typeface="Consolas"/>
                <a:cs typeface="Consolas"/>
                <a:sym typeface="Consolas"/>
              </a:rPr>
              <a:t>this</a:t>
            </a:r>
            <a:r>
              <a:rPr lang="en-ID" sz="1200">
                <a:solidFill>
                  <a:schemeClr val="dk1"/>
                </a:solidFill>
                <a:latin typeface="Consolas"/>
                <a:ea typeface="Consolas"/>
                <a:cs typeface="Consolas"/>
                <a:sym typeface="Consolas"/>
              </a:rPr>
              <a:t>.backgroundColor,</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a:t>
            </a:r>
            <a:r>
              <a:rPr b="1" lang="en-ID" sz="1200">
                <a:solidFill>
                  <a:schemeClr val="dk1"/>
                </a:solidFill>
                <a:latin typeface="Consolas"/>
                <a:ea typeface="Consolas"/>
                <a:cs typeface="Consolas"/>
                <a:sym typeface="Consolas"/>
              </a:rPr>
              <a:t>this</a:t>
            </a:r>
            <a:r>
              <a:rPr lang="en-ID" sz="1200">
                <a:solidFill>
                  <a:schemeClr val="dk1"/>
                </a:solidFill>
                <a:latin typeface="Consolas"/>
                <a:ea typeface="Consolas"/>
                <a:cs typeface="Consolas"/>
                <a:sym typeface="Consolas"/>
              </a:rPr>
              <a:t>.resizeToAvoidBottomPadding = </a:t>
            </a:r>
            <a:r>
              <a:rPr b="1" lang="en-ID" sz="1200">
                <a:solidFill>
                  <a:schemeClr val="dk1"/>
                </a:solidFill>
                <a:latin typeface="Consolas"/>
                <a:ea typeface="Consolas"/>
                <a:cs typeface="Consolas"/>
                <a:sym typeface="Consolas"/>
              </a:rPr>
              <a:t>true</a:t>
            </a:r>
            <a:r>
              <a:rPr lang="en-ID" sz="1200">
                <a:solidFill>
                  <a:schemeClr val="dk1"/>
                </a:solidFill>
                <a:latin typeface="Consolas"/>
                <a:ea typeface="Consolas"/>
                <a:cs typeface="Consolas"/>
                <a:sym typeface="Consolas"/>
              </a:rPr>
              <a:t>,</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  </a:t>
            </a:r>
            <a:r>
              <a:rPr b="1" lang="en-ID" sz="1200">
                <a:solidFill>
                  <a:schemeClr val="dk1"/>
                </a:solidFill>
                <a:latin typeface="Consolas"/>
                <a:ea typeface="Consolas"/>
                <a:cs typeface="Consolas"/>
                <a:sym typeface="Consolas"/>
              </a:rPr>
              <a:t>this</a:t>
            </a:r>
            <a:r>
              <a:rPr lang="en-ID" sz="1200">
                <a:solidFill>
                  <a:schemeClr val="dk1"/>
                </a:solidFill>
                <a:latin typeface="Consolas"/>
                <a:ea typeface="Consolas"/>
                <a:cs typeface="Consolas"/>
                <a:sym typeface="Consolas"/>
              </a:rPr>
              <a:t>.primary = </a:t>
            </a:r>
            <a:r>
              <a:rPr b="1" lang="en-ID" sz="1200">
                <a:solidFill>
                  <a:schemeClr val="dk1"/>
                </a:solidFill>
                <a:latin typeface="Consolas"/>
                <a:ea typeface="Consolas"/>
                <a:cs typeface="Consolas"/>
                <a:sym typeface="Consolas"/>
              </a:rPr>
              <a:t>true</a:t>
            </a:r>
            <a:r>
              <a:rPr lang="en-ID" sz="1200">
                <a:solidFill>
                  <a:schemeClr val="dk1"/>
                </a:solidFill>
                <a:latin typeface="Consolas"/>
                <a:ea typeface="Consolas"/>
                <a:cs typeface="Consolas"/>
                <a:sym typeface="Consolas"/>
              </a:rPr>
              <a:t>,</a:t>
            </a:r>
            <a:endParaRPr/>
          </a:p>
          <a:p>
            <a:pPr indent="0" lvl="0" marL="0" marR="0" rtl="0" algn="l">
              <a:spcBef>
                <a:spcPts val="0"/>
              </a:spcBef>
              <a:spcAft>
                <a:spcPts val="0"/>
              </a:spcAft>
              <a:buNone/>
            </a:pPr>
            <a:r>
              <a:rPr lang="en-ID"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7"/>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Drawer</a:t>
            </a:r>
            <a:endParaRPr/>
          </a:p>
        </p:txBody>
      </p:sp>
      <p:cxnSp>
        <p:nvCxnSpPr>
          <p:cNvPr id="161" name="Google Shape;161;p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62" name="Google Shape;162;p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3" name="Google Shape;163;p7"/>
          <p:cNvSpPr/>
          <p:nvPr/>
        </p:nvSpPr>
        <p:spPr>
          <a:xfrm>
            <a:off x="155575" y="675432"/>
            <a:ext cx="4815900" cy="39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rgbClr val="292929"/>
                </a:solidFill>
                <a:latin typeface="Calibri"/>
                <a:ea typeface="Calibri"/>
                <a:cs typeface="Calibri"/>
                <a:sym typeface="Calibri"/>
              </a:rPr>
              <a:t>Add this drawer object  in your scaffold </a:t>
            </a:r>
            <a:endParaRPr/>
          </a:p>
          <a:p>
            <a:pPr indent="0" lvl="0" marL="0" marR="0" rtl="0" algn="l">
              <a:spcBef>
                <a:spcPts val="0"/>
              </a:spcBef>
              <a:spcAft>
                <a:spcPts val="0"/>
              </a:spcAft>
              <a:buNone/>
            </a:pPr>
            <a:br>
              <a:rPr lang="en-ID" sz="1800">
                <a:solidFill>
                  <a:schemeClr val="dk1"/>
                </a:solidFill>
                <a:latin typeface="Arial"/>
                <a:ea typeface="Arial"/>
                <a:cs typeface="Arial"/>
                <a:sym typeface="Arial"/>
              </a:rPr>
            </a:br>
            <a:endParaRPr sz="1800">
              <a:solidFill>
                <a:srgbClr val="292929"/>
              </a:solidFill>
              <a:latin typeface="Arial"/>
              <a:ea typeface="Arial"/>
              <a:cs typeface="Arial"/>
              <a:sym typeface="Arial"/>
            </a:endParaRPr>
          </a:p>
          <a:p>
            <a:pPr indent="0" lvl="0" marL="0" marR="0" rtl="0" algn="l">
              <a:spcBef>
                <a:spcPts val="0"/>
              </a:spcBef>
              <a:spcAft>
                <a:spcPts val="0"/>
              </a:spcAft>
              <a:buNone/>
            </a:pPr>
            <a:br>
              <a:rPr lang="en-ID"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
        <p:nvSpPr>
          <p:cNvPr id="164" name="Google Shape;164;p7"/>
          <p:cNvSpPr/>
          <p:nvPr/>
        </p:nvSpPr>
        <p:spPr>
          <a:xfrm>
            <a:off x="261257" y="972964"/>
            <a:ext cx="8428800" cy="3985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drawer: Drawer(</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elevation: 16.0,</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child: Column(</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children: &lt;Widget&gt;[</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const UserAccountsDrawerHeader(</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accountName: Text("xyz"),</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accountEmail: Text("xyz@gmail.com"),</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currentAccountPicture: CircleAvatar(</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backgroundImage: NetworkImage("https://i.pravatar.cc/150"),</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ListTile(</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title: const Text("Inbox"),</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leading: const Icon(Icons.inbox),</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onTap: () {},</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ListTile(</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title: const Text("My Basket"),</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leading: const Icon(Icons.shopping_basket),</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onTap: () {},</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  ),</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100">
                <a:solidFill>
                  <a:srgbClr val="FF0000"/>
                </a:solidFill>
                <a:latin typeface="Consolas"/>
                <a:ea typeface="Consolas"/>
                <a:cs typeface="Consolas"/>
                <a:sym typeface="Consolas"/>
              </a:rPr>
              <a:t>),</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100">
              <a:solidFill>
                <a:srgbClr val="FF0000"/>
              </a:solidFill>
              <a:latin typeface="Consolas"/>
              <a:ea typeface="Consolas"/>
              <a:cs typeface="Consolas"/>
              <a:sym typeface="Consolas"/>
            </a:endParaRPr>
          </a:p>
          <a:p>
            <a:pPr indent="0" lvl="0" marL="0" marR="0" rtl="0" algn="l">
              <a:spcBef>
                <a:spcPts val="0"/>
              </a:spcBef>
              <a:spcAft>
                <a:spcPts val="0"/>
              </a:spcAft>
              <a:buNone/>
            </a:pPr>
            <a:r>
              <a:t/>
            </a:r>
            <a:endParaRPr sz="1100">
              <a:solidFill>
                <a:srgbClr val="FF0000"/>
              </a:solidFill>
              <a:latin typeface="Consolas"/>
              <a:ea typeface="Consolas"/>
              <a:cs typeface="Consolas"/>
              <a:sym typeface="Consolas"/>
            </a:endParaRPr>
          </a:p>
        </p:txBody>
      </p:sp>
      <p:pic>
        <p:nvPicPr>
          <p:cNvPr id="165" name="Google Shape;165;p7"/>
          <p:cNvPicPr preferRelativeResize="0"/>
          <p:nvPr/>
        </p:nvPicPr>
        <p:blipFill rotWithShape="1">
          <a:blip r:embed="rId3">
            <a:alphaModFix/>
          </a:blip>
          <a:srcRect b="0" l="0" r="0" t="0"/>
          <a:stretch/>
        </p:blipFill>
        <p:spPr>
          <a:xfrm>
            <a:off x="6136060" y="614732"/>
            <a:ext cx="2032579" cy="4215214"/>
          </a:xfrm>
          <a:prstGeom prst="rect">
            <a:avLst/>
          </a:prstGeom>
          <a:noFill/>
          <a:ln>
            <a:noFill/>
          </a:ln>
        </p:spPr>
      </p:pic>
      <p:sp>
        <p:nvSpPr>
          <p:cNvPr id="166" name="Google Shape;166;p7"/>
          <p:cNvSpPr txBox="1"/>
          <p:nvPr/>
        </p:nvSpPr>
        <p:spPr>
          <a:xfrm>
            <a:off x="5028525" y="3367175"/>
            <a:ext cx="4018200" cy="1662300"/>
          </a:xfrm>
          <a:prstGeom prst="rect">
            <a:avLst/>
          </a:prstGeom>
          <a:solidFill>
            <a:schemeClr val="accen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D" sz="1200">
                <a:solidFill>
                  <a:schemeClr val="lt1"/>
                </a:solidFill>
              </a:rPr>
              <a:t>Flutter Drawer</a:t>
            </a:r>
            <a:br>
              <a:rPr b="1" lang="en-ID" sz="1200">
                <a:solidFill>
                  <a:schemeClr val="lt1"/>
                </a:solidFill>
              </a:rPr>
            </a:br>
            <a:r>
              <a:rPr lang="en-ID" sz="1200" u="sng">
                <a:solidFill>
                  <a:schemeClr val="accent6"/>
                </a:solidFill>
                <a:hlinkClick r:id="rId4">
                  <a:extLst>
                    <a:ext uri="{A12FA001-AC4F-418D-AE19-62706E023703}">
                      <ahyp:hlinkClr val="tx"/>
                    </a:ext>
                  </a:extLst>
                </a:hlinkClick>
              </a:rPr>
              <a:t>https://youtu.be/WRj86iHihgY?si=6f-iyJom0PvNQ6N7</a:t>
            </a:r>
            <a:br>
              <a:rPr lang="en-ID" sz="1200">
                <a:solidFill>
                  <a:schemeClr val="lt1"/>
                </a:solidFill>
              </a:rPr>
            </a:br>
            <a:br>
              <a:rPr b="1" lang="en-ID" sz="1200">
                <a:solidFill>
                  <a:schemeClr val="lt1"/>
                </a:solidFill>
              </a:rPr>
            </a:br>
            <a:r>
              <a:rPr b="1" lang="en-ID" sz="1200">
                <a:solidFill>
                  <a:schemeClr val="lt1"/>
                </a:solidFill>
              </a:rPr>
              <a:t>Flutter ListTile</a:t>
            </a:r>
            <a:br>
              <a:rPr lang="en-ID" sz="1200">
                <a:solidFill>
                  <a:schemeClr val="lt1"/>
                </a:solidFill>
              </a:rPr>
            </a:br>
            <a:r>
              <a:rPr lang="en-ID" sz="1200" u="sng">
                <a:solidFill>
                  <a:schemeClr val="accent6"/>
                </a:solidFill>
                <a:hlinkClick r:id="rId5">
                  <a:extLst>
                    <a:ext uri="{A12FA001-AC4F-418D-AE19-62706E023703}">
                      <ahyp:hlinkClr val="tx"/>
                    </a:ext>
                  </a:extLst>
                </a:hlinkClick>
              </a:rPr>
              <a:t>https://youtu.be/l8dj0yPBvgQ?si=8occoT4OVrbtKDRm</a:t>
            </a:r>
            <a:endParaRPr sz="1200">
              <a:solidFill>
                <a:schemeClr val="accent6"/>
              </a:solidFill>
            </a:endParaRPr>
          </a:p>
          <a:p>
            <a:pPr indent="0" lvl="0" marL="0" rtl="0" algn="l">
              <a:spcBef>
                <a:spcPts val="0"/>
              </a:spcBef>
              <a:spcAft>
                <a:spcPts val="0"/>
              </a:spcAft>
              <a:buNone/>
            </a:pPr>
            <a:r>
              <a:t/>
            </a:r>
            <a:endParaRPr sz="1200">
              <a:solidFill>
                <a:schemeClr val="accent6"/>
              </a:solidFill>
            </a:endParaRPr>
          </a:p>
          <a:p>
            <a:pPr indent="0" lvl="0" marL="0" rtl="0" algn="l">
              <a:spcBef>
                <a:spcPts val="0"/>
              </a:spcBef>
              <a:spcAft>
                <a:spcPts val="0"/>
              </a:spcAft>
              <a:buNone/>
            </a:pPr>
            <a:r>
              <a:rPr b="1" lang="en-ID" sz="1200">
                <a:solidFill>
                  <a:schemeClr val="lt1"/>
                </a:solidFill>
              </a:rPr>
              <a:t>Flutter Column</a:t>
            </a:r>
            <a:br>
              <a:rPr lang="en-ID" sz="1200">
                <a:solidFill>
                  <a:schemeClr val="accent6"/>
                </a:solidFill>
              </a:rPr>
            </a:br>
            <a:r>
              <a:rPr lang="en-ID" sz="1200" u="sng">
                <a:solidFill>
                  <a:schemeClr val="accent6"/>
                </a:solidFill>
                <a:hlinkClick r:id="rId6">
                  <a:extLst>
                    <a:ext uri="{A12FA001-AC4F-418D-AE19-62706E023703}">
                      <ahyp:hlinkClr val="tx"/>
                    </a:ext>
                  </a:extLst>
                </a:hlinkClick>
              </a:rPr>
              <a:t>https://api.flutter.dev/flutter/widgets/Column-class.html</a:t>
            </a:r>
            <a:endParaRPr sz="1200">
              <a:solidFill>
                <a:schemeClr val="accent6"/>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886c7a67cc_0_66"/>
          <p:cNvSpPr txBox="1"/>
          <p:nvPr>
            <p:ph type="title"/>
          </p:nvPr>
        </p:nvSpPr>
        <p:spPr>
          <a:xfrm>
            <a:off x="0" y="0"/>
            <a:ext cx="8229600" cy="5769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Image not showing in browser ?</a:t>
            </a:r>
            <a:endParaRPr/>
          </a:p>
        </p:txBody>
      </p:sp>
      <p:cxnSp>
        <p:nvCxnSpPr>
          <p:cNvPr id="172" name="Google Shape;172;g3886c7a67cc_0_66"/>
          <p:cNvCxnSpPr/>
          <p:nvPr/>
        </p:nvCxnSpPr>
        <p:spPr>
          <a:xfrm>
            <a:off x="0" y="576943"/>
            <a:ext cx="7337100" cy="150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50"/>
              </a:srgbClr>
            </a:outerShdw>
          </a:effectLst>
        </p:spPr>
      </p:cxnSp>
      <p:sp>
        <p:nvSpPr>
          <p:cNvPr descr="Google's Flutter framework spreads its wings and goes multi-platform |  TechCrunch" id="173" name="Google Shape;173;g3886c7a67cc_0_66"/>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4" name="Google Shape;174;g3886c7a67cc_0_66"/>
          <p:cNvSpPr/>
          <p:nvPr/>
        </p:nvSpPr>
        <p:spPr>
          <a:xfrm>
            <a:off x="460375" y="746750"/>
            <a:ext cx="7944300" cy="4247400"/>
          </a:xfrm>
          <a:prstGeom prst="rect">
            <a:avLst/>
          </a:prstGeom>
          <a:noFill/>
          <a:ln>
            <a:noFill/>
          </a:ln>
        </p:spPr>
        <p:txBody>
          <a:bodyPr anchorCtr="0" anchor="t" bIns="45700" lIns="91425" spcFirstLastPara="1" rIns="91425" wrap="square" tIns="45700">
            <a:noAutofit/>
          </a:bodyPr>
          <a:lstStyle/>
          <a:p>
            <a:pPr indent="-285750" lvl="0" marL="285750" marR="0" rtl="0" algn="just">
              <a:spcBef>
                <a:spcPts val="0"/>
              </a:spcBef>
              <a:spcAft>
                <a:spcPts val="0"/>
              </a:spcAft>
              <a:buClr>
                <a:srgbClr val="292929"/>
              </a:buClr>
              <a:buSzPts val="1800"/>
              <a:buFont typeface="Arial"/>
              <a:buChar char="•"/>
            </a:pPr>
            <a:r>
              <a:rPr lang="en-ID" sz="1800">
                <a:solidFill>
                  <a:srgbClr val="292929"/>
                </a:solidFill>
              </a:rPr>
              <a:t>That's normal, and this is due to a browser security feature known as </a:t>
            </a:r>
            <a:r>
              <a:rPr i="0" lang="en-ID" sz="1800">
                <a:solidFill>
                  <a:srgbClr val="001D35"/>
                </a:solidFill>
              </a:rPr>
              <a:t>Cross-Origin Resource Sharing (</a:t>
            </a:r>
            <a:r>
              <a:rPr lang="en-ID" sz="1800">
                <a:solidFill>
                  <a:srgbClr val="292929"/>
                </a:solidFill>
              </a:rPr>
              <a:t>CORS). </a:t>
            </a:r>
            <a:endParaRPr sz="1800">
              <a:solidFill>
                <a:srgbClr val="292929"/>
              </a:solidFill>
            </a:endParaRPr>
          </a:p>
          <a:p>
            <a:pPr indent="0" lvl="0" marL="457200" marR="0" rtl="0" algn="just">
              <a:spcBef>
                <a:spcPts val="0"/>
              </a:spcBef>
              <a:spcAft>
                <a:spcPts val="0"/>
              </a:spcAft>
              <a:buNone/>
            </a:pPr>
            <a:r>
              <a:t/>
            </a:r>
            <a:endParaRPr sz="1800">
              <a:solidFill>
                <a:srgbClr val="292929"/>
              </a:solidFill>
            </a:endParaRPr>
          </a:p>
          <a:p>
            <a:pPr indent="-285750" lvl="0" marL="285750" marR="0" rtl="0" algn="just">
              <a:spcBef>
                <a:spcPts val="0"/>
              </a:spcBef>
              <a:spcAft>
                <a:spcPts val="0"/>
              </a:spcAft>
              <a:buClr>
                <a:srgbClr val="292929"/>
              </a:buClr>
              <a:buSzPts val="1800"/>
              <a:buChar char="•"/>
            </a:pPr>
            <a:r>
              <a:rPr lang="en-ID" sz="1800">
                <a:solidFill>
                  <a:srgbClr val="292929"/>
                </a:solidFill>
              </a:rPr>
              <a:t>Quick workaround -&gt; use following command when running flutter project</a:t>
            </a:r>
            <a:br>
              <a:rPr lang="en-ID" sz="1800">
                <a:solidFill>
                  <a:srgbClr val="292929"/>
                </a:solidFill>
              </a:rPr>
            </a:br>
            <a:r>
              <a:rPr lang="en-ID" sz="1600">
                <a:solidFill>
                  <a:srgbClr val="292929"/>
                </a:solidFill>
                <a:latin typeface="Consolas"/>
                <a:ea typeface="Consolas"/>
                <a:cs typeface="Consolas"/>
                <a:sym typeface="Consolas"/>
              </a:rPr>
              <a:t>flutter run -d chrome --web-browser-flag "--disable-web-security"</a:t>
            </a:r>
            <a:endParaRPr sz="1600">
              <a:solidFill>
                <a:srgbClr val="292929"/>
              </a:solidFill>
              <a:latin typeface="Consolas"/>
              <a:ea typeface="Consolas"/>
              <a:cs typeface="Consolas"/>
              <a:sym typeface="Consolas"/>
            </a:endParaRPr>
          </a:p>
          <a:p>
            <a:pPr indent="0" lvl="0" marL="0" marR="0" rtl="0" algn="just">
              <a:spcBef>
                <a:spcPts val="0"/>
              </a:spcBef>
              <a:spcAft>
                <a:spcPts val="0"/>
              </a:spcAft>
              <a:buNone/>
            </a:pPr>
            <a:r>
              <a:t/>
            </a:r>
            <a:endParaRPr sz="1800">
              <a:solidFill>
                <a:srgbClr val="292929"/>
              </a:solidFill>
            </a:endParaRPr>
          </a:p>
        </p:txBody>
      </p:sp>
      <p:pic>
        <p:nvPicPr>
          <p:cNvPr id="175" name="Google Shape;175;g3886c7a67cc_0_66"/>
          <p:cNvPicPr preferRelativeResize="0"/>
          <p:nvPr/>
        </p:nvPicPr>
        <p:blipFill>
          <a:blip r:embed="rId3">
            <a:alphaModFix/>
          </a:blip>
          <a:stretch>
            <a:fillRect/>
          </a:stretch>
        </p:blipFill>
        <p:spPr>
          <a:xfrm>
            <a:off x="808950" y="2433175"/>
            <a:ext cx="3862350" cy="24536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8"/>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Alternatively</a:t>
            </a:r>
            <a:endParaRPr/>
          </a:p>
        </p:txBody>
      </p:sp>
      <p:cxnSp>
        <p:nvCxnSpPr>
          <p:cNvPr id="181" name="Google Shape;181;p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82" name="Google Shape;182;p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 name="Google Shape;183;p8"/>
          <p:cNvSpPr/>
          <p:nvPr/>
        </p:nvSpPr>
        <p:spPr>
          <a:xfrm>
            <a:off x="460374" y="746739"/>
            <a:ext cx="3837300" cy="4247400"/>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rgbClr val="292929"/>
              </a:buClr>
              <a:buSzPts val="1800"/>
              <a:buFont typeface="Arial"/>
              <a:buChar char="•"/>
            </a:pPr>
            <a:r>
              <a:rPr lang="en-ID" sz="1800">
                <a:solidFill>
                  <a:srgbClr val="292929"/>
                </a:solidFill>
                <a:latin typeface="Calibri"/>
                <a:ea typeface="Calibri"/>
                <a:cs typeface="Calibri"/>
                <a:sym typeface="Calibri"/>
              </a:rPr>
              <a:t>To solve this, we can add a </a:t>
            </a:r>
            <a:r>
              <a:rPr lang="en-ID" sz="1800">
                <a:solidFill>
                  <a:srgbClr val="292929"/>
                </a:solidFill>
                <a:latin typeface="Calibri"/>
                <a:ea typeface="Calibri"/>
                <a:cs typeface="Calibri"/>
                <a:sym typeface="Calibri"/>
              </a:rPr>
              <a:t>CORS </a:t>
            </a:r>
            <a:r>
              <a:rPr lang="en-ID" sz="1800">
                <a:solidFill>
                  <a:srgbClr val="292929"/>
                </a:solidFill>
                <a:latin typeface="Calibri"/>
                <a:ea typeface="Calibri"/>
                <a:cs typeface="Calibri"/>
                <a:sym typeface="Calibri"/>
              </a:rPr>
              <a:t>Blocker</a:t>
            </a:r>
            <a:r>
              <a:rPr lang="en-ID" sz="1800">
                <a:solidFill>
                  <a:srgbClr val="292929"/>
                </a:solidFill>
                <a:latin typeface="Calibri"/>
                <a:ea typeface="Calibri"/>
                <a:cs typeface="Calibri"/>
                <a:sym typeface="Calibri"/>
              </a:rPr>
              <a:t> extension </a:t>
            </a:r>
            <a:r>
              <a:rPr lang="en-ID" sz="1800">
                <a:solidFill>
                  <a:srgbClr val="292929"/>
                </a:solidFill>
                <a:latin typeface="Calibri"/>
                <a:ea typeface="Calibri"/>
                <a:cs typeface="Calibri"/>
                <a:sym typeface="Calibri"/>
              </a:rPr>
              <a:t>to the browser.</a:t>
            </a:r>
            <a:endParaRPr/>
          </a:p>
          <a:p>
            <a:pPr indent="-285750" lvl="0" marL="285750" marR="0" rtl="0" algn="just">
              <a:spcBef>
                <a:spcPts val="0"/>
              </a:spcBef>
              <a:spcAft>
                <a:spcPts val="0"/>
              </a:spcAft>
              <a:buClr>
                <a:srgbClr val="292929"/>
              </a:buClr>
              <a:buSzPts val="1800"/>
              <a:buFont typeface="Arial"/>
              <a:buChar char="•"/>
            </a:pPr>
            <a:r>
              <a:rPr lang="en-ID" sz="1800">
                <a:solidFill>
                  <a:srgbClr val="292929"/>
                </a:solidFill>
                <a:latin typeface="Calibri"/>
                <a:ea typeface="Calibri"/>
                <a:cs typeface="Calibri"/>
                <a:sym typeface="Calibri"/>
              </a:rPr>
              <a:t>It is recommended to use the Google Chrome browser. In the extensions section, please install the EASY CORS Blocker extension.</a:t>
            </a:r>
            <a:endParaRPr/>
          </a:p>
          <a:p>
            <a:pPr indent="-285750" lvl="0" marL="285750" marR="0" rtl="0" algn="just">
              <a:spcBef>
                <a:spcPts val="0"/>
              </a:spcBef>
              <a:spcAft>
                <a:spcPts val="0"/>
              </a:spcAft>
              <a:buClr>
                <a:srgbClr val="292929"/>
              </a:buClr>
              <a:buSzPts val="1800"/>
              <a:buFont typeface="Arial"/>
              <a:buChar char="•"/>
            </a:pPr>
            <a:r>
              <a:rPr lang="en-ID" sz="1800">
                <a:solidFill>
                  <a:srgbClr val="292929"/>
                </a:solidFill>
                <a:latin typeface="Calibri"/>
                <a:ea typeface="Calibri"/>
                <a:cs typeface="Calibri"/>
                <a:sym typeface="Calibri"/>
              </a:rPr>
              <a:t>Add the link you want to block CORS.</a:t>
            </a:r>
            <a:endParaRPr/>
          </a:p>
          <a:p>
            <a:pPr indent="-285750" lvl="0" marL="285750" marR="0" rtl="0" algn="just">
              <a:spcBef>
                <a:spcPts val="0"/>
              </a:spcBef>
              <a:spcAft>
                <a:spcPts val="0"/>
              </a:spcAft>
              <a:buClr>
                <a:srgbClr val="292929"/>
              </a:buClr>
              <a:buSzPts val="1800"/>
              <a:buFont typeface="Arial"/>
              <a:buChar char="•"/>
            </a:pPr>
            <a:r>
              <a:rPr b="1" lang="en-ID" sz="1800">
                <a:solidFill>
                  <a:srgbClr val="292929"/>
                </a:solidFill>
                <a:latin typeface="Calibri"/>
                <a:ea typeface="Calibri"/>
                <a:cs typeface="Calibri"/>
                <a:sym typeface="Calibri"/>
              </a:rPr>
              <a:t>This problem will not arise if you test using an emulator or smartphone.</a:t>
            </a:r>
            <a:endParaRPr b="1" sz="1800">
              <a:solidFill>
                <a:schemeClr val="dk1"/>
              </a:solidFill>
              <a:latin typeface="Arial"/>
              <a:ea typeface="Arial"/>
              <a:cs typeface="Arial"/>
              <a:sym typeface="Arial"/>
            </a:endParaRPr>
          </a:p>
        </p:txBody>
      </p:sp>
      <p:pic>
        <p:nvPicPr>
          <p:cNvPr id="184" name="Google Shape;184;p8"/>
          <p:cNvPicPr preferRelativeResize="0"/>
          <p:nvPr/>
        </p:nvPicPr>
        <p:blipFill rotWithShape="1">
          <a:blip r:embed="rId3">
            <a:alphaModFix/>
          </a:blip>
          <a:srcRect b="0" l="0" r="0" t="0"/>
          <a:stretch/>
        </p:blipFill>
        <p:spPr>
          <a:xfrm>
            <a:off x="5411587" y="925446"/>
            <a:ext cx="2876202" cy="1179692"/>
          </a:xfrm>
          <a:prstGeom prst="rect">
            <a:avLst/>
          </a:prstGeom>
          <a:noFill/>
          <a:ln>
            <a:noFill/>
          </a:ln>
        </p:spPr>
      </p:pic>
      <p:pic>
        <p:nvPicPr>
          <p:cNvPr id="185" name="Google Shape;185;p8"/>
          <p:cNvPicPr preferRelativeResize="0"/>
          <p:nvPr/>
        </p:nvPicPr>
        <p:blipFill rotWithShape="1">
          <a:blip r:embed="rId4">
            <a:alphaModFix/>
          </a:blip>
          <a:srcRect b="37996" l="7957" r="9061" t="0"/>
          <a:stretch/>
        </p:blipFill>
        <p:spPr>
          <a:xfrm>
            <a:off x="5702531" y="2254844"/>
            <a:ext cx="2439785" cy="2511849"/>
          </a:xfrm>
          <a:prstGeom prst="rect">
            <a:avLst/>
          </a:prstGeom>
          <a:noFill/>
          <a:ln>
            <a:noFill/>
          </a:ln>
        </p:spPr>
      </p:pic>
      <p:cxnSp>
        <p:nvCxnSpPr>
          <p:cNvPr id="186" name="Google Shape;186;p8"/>
          <p:cNvCxnSpPr>
            <a:stCxn id="187" idx="3"/>
          </p:cNvCxnSpPr>
          <p:nvPr/>
        </p:nvCxnSpPr>
        <p:spPr>
          <a:xfrm flipH="1" rot="10800000">
            <a:off x="4297675" y="2665511"/>
            <a:ext cx="1404900" cy="12600"/>
          </a:xfrm>
          <a:prstGeom prst="straightConnector1">
            <a:avLst/>
          </a:prstGeom>
          <a:noFill/>
          <a:ln cap="flat" cmpd="sng" w="57150">
            <a:solidFill>
              <a:schemeClr val="accent1"/>
            </a:solidFill>
            <a:prstDash val="solid"/>
            <a:round/>
            <a:headEnd len="sm" w="sm" type="none"/>
            <a:tailEnd len="med" w="med" type="triangle"/>
          </a:ln>
          <a:effectLst>
            <a:outerShdw blurRad="40000" rotWithShape="0" dir="5400000" dist="20000">
              <a:srgbClr val="000000">
                <a:alpha val="37650"/>
              </a:srgbClr>
            </a:outerShdw>
          </a:effectLst>
        </p:spPr>
      </p:cxnSp>
      <p:sp>
        <p:nvSpPr>
          <p:cNvPr id="187" name="Google Shape;187;p8"/>
          <p:cNvSpPr/>
          <p:nvPr/>
        </p:nvSpPr>
        <p:spPr>
          <a:xfrm>
            <a:off x="460375" y="2399561"/>
            <a:ext cx="3837300" cy="557100"/>
          </a:xfrm>
          <a:prstGeom prst="rect">
            <a:avLst/>
          </a:prstGeom>
          <a:noFill/>
          <a:ln cap="flat" cmpd="sng" w="38100">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9"/>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persistentFooterButton</a:t>
            </a:r>
            <a:endParaRPr b="1" sz="3600">
              <a:solidFill>
                <a:srgbClr val="000090"/>
              </a:solidFill>
            </a:endParaRPr>
          </a:p>
        </p:txBody>
      </p:sp>
      <p:cxnSp>
        <p:nvCxnSpPr>
          <p:cNvPr id="193" name="Google Shape;193;p9"/>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94" name="Google Shape;194;p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5" name="Google Shape;195;p9"/>
          <p:cNvSpPr/>
          <p:nvPr/>
        </p:nvSpPr>
        <p:spPr>
          <a:xfrm>
            <a:off x="155575" y="721406"/>
            <a:ext cx="5679168" cy="172354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a:solidFill>
                  <a:schemeClr val="dk1"/>
                </a:solidFill>
                <a:latin typeface="Consolas"/>
                <a:ea typeface="Consolas"/>
                <a:cs typeface="Consolas"/>
                <a:sym typeface="Consolas"/>
              </a:rPr>
              <a:t>persistentFooterButtons</a:t>
            </a:r>
            <a:r>
              <a:rPr lang="en-ID">
                <a:solidFill>
                  <a:schemeClr val="dk1"/>
                </a:solidFill>
              </a:rPr>
              <a:t> </a:t>
            </a:r>
            <a:r>
              <a:rPr lang="en-ID" sz="1400">
                <a:solidFill>
                  <a:schemeClr val="dk1"/>
                </a:solidFill>
                <a:latin typeface="Arial"/>
                <a:ea typeface="Arial"/>
                <a:cs typeface="Arial"/>
                <a:sym typeface="Arial"/>
              </a:rPr>
              <a:t>is a list of buttons that are displayed at the bottom of the scaffold. These buttons are persistently visible, even if the body of the scaffold scrolls. They will be wrapped in a ButtonBar and are rendered above the bottomNavigationBar but below the body</a:t>
            </a:r>
            <a:br>
              <a:rPr lang="en-ID" sz="1400">
                <a:solidFill>
                  <a:schemeClr val="dk1"/>
                </a:solidFill>
                <a:latin typeface="Arial"/>
                <a:ea typeface="Arial"/>
                <a:cs typeface="Arial"/>
                <a:sym typeface="Arial"/>
              </a:rPr>
            </a:br>
            <a:endParaRPr sz="1400">
              <a:solidFill>
                <a:srgbClr val="292929"/>
              </a:solidFill>
              <a:latin typeface="Arial"/>
              <a:ea typeface="Arial"/>
              <a:cs typeface="Arial"/>
              <a:sym typeface="Arial"/>
            </a:endParaRPr>
          </a:p>
          <a:p>
            <a:pPr indent="0" lvl="0" marL="0" marR="0" rtl="0" algn="l">
              <a:spcBef>
                <a:spcPts val="0"/>
              </a:spcBef>
              <a:spcAft>
                <a:spcPts val="0"/>
              </a:spcAft>
              <a:buNone/>
            </a:pPr>
            <a:br>
              <a:rPr lang="en-ID"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
        <p:nvSpPr>
          <p:cNvPr id="196" name="Google Shape;196;p9"/>
          <p:cNvSpPr/>
          <p:nvPr/>
        </p:nvSpPr>
        <p:spPr>
          <a:xfrm>
            <a:off x="307975" y="2110090"/>
            <a:ext cx="8428800" cy="2246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ID">
                <a:solidFill>
                  <a:srgbClr val="FF0000"/>
                </a:solidFill>
                <a:latin typeface="Consolas"/>
                <a:ea typeface="Consolas"/>
                <a:cs typeface="Consolas"/>
                <a:sym typeface="Consolas"/>
              </a:rPr>
              <a:t>persistentFooterButtons: &lt;Widget&gt;[</a:t>
            </a:r>
            <a:endParaRPr>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a:solidFill>
                  <a:srgbClr val="FF0000"/>
                </a:solidFill>
                <a:latin typeface="Consolas"/>
                <a:ea typeface="Consolas"/>
                <a:cs typeface="Consolas"/>
                <a:sym typeface="Consolas"/>
              </a:rPr>
              <a:t>  ElevatedButton(</a:t>
            </a:r>
            <a:endParaRPr>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a:solidFill>
                  <a:srgbClr val="FF0000"/>
                </a:solidFill>
                <a:latin typeface="Consolas"/>
                <a:ea typeface="Consolas"/>
                <a:cs typeface="Consolas"/>
                <a:sym typeface="Consolas"/>
              </a:rPr>
              <a:t>    onPressed: () {},</a:t>
            </a:r>
            <a:endParaRPr>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a:solidFill>
                  <a:srgbClr val="FF0000"/>
                </a:solidFill>
                <a:latin typeface="Consolas"/>
                <a:ea typeface="Consolas"/>
                <a:cs typeface="Consolas"/>
                <a:sym typeface="Consolas"/>
              </a:rPr>
              <a:t>    child: const Icon(Icons.skip_previous),</a:t>
            </a:r>
            <a:endParaRPr>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a:solidFill>
                  <a:srgbClr val="FF0000"/>
                </a:solidFill>
                <a:latin typeface="Consolas"/>
                <a:ea typeface="Consolas"/>
                <a:cs typeface="Consolas"/>
                <a:sym typeface="Consolas"/>
              </a:rPr>
              <a:t>  ),</a:t>
            </a:r>
            <a:endParaRPr>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a:solidFill>
                  <a:srgbClr val="FF0000"/>
                </a:solidFill>
                <a:latin typeface="Consolas"/>
                <a:ea typeface="Consolas"/>
                <a:cs typeface="Consolas"/>
                <a:sym typeface="Consolas"/>
              </a:rPr>
              <a:t>  ElevatedButton(</a:t>
            </a:r>
            <a:endParaRPr>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a:solidFill>
                  <a:srgbClr val="FF0000"/>
                </a:solidFill>
                <a:latin typeface="Consolas"/>
                <a:ea typeface="Consolas"/>
                <a:cs typeface="Consolas"/>
                <a:sym typeface="Consolas"/>
              </a:rPr>
              <a:t>    onPressed: () {},</a:t>
            </a:r>
            <a:endParaRPr>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a:solidFill>
                  <a:srgbClr val="FF0000"/>
                </a:solidFill>
                <a:latin typeface="Consolas"/>
                <a:ea typeface="Consolas"/>
                <a:cs typeface="Consolas"/>
                <a:sym typeface="Consolas"/>
              </a:rPr>
              <a:t>    child: const Icon(Icons.skip_next),</a:t>
            </a:r>
            <a:endParaRPr>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a:solidFill>
                  <a:srgbClr val="FF0000"/>
                </a:solidFill>
                <a:latin typeface="Consolas"/>
                <a:ea typeface="Consolas"/>
                <a:cs typeface="Consolas"/>
                <a:sym typeface="Consolas"/>
              </a:rPr>
              <a:t>  ),</a:t>
            </a:r>
            <a:endParaRPr>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a:solidFill>
                  <a:srgbClr val="FF0000"/>
                </a:solidFill>
                <a:latin typeface="Consolas"/>
                <a:ea typeface="Consolas"/>
                <a:cs typeface="Consolas"/>
                <a:sym typeface="Consolas"/>
              </a:rPr>
              <a:t>],</a:t>
            </a:r>
            <a:endParaRPr>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solidFill>
                <a:srgbClr val="FF0000"/>
              </a:solidFill>
              <a:latin typeface="Consolas"/>
              <a:ea typeface="Consolas"/>
              <a:cs typeface="Consolas"/>
              <a:sym typeface="Consolas"/>
            </a:endParaRPr>
          </a:p>
          <a:p>
            <a:pPr indent="0" lvl="0" marL="0" marR="0" rtl="0" algn="l">
              <a:spcBef>
                <a:spcPts val="0"/>
              </a:spcBef>
              <a:spcAft>
                <a:spcPts val="0"/>
              </a:spcAft>
              <a:buNone/>
            </a:pPr>
            <a:r>
              <a:t/>
            </a:r>
            <a:endParaRPr>
              <a:solidFill>
                <a:srgbClr val="FF0000"/>
              </a:solidFill>
              <a:latin typeface="Consolas"/>
              <a:ea typeface="Consolas"/>
              <a:cs typeface="Consolas"/>
              <a:sym typeface="Consolas"/>
            </a:endParaRPr>
          </a:p>
        </p:txBody>
      </p:sp>
      <p:pic>
        <p:nvPicPr>
          <p:cNvPr id="197" name="Google Shape;197;p9"/>
          <p:cNvPicPr preferRelativeResize="0"/>
          <p:nvPr/>
        </p:nvPicPr>
        <p:blipFill rotWithShape="1">
          <a:blip r:embed="rId3">
            <a:alphaModFix/>
          </a:blip>
          <a:srcRect b="0" l="0" r="0" t="0"/>
          <a:stretch/>
        </p:blipFill>
        <p:spPr>
          <a:xfrm>
            <a:off x="6455036" y="576943"/>
            <a:ext cx="2068670" cy="4290060"/>
          </a:xfrm>
          <a:prstGeom prst="rect">
            <a:avLst/>
          </a:prstGeom>
          <a:noFill/>
          <a:ln>
            <a:noFill/>
          </a:ln>
        </p:spPr>
      </p:pic>
      <p:sp>
        <p:nvSpPr>
          <p:cNvPr id="198" name="Google Shape;198;p9"/>
          <p:cNvSpPr/>
          <p:nvPr/>
        </p:nvSpPr>
        <p:spPr>
          <a:xfrm>
            <a:off x="7336971" y="4302034"/>
            <a:ext cx="1528355" cy="564969"/>
          </a:xfrm>
          <a:prstGeom prst="ellipse">
            <a:avLst/>
          </a:prstGeom>
          <a:noFill/>
          <a:ln cap="flat" cmpd="sng" w="9525">
            <a:solidFill>
              <a:srgbClr val="FF000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10"/>
          <p:cNvPicPr preferRelativeResize="0"/>
          <p:nvPr/>
        </p:nvPicPr>
        <p:blipFill rotWithShape="1">
          <a:blip r:embed="rId3">
            <a:alphaModFix/>
          </a:blip>
          <a:srcRect b="0" l="0" r="0" t="0"/>
          <a:stretch/>
        </p:blipFill>
        <p:spPr>
          <a:xfrm>
            <a:off x="6597927" y="671687"/>
            <a:ext cx="2047673" cy="4246517"/>
          </a:xfrm>
          <a:prstGeom prst="rect">
            <a:avLst/>
          </a:prstGeom>
          <a:noFill/>
          <a:ln>
            <a:noFill/>
          </a:ln>
        </p:spPr>
      </p:pic>
      <p:sp>
        <p:nvSpPr>
          <p:cNvPr id="204" name="Google Shape;204;p10"/>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BottomNavigationBar</a:t>
            </a:r>
            <a:endParaRPr b="1" sz="3600">
              <a:solidFill>
                <a:srgbClr val="000090"/>
              </a:solidFill>
            </a:endParaRPr>
          </a:p>
        </p:txBody>
      </p:sp>
      <p:cxnSp>
        <p:nvCxnSpPr>
          <p:cNvPr id="205" name="Google Shape;205;p10"/>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06" name="Google Shape;206;p1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7" name="Google Shape;207;p10"/>
          <p:cNvSpPr/>
          <p:nvPr/>
        </p:nvSpPr>
        <p:spPr>
          <a:xfrm>
            <a:off x="155575" y="721400"/>
            <a:ext cx="2772600" cy="2031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rPr>
              <a:t>I</a:t>
            </a:r>
            <a:r>
              <a:rPr lang="en-ID" sz="1800">
                <a:solidFill>
                  <a:schemeClr val="dk1"/>
                </a:solidFill>
                <a:latin typeface="Arial"/>
                <a:ea typeface="Arial"/>
                <a:cs typeface="Arial"/>
                <a:sym typeface="Arial"/>
              </a:rPr>
              <a:t>s used to display a navigation bar at the bottom of the scaffold. It is rendered below the persistentFooterButtons and the body.</a:t>
            </a:r>
            <a:br>
              <a:rPr lang="en-ID"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
        <p:nvSpPr>
          <p:cNvPr id="208" name="Google Shape;208;p10"/>
          <p:cNvSpPr/>
          <p:nvPr/>
        </p:nvSpPr>
        <p:spPr>
          <a:xfrm>
            <a:off x="2928276" y="779500"/>
            <a:ext cx="3967800" cy="397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bottomNavigationBar: BottomNavigationBar(</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currentIndex: 0,</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fixedColor: Colors.teal,</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items: const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BottomNavigationBarItem(</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label: "Home",</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icon: Icon(Icons.home),</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BottomNavigationBarItem(</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label: "Search",</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icon: Icon(Icons.search),</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BottomNavigationBarItem(</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label: "History",</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icon: Icon(Icons.history),</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onTap: (int index)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setState(()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200">
              <a:solidFill>
                <a:srgbClr val="FF000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FF0000"/>
              </a:solidFill>
              <a:latin typeface="Consolas"/>
              <a:ea typeface="Consolas"/>
              <a:cs typeface="Consolas"/>
              <a:sym typeface="Consolas"/>
            </a:endParaRPr>
          </a:p>
        </p:txBody>
      </p:sp>
      <p:sp>
        <p:nvSpPr>
          <p:cNvPr id="209" name="Google Shape;209;p10"/>
          <p:cNvSpPr/>
          <p:nvPr/>
        </p:nvSpPr>
        <p:spPr>
          <a:xfrm>
            <a:off x="6392090" y="4380414"/>
            <a:ext cx="2429692" cy="564969"/>
          </a:xfrm>
          <a:prstGeom prst="ellipse">
            <a:avLst/>
          </a:prstGeom>
          <a:noFill/>
          <a:ln cap="flat" cmpd="sng" w="9525">
            <a:solidFill>
              <a:srgbClr val="FF000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0" name="Google Shape;210;p10"/>
          <p:cNvSpPr txBox="1"/>
          <p:nvPr/>
        </p:nvSpPr>
        <p:spPr>
          <a:xfrm>
            <a:off x="228175" y="2571750"/>
            <a:ext cx="2538600" cy="831300"/>
          </a:xfrm>
          <a:prstGeom prst="rect">
            <a:avLst/>
          </a:prstGeom>
          <a:solidFill>
            <a:schemeClr val="accen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D">
                <a:solidFill>
                  <a:schemeClr val="lt1"/>
                </a:solidFill>
              </a:rPr>
              <a:t>BottomNavigationBar</a:t>
            </a:r>
            <a:br>
              <a:rPr lang="en-ID"/>
            </a:br>
            <a:r>
              <a:rPr lang="en-ID" u="sng">
                <a:solidFill>
                  <a:schemeClr val="accent6"/>
                </a:solidFill>
                <a:hlinkClick r:id="rId4">
                  <a:extLst>
                    <a:ext uri="{A12FA001-AC4F-418D-AE19-62706E023703}">
                      <ahyp:hlinkClr val="tx"/>
                    </a:ext>
                  </a:extLst>
                </a:hlinkClick>
              </a:rPr>
              <a:t>https://www.youtube.com/watch?v=VfUUOI6BUtE</a:t>
            </a:r>
            <a:endParaRPr>
              <a:solidFill>
                <a:schemeClr val="accent6"/>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1"/>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Tidy up</a:t>
            </a:r>
            <a:endParaRPr/>
          </a:p>
        </p:txBody>
      </p:sp>
      <p:cxnSp>
        <p:nvCxnSpPr>
          <p:cNvPr id="216" name="Google Shape;216;p11"/>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17" name="Google Shape;217;p1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8" name="Google Shape;218;p11"/>
          <p:cNvSpPr/>
          <p:nvPr/>
        </p:nvSpPr>
        <p:spPr>
          <a:xfrm>
            <a:off x="155574" y="721406"/>
            <a:ext cx="8474619"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it is common to make the main structure is not full of code.</a:t>
            </a:r>
            <a:endParaRPr/>
          </a:p>
          <a:p>
            <a:pPr indent="0" lvl="0" marL="0" marR="0" rtl="0" algn="l">
              <a:spcBef>
                <a:spcPts val="0"/>
              </a:spcBef>
              <a:spcAft>
                <a:spcPts val="0"/>
              </a:spcAft>
              <a:buNone/>
            </a:pPr>
            <a:r>
              <a:rPr lang="en-ID" sz="1800">
                <a:solidFill>
                  <a:schemeClr val="dk1"/>
                </a:solidFill>
                <a:latin typeface="Arial"/>
                <a:ea typeface="Arial"/>
                <a:cs typeface="Arial"/>
                <a:sym typeface="Arial"/>
              </a:rPr>
              <a:t>Programmer often put body, drawer, bottomnavigationbar widget in a separate function.</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ID" sz="1800">
                <a:solidFill>
                  <a:schemeClr val="dk1"/>
                </a:solidFill>
                <a:latin typeface="Arial"/>
                <a:ea typeface="Arial"/>
                <a:cs typeface="Arial"/>
                <a:sym typeface="Arial"/>
              </a:rPr>
              <a:t>We will put the drawer in a function. Create this function within </a:t>
            </a:r>
            <a:r>
              <a:rPr lang="en-ID" sz="1800">
                <a:solidFill>
                  <a:schemeClr val="dk1"/>
                </a:solidFill>
                <a:latin typeface="Consolas"/>
                <a:ea typeface="Consolas"/>
                <a:cs typeface="Consolas"/>
                <a:sym typeface="Consolas"/>
              </a:rPr>
              <a:t>_MyHomePageState</a:t>
            </a:r>
            <a:r>
              <a:rPr lang="en-ID" sz="1800">
                <a:solidFill>
                  <a:schemeClr val="dk1"/>
                </a:solidFill>
                <a:latin typeface="Arial"/>
                <a:ea typeface="Arial"/>
                <a:cs typeface="Arial"/>
                <a:sym typeface="Arial"/>
              </a:rPr>
              <a:t> class</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Widget myDrawer(){</a:t>
            </a:r>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    return </a:t>
            </a:r>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 name="Google Shape;219;p11"/>
          <p:cNvSpPr txBox="1"/>
          <p:nvPr/>
        </p:nvSpPr>
        <p:spPr>
          <a:xfrm>
            <a:off x="2444666" y="2891246"/>
            <a:ext cx="3622765" cy="1754326"/>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Put  </a:t>
            </a:r>
            <a:r>
              <a:rPr lang="en-ID" sz="1800">
                <a:solidFill>
                  <a:schemeClr val="dk1"/>
                </a:solidFill>
                <a:latin typeface="Consolas"/>
                <a:ea typeface="Consolas"/>
                <a:cs typeface="Consolas"/>
                <a:sym typeface="Consolas"/>
              </a:rPr>
              <a:t>Drawer(…)</a:t>
            </a:r>
            <a:br>
              <a:rPr lang="en-ID" sz="1800">
                <a:solidFill>
                  <a:schemeClr val="dk1"/>
                </a:solidFill>
                <a:latin typeface="Arial"/>
                <a:ea typeface="Arial"/>
                <a:cs typeface="Arial"/>
                <a:sym typeface="Arial"/>
              </a:rPr>
            </a:br>
            <a:r>
              <a:rPr lang="en-ID" sz="1800">
                <a:solidFill>
                  <a:schemeClr val="dk1"/>
                </a:solidFill>
                <a:latin typeface="Arial"/>
                <a:ea typeface="Arial"/>
                <a:cs typeface="Arial"/>
                <a:sym typeface="Arial"/>
              </a:rPr>
              <a:t>from scaffold drawer here. </a:t>
            </a:r>
            <a:endParaRPr/>
          </a:p>
          <a:p>
            <a:pPr indent="0" lvl="0" marL="0" marR="0" rtl="0" algn="l">
              <a:spcBef>
                <a:spcPts val="0"/>
              </a:spcBef>
              <a:spcAft>
                <a:spcPts val="0"/>
              </a:spcAft>
              <a:buNone/>
            </a:pPr>
            <a:r>
              <a:rPr lang="en-ID" sz="1800">
                <a:solidFill>
                  <a:schemeClr val="dk1"/>
                </a:solidFill>
                <a:latin typeface="Arial"/>
                <a:ea typeface="Arial"/>
                <a:cs typeface="Arial"/>
                <a:sym typeface="Arial"/>
              </a:rPr>
              <a:t>Then change the scaffold drawer with this: </a:t>
            </a:r>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drawer: myDrawer(),</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 name="Google Shape;220;p11"/>
          <p:cNvSpPr/>
          <p:nvPr/>
        </p:nvSpPr>
        <p:spPr>
          <a:xfrm>
            <a:off x="1622769" y="3283132"/>
            <a:ext cx="740228" cy="287383"/>
          </a:xfrm>
          <a:prstGeom prst="leftArrow">
            <a:avLst>
              <a:gd fmla="val 50000" name="adj1"/>
              <a:gd fmla="val 50000" name="adj2"/>
            </a:avLst>
          </a:prstGeom>
          <a:gradFill>
            <a:gsLst>
              <a:gs pos="0">
                <a:srgbClr val="3E7FCD"/>
              </a:gs>
              <a:gs pos="100000">
                <a:srgbClr val="96C0FF"/>
              </a:gs>
            </a:gsLst>
            <a:lin ang="16200000" scaled="0"/>
          </a:gra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2"/>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Refactor is your friend!</a:t>
            </a:r>
            <a:endParaRPr/>
          </a:p>
        </p:txBody>
      </p:sp>
      <p:cxnSp>
        <p:nvCxnSpPr>
          <p:cNvPr id="226" name="Google Shape;226;p12"/>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27" name="Google Shape;227;p1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8" name="Google Shape;228;p12"/>
          <p:cNvSpPr/>
          <p:nvPr/>
        </p:nvSpPr>
        <p:spPr>
          <a:xfrm>
            <a:off x="155575" y="721406"/>
            <a:ext cx="4167043" cy="369331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ID" sz="1800">
                <a:solidFill>
                  <a:schemeClr val="dk1"/>
                </a:solidFill>
                <a:latin typeface="Arial"/>
                <a:ea typeface="Arial"/>
                <a:cs typeface="Arial"/>
                <a:sym typeface="Arial"/>
              </a:rPr>
              <a:t>Instead of creating the method manually (cutting the whole </a:t>
            </a:r>
            <a:r>
              <a:rPr lang="en-ID" sz="1800">
                <a:solidFill>
                  <a:schemeClr val="dk1"/>
                </a:solidFill>
                <a:latin typeface="Consolas"/>
                <a:ea typeface="Consolas"/>
                <a:cs typeface="Consolas"/>
                <a:sym typeface="Consolas"/>
              </a:rPr>
              <a:t>Drawer()</a:t>
            </a:r>
            <a:r>
              <a:rPr lang="en-ID" sz="1800">
                <a:solidFill>
                  <a:schemeClr val="dk1"/>
                </a:solidFill>
                <a:latin typeface="Arial"/>
                <a:ea typeface="Arial"/>
                <a:cs typeface="Arial"/>
                <a:sym typeface="Arial"/>
              </a:rPr>
              <a:t> code, creating a new method, and pasting your code inside the new method), use the </a:t>
            </a:r>
            <a:r>
              <a:rPr b="1" lang="en-ID" sz="1800">
                <a:solidFill>
                  <a:schemeClr val="dk1"/>
                </a:solidFill>
                <a:latin typeface="Arial"/>
                <a:ea typeface="Arial"/>
                <a:cs typeface="Arial"/>
                <a:sym typeface="Arial"/>
              </a:rPr>
              <a:t>Refactor</a:t>
            </a:r>
            <a:r>
              <a:rPr lang="en-ID" sz="1800">
                <a:solidFill>
                  <a:schemeClr val="dk1"/>
                </a:solidFill>
                <a:latin typeface="Arial"/>
                <a:ea typeface="Arial"/>
                <a:cs typeface="Arial"/>
                <a:sym typeface="Arial"/>
              </a:rPr>
              <a:t> feature of your IDE.</a:t>
            </a:r>
            <a:endParaRPr/>
          </a:p>
          <a:p>
            <a:pPr indent="0" lvl="0" marL="0" marR="0" rtl="0" algn="just">
              <a:spcBef>
                <a:spcPts val="0"/>
              </a:spcBef>
              <a:spcAft>
                <a:spcPts val="0"/>
              </a:spcAft>
              <a:buNone/>
            </a:pPr>
            <a:r>
              <a:t/>
            </a:r>
            <a:endParaRPr sz="1800">
              <a:solidFill>
                <a:schemeClr val="dk1"/>
              </a:solidFill>
              <a:latin typeface="Arial"/>
              <a:ea typeface="Arial"/>
              <a:cs typeface="Arial"/>
              <a:sym typeface="Arial"/>
            </a:endParaRPr>
          </a:p>
          <a:p>
            <a:pPr indent="0" lvl="0" marL="0" marR="0" rtl="0" algn="just">
              <a:spcBef>
                <a:spcPts val="0"/>
              </a:spcBef>
              <a:spcAft>
                <a:spcPts val="0"/>
              </a:spcAft>
              <a:buNone/>
            </a:pPr>
            <a:r>
              <a:rPr lang="en-ID" sz="1800">
                <a:solidFill>
                  <a:schemeClr val="dk1"/>
                </a:solidFill>
                <a:latin typeface="Arial"/>
                <a:ea typeface="Arial"/>
                <a:cs typeface="Arial"/>
                <a:sym typeface="Arial"/>
              </a:rPr>
              <a:t>Usually: Right click on the </a:t>
            </a:r>
            <a:r>
              <a:rPr lang="en-ID" sz="1800">
                <a:solidFill>
                  <a:schemeClr val="dk1"/>
                </a:solidFill>
              </a:rPr>
              <a:t>widget name Drawer select </a:t>
            </a:r>
            <a:r>
              <a:rPr b="1" lang="en-ID" sz="1800">
                <a:solidFill>
                  <a:schemeClr val="dk1"/>
                </a:solidFill>
                <a:latin typeface="Arial"/>
                <a:ea typeface="Arial"/>
                <a:cs typeface="Arial"/>
                <a:sym typeface="Arial"/>
              </a:rPr>
              <a:t>Refactor </a:t>
            </a:r>
            <a:r>
              <a:rPr lang="en-ID" sz="1800">
                <a:solidFill>
                  <a:schemeClr val="dk1"/>
                </a:solidFill>
              </a:rPr>
              <a:t>and select</a:t>
            </a:r>
            <a:r>
              <a:rPr b="1" lang="en-ID" sz="1800">
                <a:solidFill>
                  <a:schemeClr val="dk1"/>
                </a:solidFill>
                <a:latin typeface="Arial"/>
                <a:ea typeface="Arial"/>
                <a:cs typeface="Arial"/>
                <a:sym typeface="Arial"/>
              </a:rPr>
              <a:t> Extract Method.</a:t>
            </a:r>
            <a:endParaRPr/>
          </a:p>
          <a:p>
            <a:pPr indent="0" lvl="0" marL="0" marR="0" rtl="0" algn="just">
              <a:spcBef>
                <a:spcPts val="0"/>
              </a:spcBef>
              <a:spcAft>
                <a:spcPts val="0"/>
              </a:spcAft>
              <a:buNone/>
            </a:pPr>
            <a:r>
              <a:rPr lang="en-ID" sz="1800">
                <a:solidFill>
                  <a:schemeClr val="dk1"/>
                </a:solidFill>
                <a:latin typeface="Arial"/>
                <a:ea typeface="Arial"/>
                <a:cs typeface="Arial"/>
                <a:sym typeface="Arial"/>
              </a:rPr>
              <a:t>Give your method a name, then you’re done.</a:t>
            </a:r>
            <a:endParaRPr sz="1800">
              <a:solidFill>
                <a:schemeClr val="dk1"/>
              </a:solidFill>
              <a:latin typeface="Arial"/>
              <a:ea typeface="Arial"/>
              <a:cs typeface="Arial"/>
              <a:sym typeface="Arial"/>
            </a:endParaRPr>
          </a:p>
          <a:p>
            <a:pPr indent="0" lvl="0" marL="0" marR="0" rtl="0" algn="just">
              <a:spcBef>
                <a:spcPts val="0"/>
              </a:spcBef>
              <a:spcAft>
                <a:spcPts val="0"/>
              </a:spcAft>
              <a:buNone/>
            </a:pPr>
            <a:r>
              <a:t/>
            </a:r>
            <a:endParaRPr sz="1800">
              <a:solidFill>
                <a:schemeClr val="dk1"/>
              </a:solidFill>
              <a:latin typeface="Arial"/>
              <a:ea typeface="Arial"/>
              <a:cs typeface="Arial"/>
              <a:sym typeface="Arial"/>
            </a:endParaRPr>
          </a:p>
        </p:txBody>
      </p:sp>
      <p:pic>
        <p:nvPicPr>
          <p:cNvPr id="229" name="Google Shape;229;p12"/>
          <p:cNvPicPr preferRelativeResize="0"/>
          <p:nvPr/>
        </p:nvPicPr>
        <p:blipFill rotWithShape="1">
          <a:blip r:embed="rId3">
            <a:alphaModFix/>
          </a:blip>
          <a:srcRect b="0" l="0" r="0" t="0"/>
          <a:stretch/>
        </p:blipFill>
        <p:spPr>
          <a:xfrm>
            <a:off x="4370696" y="1802122"/>
            <a:ext cx="4739424" cy="3289924"/>
          </a:xfrm>
          <a:prstGeom prst="rect">
            <a:avLst/>
          </a:prstGeom>
          <a:noFill/>
          <a:ln>
            <a:noFill/>
          </a:ln>
        </p:spPr>
      </p:pic>
      <p:pic>
        <p:nvPicPr>
          <p:cNvPr id="230" name="Google Shape;230;p12"/>
          <p:cNvPicPr preferRelativeResize="0"/>
          <p:nvPr/>
        </p:nvPicPr>
        <p:blipFill>
          <a:blip r:embed="rId4">
            <a:alphaModFix/>
          </a:blip>
          <a:stretch>
            <a:fillRect/>
          </a:stretch>
        </p:blipFill>
        <p:spPr>
          <a:xfrm>
            <a:off x="5176600" y="704088"/>
            <a:ext cx="2417135" cy="970900"/>
          </a:xfrm>
          <a:prstGeom prst="rect">
            <a:avLst/>
          </a:prstGeom>
          <a:noFill/>
          <a:ln>
            <a:noFill/>
          </a:ln>
        </p:spPr>
      </p:pic>
      <p:sp>
        <p:nvSpPr>
          <p:cNvPr id="231" name="Google Shape;231;p12"/>
          <p:cNvSpPr/>
          <p:nvPr/>
        </p:nvSpPr>
        <p:spPr>
          <a:xfrm>
            <a:off x="5732875" y="329100"/>
            <a:ext cx="1604100" cy="304800"/>
          </a:xfrm>
          <a:prstGeom prst="wedgeRectCallout">
            <a:avLst>
              <a:gd fmla="val -33997" name="adj1"/>
              <a:gd fmla="val 91568"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ID"/>
              <a:t>right click here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5" name="Shape 235"/>
        <p:cNvGrpSpPr/>
        <p:nvPr/>
      </p:nvGrpSpPr>
      <p:grpSpPr>
        <a:xfrm>
          <a:off x="0" y="0"/>
          <a:ext cx="0" cy="0"/>
          <a:chOff x="0" y="0"/>
          <a:chExt cx="0" cy="0"/>
        </a:xfrm>
      </p:grpSpPr>
      <p:sp>
        <p:nvSpPr>
          <p:cNvPr id="236" name="Google Shape;236;p13"/>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4800"/>
              <a:buFont typeface="Arial"/>
              <a:buNone/>
            </a:pPr>
            <a:r>
              <a:rPr b="1" lang="en-ID" sz="4800">
                <a:solidFill>
                  <a:srgbClr val="DAE5F1"/>
                </a:solidFill>
              </a:rPr>
              <a:t>OPEN NEW SCREEN</a:t>
            </a:r>
            <a:endParaRPr/>
          </a:p>
        </p:txBody>
      </p:sp>
      <p:sp>
        <p:nvSpPr>
          <p:cNvPr id="237" name="Google Shape;237;p13"/>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03</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4"/>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Make a new screen</a:t>
            </a:r>
            <a:endParaRPr/>
          </a:p>
        </p:txBody>
      </p:sp>
      <p:cxnSp>
        <p:nvCxnSpPr>
          <p:cNvPr id="243" name="Google Shape;243;p1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44" name="Google Shape;244;p14"/>
          <p:cNvSpPr txBox="1"/>
          <p:nvPr>
            <p:ph idx="1" type="body"/>
          </p:nvPr>
        </p:nvSpPr>
        <p:spPr>
          <a:xfrm>
            <a:off x="155575" y="737275"/>
            <a:ext cx="3830400" cy="1114500"/>
          </a:xfrm>
          <a:prstGeom prst="rect">
            <a:avLst/>
          </a:prstGeom>
          <a:noFill/>
          <a:ln>
            <a:noFill/>
          </a:ln>
        </p:spPr>
        <p:txBody>
          <a:bodyPr anchorCtr="0" anchor="t" bIns="45700" lIns="91425" spcFirstLastPara="1" rIns="91425" wrap="square" tIns="45700">
            <a:noAutofit/>
          </a:bodyPr>
          <a:lstStyle/>
          <a:p>
            <a:pPr indent="-330200" lvl="0" marL="457200" rtl="0" algn="l">
              <a:spcBef>
                <a:spcPts val="0"/>
              </a:spcBef>
              <a:spcAft>
                <a:spcPts val="0"/>
              </a:spcAft>
              <a:buSzPts val="1600"/>
              <a:buChar char="•"/>
            </a:pPr>
            <a:r>
              <a:rPr lang="en-ID" sz="1600"/>
              <a:t>You can put a new screen file inside lib folder or put in a specific folder inside lib folder for structure neatness. </a:t>
            </a:r>
            <a:endParaRPr/>
          </a:p>
          <a:p>
            <a:pPr indent="-330200" lvl="0" marL="457200" rtl="0" algn="l">
              <a:spcBef>
                <a:spcPts val="0"/>
              </a:spcBef>
              <a:spcAft>
                <a:spcPts val="0"/>
              </a:spcAft>
              <a:buSzPts val="1600"/>
              <a:buChar char="•"/>
            </a:pPr>
            <a:r>
              <a:rPr lang="en-ID" sz="1600"/>
              <a:t>We will create an about screen and save in </a:t>
            </a:r>
            <a:r>
              <a:rPr b="1" lang="en-ID" sz="1600"/>
              <a:t>lib\screen\about.dart </a:t>
            </a:r>
            <a:r>
              <a:rPr lang="en-ID" sz="1600"/>
              <a:t>using stateless skeleton.</a:t>
            </a:r>
            <a:endParaRPr sz="1600"/>
          </a:p>
          <a:p>
            <a:pPr indent="-330200" lvl="0" marL="457200" rtl="0" algn="l">
              <a:spcBef>
                <a:spcPts val="0"/>
              </a:spcBef>
              <a:spcAft>
                <a:spcPts val="0"/>
              </a:spcAft>
              <a:buSzPts val="1600"/>
              <a:buChar char="•"/>
            </a:pPr>
            <a:r>
              <a:rPr lang="en-ID" sz="1600"/>
              <a:t>Right click on lib folder and choose “new file”. And then type “about.dart”, press enter.</a:t>
            </a:r>
            <a:endParaRPr sz="1600"/>
          </a:p>
          <a:p>
            <a:pPr indent="-330200" lvl="0" marL="457200" rtl="0" algn="l">
              <a:spcBef>
                <a:spcPts val="0"/>
              </a:spcBef>
              <a:spcAft>
                <a:spcPts val="0"/>
              </a:spcAft>
              <a:buSzPts val="1600"/>
              <a:buChar char="•"/>
            </a:pPr>
            <a:r>
              <a:rPr lang="en-ID" sz="1600"/>
              <a:t>Tips: you can use flutter snippet </a:t>
            </a:r>
            <a:r>
              <a:rPr lang="en-ID" sz="1600">
                <a:latin typeface="Consolas"/>
                <a:ea typeface="Consolas"/>
                <a:cs typeface="Consolas"/>
                <a:sym typeface="Consolas"/>
              </a:rPr>
              <a:t>stless</a:t>
            </a:r>
            <a:r>
              <a:rPr lang="en-ID" sz="1600"/>
              <a:t> or </a:t>
            </a:r>
            <a:r>
              <a:rPr lang="en-ID" sz="1600">
                <a:latin typeface="Consolas"/>
                <a:ea typeface="Consolas"/>
                <a:cs typeface="Consolas"/>
                <a:sym typeface="Consolas"/>
              </a:rPr>
              <a:t>stful</a:t>
            </a:r>
            <a:r>
              <a:rPr lang="en-ID" sz="1600"/>
              <a:t> in the about.dart to start generate boilerplate template class</a:t>
            </a:r>
            <a:endParaRPr sz="1600"/>
          </a:p>
        </p:txBody>
      </p:sp>
      <p:sp>
        <p:nvSpPr>
          <p:cNvPr descr="Google's Flutter framework spreads its wings and goes multi-platform |  TechCrunch" id="245" name="Google Shape;245;p1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6" name="Google Shape;246;p14"/>
          <p:cNvSpPr/>
          <p:nvPr/>
        </p:nvSpPr>
        <p:spPr>
          <a:xfrm>
            <a:off x="4114800" y="737275"/>
            <a:ext cx="4907700" cy="3754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import 'package:flutter/material.dart';</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class About extends StatelessWidget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const About({super.key});</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@override</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Widget build(BuildContext context)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return Scaffold(</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appBar: AppBar(title: const Text('About')),</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body: const Center(child: Text("This is About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a:t>
            </a:r>
            <a:endParaRPr sz="1200">
              <a:solidFill>
                <a:srgbClr val="FF0000"/>
              </a:solidFill>
              <a:latin typeface="Consolas"/>
              <a:ea typeface="Consolas"/>
              <a:cs typeface="Consolas"/>
              <a:sym typeface="Consolas"/>
            </a:endParaRPr>
          </a:p>
          <a:p>
            <a:pPr indent="0" lvl="0" marL="0" rtl="0" algn="l">
              <a:spcBef>
                <a:spcPts val="0"/>
              </a:spcBef>
              <a:spcAft>
                <a:spcPts val="0"/>
              </a:spcAft>
              <a:buSzPts val="1100"/>
              <a:buNone/>
            </a:pPr>
            <a:r>
              <a:rPr lang="en-ID" sz="1200">
                <a:solidFill>
                  <a:srgbClr val="FF0000"/>
                </a:solidFill>
                <a:latin typeface="Consolas"/>
                <a:ea typeface="Consolas"/>
                <a:cs typeface="Consolas"/>
                <a:sym typeface="Consolas"/>
              </a:rPr>
              <a:t>}</a:t>
            </a:r>
            <a:endParaRPr sz="1200">
              <a:solidFill>
                <a:srgbClr val="FF0000"/>
              </a:solidFill>
              <a:latin typeface="Consolas"/>
              <a:ea typeface="Consolas"/>
              <a:cs typeface="Consolas"/>
              <a:sym typeface="Consolas"/>
            </a:endParaRPr>
          </a:p>
        </p:txBody>
      </p:sp>
      <p:pic>
        <p:nvPicPr>
          <p:cNvPr id="247" name="Google Shape;247;p14"/>
          <p:cNvPicPr preferRelativeResize="0"/>
          <p:nvPr/>
        </p:nvPicPr>
        <p:blipFill>
          <a:blip r:embed="rId3">
            <a:alphaModFix/>
          </a:blip>
          <a:stretch>
            <a:fillRect/>
          </a:stretch>
        </p:blipFill>
        <p:spPr>
          <a:xfrm>
            <a:off x="2377075" y="4173750"/>
            <a:ext cx="1390025" cy="875200"/>
          </a:xfrm>
          <a:prstGeom prst="rect">
            <a:avLst/>
          </a:prstGeom>
          <a:noFill/>
          <a:ln>
            <a:noFill/>
          </a:ln>
        </p:spPr>
      </p:pic>
      <p:sp>
        <p:nvSpPr>
          <p:cNvPr id="248" name="Google Shape;248;p14"/>
          <p:cNvSpPr txBox="1"/>
          <p:nvPr/>
        </p:nvSpPr>
        <p:spPr>
          <a:xfrm>
            <a:off x="4953350" y="3786850"/>
            <a:ext cx="3950700" cy="1262100"/>
          </a:xfrm>
          <a:prstGeom prst="rect">
            <a:avLst/>
          </a:prstGeom>
          <a:solidFill>
            <a:schemeClr val="accen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D">
                <a:solidFill>
                  <a:schemeClr val="lt1"/>
                </a:solidFill>
              </a:rPr>
              <a:t>super.key → passes a unique Key to the parent class (StatelessWidget / StatefulWidget). Helps Flutter differentiate widgets in the tree. It prevents unnecessary </a:t>
            </a:r>
            <a:r>
              <a:rPr b="1" lang="en-ID">
                <a:solidFill>
                  <a:schemeClr val="lt1"/>
                </a:solidFill>
              </a:rPr>
              <a:t>rebuilds</a:t>
            </a:r>
            <a:r>
              <a:rPr lang="en-ID">
                <a:solidFill>
                  <a:schemeClr val="lt1"/>
                </a:solidFill>
              </a:rPr>
              <a:t> and ensures state consistency.</a:t>
            </a:r>
            <a:endParaRPr>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5"/>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Navigator Push</a:t>
            </a:r>
            <a:endParaRPr/>
          </a:p>
        </p:txBody>
      </p:sp>
      <p:cxnSp>
        <p:nvCxnSpPr>
          <p:cNvPr id="254" name="Google Shape;254;p1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55" name="Google Shape;255;p15"/>
          <p:cNvSpPr txBox="1"/>
          <p:nvPr>
            <p:ph idx="1" type="body"/>
          </p:nvPr>
        </p:nvSpPr>
        <p:spPr>
          <a:xfrm>
            <a:off x="460375" y="779094"/>
            <a:ext cx="8151900" cy="1539600"/>
          </a:xfrm>
          <a:prstGeom prst="rect">
            <a:avLst/>
          </a:prstGeom>
          <a:noFill/>
          <a:ln>
            <a:noFill/>
          </a:ln>
        </p:spPr>
        <p:txBody>
          <a:bodyPr anchorCtr="0" anchor="t" bIns="45700" lIns="91425" spcFirstLastPara="1" rIns="91425" wrap="square" tIns="45700">
            <a:noAutofit/>
          </a:bodyPr>
          <a:lstStyle/>
          <a:p>
            <a:pPr indent="-342900" lvl="0" marL="457200" rtl="0" algn="l">
              <a:spcBef>
                <a:spcPts val="0"/>
              </a:spcBef>
              <a:spcAft>
                <a:spcPts val="0"/>
              </a:spcAft>
              <a:buSzPts val="1800"/>
              <a:buChar char="•"/>
            </a:pPr>
            <a:r>
              <a:rPr lang="en-ID" sz="1800"/>
              <a:t>The </a:t>
            </a:r>
            <a:r>
              <a:rPr lang="en-ID" sz="1800">
                <a:latin typeface="Consolas"/>
                <a:ea typeface="Consolas"/>
                <a:cs typeface="Consolas"/>
                <a:sym typeface="Consolas"/>
              </a:rPr>
              <a:t>push()</a:t>
            </a:r>
            <a:r>
              <a:rPr lang="en-ID" sz="1800"/>
              <a:t> method adds a Route to the </a:t>
            </a:r>
            <a:r>
              <a:rPr b="1" lang="en-ID" sz="1800"/>
              <a:t>stack</a:t>
            </a:r>
            <a:r>
              <a:rPr lang="en-ID" sz="1800"/>
              <a:t> of routes managed by the Navigator. Where does the Route come from? You can create your own, or use a </a:t>
            </a:r>
            <a:r>
              <a:rPr lang="en-ID" sz="1800" u="sng">
                <a:solidFill>
                  <a:schemeClr val="hlink"/>
                </a:solidFill>
                <a:hlinkClick r:id="rId3"/>
              </a:rPr>
              <a:t>MaterialPageRoute</a:t>
            </a:r>
            <a:r>
              <a:rPr lang="en-ID" sz="1800"/>
              <a:t>, which is useful because it transitions to the new route using a platform-specific animation.</a:t>
            </a:r>
            <a:endParaRPr/>
          </a:p>
          <a:p>
            <a:pPr indent="-342900" lvl="0" marL="457200" rtl="0" algn="l">
              <a:spcBef>
                <a:spcPts val="0"/>
              </a:spcBef>
              <a:spcAft>
                <a:spcPts val="0"/>
              </a:spcAft>
              <a:buSzPts val="1800"/>
              <a:buChar char="•"/>
            </a:pPr>
            <a:r>
              <a:rPr lang="en-ID" sz="1800"/>
              <a:t>Add new ListTile in drawer that push the about screen</a:t>
            </a:r>
            <a:endParaRPr sz="1800"/>
          </a:p>
          <a:p>
            <a:pPr indent="-342900" lvl="0" marL="457200" rtl="0" algn="l">
              <a:spcBef>
                <a:spcPts val="0"/>
              </a:spcBef>
              <a:spcAft>
                <a:spcPts val="0"/>
              </a:spcAft>
              <a:buSzPts val="1800"/>
              <a:buChar char="•"/>
            </a:pPr>
            <a:r>
              <a:rPr lang="en-ID" sz="1800"/>
              <a:t>Go back to main.dart, add following code inside drawer (below ListTile MyBasket</a:t>
            </a:r>
            <a:endParaRPr sz="1800">
              <a:solidFill>
                <a:srgbClr val="0070C0"/>
              </a:solidFill>
            </a:endParaRPr>
          </a:p>
        </p:txBody>
      </p:sp>
      <p:sp>
        <p:nvSpPr>
          <p:cNvPr descr="Google's Flutter framework spreads its wings and goes multi-platform |  TechCrunch" id="256" name="Google Shape;256;p1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7" name="Google Shape;257;p15"/>
          <p:cNvSpPr/>
          <p:nvPr/>
        </p:nvSpPr>
        <p:spPr>
          <a:xfrm>
            <a:off x="988191" y="2933153"/>
            <a:ext cx="7623300" cy="1600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ListTile(</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title: const Text("About"),</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leading: const Icon(Icons.help),</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onTap: ()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Navigator.push(</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context,</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MaterialPageRoute(builder: (context) =&gt; const About()),</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200">
              <a:solidFill>
                <a:srgbClr val="FF000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FF0000"/>
              </a:solidFill>
              <a:latin typeface="Consolas"/>
              <a:ea typeface="Consolas"/>
              <a:cs typeface="Consolas"/>
              <a:sym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6"/>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Result</a:t>
            </a:r>
            <a:endParaRPr/>
          </a:p>
        </p:txBody>
      </p:sp>
      <p:cxnSp>
        <p:nvCxnSpPr>
          <p:cNvPr id="263" name="Google Shape;263;p1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64" name="Google Shape;264;p1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265" name="Google Shape;265;p16"/>
          <p:cNvPicPr preferRelativeResize="0"/>
          <p:nvPr/>
        </p:nvPicPr>
        <p:blipFill rotWithShape="1">
          <a:blip r:embed="rId3">
            <a:alphaModFix/>
          </a:blip>
          <a:srcRect b="0" l="0" r="0" t="0"/>
          <a:stretch/>
        </p:blipFill>
        <p:spPr>
          <a:xfrm>
            <a:off x="1468266" y="721406"/>
            <a:ext cx="1967121" cy="4079466"/>
          </a:xfrm>
          <a:prstGeom prst="rect">
            <a:avLst/>
          </a:prstGeom>
          <a:noFill/>
          <a:ln>
            <a:noFill/>
          </a:ln>
        </p:spPr>
      </p:pic>
      <p:pic>
        <p:nvPicPr>
          <p:cNvPr id="266" name="Google Shape;266;p16"/>
          <p:cNvPicPr preferRelativeResize="0"/>
          <p:nvPr/>
        </p:nvPicPr>
        <p:blipFill rotWithShape="1">
          <a:blip r:embed="rId4">
            <a:alphaModFix/>
          </a:blip>
          <a:srcRect b="0" l="0" r="0" t="0"/>
          <a:stretch/>
        </p:blipFill>
        <p:spPr>
          <a:xfrm>
            <a:off x="3976334" y="721406"/>
            <a:ext cx="1967121" cy="4079466"/>
          </a:xfrm>
          <a:prstGeom prst="rect">
            <a:avLst/>
          </a:prstGeom>
          <a:noFill/>
          <a:ln>
            <a:noFill/>
          </a:ln>
        </p:spPr>
      </p:pic>
      <p:cxnSp>
        <p:nvCxnSpPr>
          <p:cNvPr id="267" name="Google Shape;267;p16"/>
          <p:cNvCxnSpPr/>
          <p:nvPr/>
        </p:nvCxnSpPr>
        <p:spPr>
          <a:xfrm>
            <a:off x="2124891" y="2307771"/>
            <a:ext cx="1851443" cy="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7647"/>
              </a:srgbClr>
            </a:outerShdw>
          </a:effectLst>
        </p:spPr>
      </p:cxnSp>
      <p:cxnSp>
        <p:nvCxnSpPr>
          <p:cNvPr id="268" name="Google Shape;268;p16"/>
          <p:cNvCxnSpPr/>
          <p:nvPr/>
        </p:nvCxnSpPr>
        <p:spPr>
          <a:xfrm rot="10800000">
            <a:off x="3435387" y="1153886"/>
            <a:ext cx="656625" cy="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7647"/>
              </a:srgbClr>
            </a:outerShdw>
          </a:effectLst>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7"/>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Named Route</a:t>
            </a:r>
            <a:endParaRPr/>
          </a:p>
        </p:txBody>
      </p:sp>
      <p:cxnSp>
        <p:nvCxnSpPr>
          <p:cNvPr id="274" name="Google Shape;274;p1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75" name="Google Shape;275;p17"/>
          <p:cNvSpPr txBox="1"/>
          <p:nvPr>
            <p:ph idx="1" type="body"/>
          </p:nvPr>
        </p:nvSpPr>
        <p:spPr>
          <a:xfrm>
            <a:off x="460375" y="817124"/>
            <a:ext cx="8151997" cy="1539723"/>
          </a:xfrm>
          <a:prstGeom prst="rect">
            <a:avLst/>
          </a:prstGeom>
          <a:noFill/>
          <a:ln>
            <a:noFill/>
          </a:ln>
        </p:spPr>
        <p:txBody>
          <a:bodyPr anchorCtr="0" anchor="t" bIns="45700" lIns="91425" spcFirstLastPara="1" rIns="91425" wrap="square" tIns="45700">
            <a:noAutofit/>
          </a:bodyPr>
          <a:lstStyle/>
          <a:p>
            <a:pPr indent="-342900" lvl="0" marL="457200" rtl="0" algn="l">
              <a:spcBef>
                <a:spcPts val="0"/>
              </a:spcBef>
              <a:spcAft>
                <a:spcPts val="0"/>
              </a:spcAft>
              <a:buSzPts val="1800"/>
              <a:buChar char="•"/>
            </a:pPr>
            <a:r>
              <a:rPr lang="en-ID" sz="1800"/>
              <a:t>The route can be named in order to shorten the route calling. </a:t>
            </a:r>
            <a:endParaRPr sz="1800"/>
          </a:p>
          <a:p>
            <a:pPr indent="-342900" lvl="0" marL="457200" rtl="0" algn="l">
              <a:spcBef>
                <a:spcPts val="0"/>
              </a:spcBef>
              <a:spcAft>
                <a:spcPts val="0"/>
              </a:spcAft>
              <a:buSzPts val="1800"/>
              <a:buChar char="•"/>
            </a:pPr>
            <a:r>
              <a:rPr lang="en-ID" sz="1800"/>
              <a:t>Still in main.dart, add following import:</a:t>
            </a:r>
            <a:endParaRPr sz="1800"/>
          </a:p>
          <a:p>
            <a:pPr indent="0" lvl="0" marL="457200" rtl="0" algn="l">
              <a:spcBef>
                <a:spcPts val="360"/>
              </a:spcBef>
              <a:spcAft>
                <a:spcPts val="0"/>
              </a:spcAft>
              <a:buNone/>
            </a:pPr>
            <a:r>
              <a:rPr lang="en-ID" sz="1800">
                <a:latin typeface="Consolas"/>
                <a:ea typeface="Consolas"/>
                <a:cs typeface="Consolas"/>
                <a:sym typeface="Consolas"/>
              </a:rPr>
              <a:t>import 'about.dart';</a:t>
            </a:r>
            <a:endParaRPr sz="1800">
              <a:latin typeface="Consolas"/>
              <a:ea typeface="Consolas"/>
              <a:cs typeface="Consolas"/>
              <a:sym typeface="Consolas"/>
            </a:endParaRPr>
          </a:p>
          <a:p>
            <a:pPr indent="-342900" lvl="0" marL="457200" rtl="0" algn="l">
              <a:spcBef>
                <a:spcPts val="360"/>
              </a:spcBef>
              <a:spcAft>
                <a:spcPts val="0"/>
              </a:spcAft>
              <a:buSzPts val="1800"/>
              <a:buChar char="•"/>
            </a:pPr>
            <a:r>
              <a:rPr lang="en-ID" sz="1800"/>
              <a:t>And then add</a:t>
            </a:r>
            <a:r>
              <a:rPr lang="en-ID" sz="1800"/>
              <a:t> this code in MaterialApp(..</a:t>
            </a:r>
            <a:endParaRPr/>
          </a:p>
          <a:p>
            <a:pPr indent="0" lvl="0" marL="0" rtl="0" algn="l">
              <a:spcBef>
                <a:spcPts val="360"/>
              </a:spcBef>
              <a:spcAft>
                <a:spcPts val="0"/>
              </a:spcAft>
              <a:buNone/>
            </a:pPr>
            <a:r>
              <a:t/>
            </a:r>
            <a:endParaRPr sz="1800">
              <a:solidFill>
                <a:srgbClr val="0070C0"/>
              </a:solidFill>
            </a:endParaRPr>
          </a:p>
        </p:txBody>
      </p:sp>
      <p:sp>
        <p:nvSpPr>
          <p:cNvPr descr="Google's Flutter framework spreads its wings and goes multi-platform |  TechCrunch" id="276" name="Google Shape;276;p1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7" name="Google Shape;277;p17"/>
          <p:cNvSpPr/>
          <p:nvPr/>
        </p:nvSpPr>
        <p:spPr>
          <a:xfrm>
            <a:off x="0" y="2110050"/>
            <a:ext cx="76221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a:solidFill>
                  <a:srgbClr val="FF0000"/>
                </a:solidFill>
                <a:latin typeface="Consolas"/>
                <a:ea typeface="Consolas"/>
                <a:cs typeface="Consolas"/>
                <a:sym typeface="Consolas"/>
              </a:rPr>
              <a:t>	 	     routes: {</a:t>
            </a:r>
            <a:endParaRPr>
              <a:latin typeface="Consolas"/>
              <a:ea typeface="Consolas"/>
              <a:cs typeface="Consolas"/>
              <a:sym typeface="Consolas"/>
            </a:endParaRPr>
          </a:p>
          <a:p>
            <a:pPr indent="0" lvl="0" marL="0" marR="0" rtl="0" algn="l">
              <a:spcBef>
                <a:spcPts val="0"/>
              </a:spcBef>
              <a:spcAft>
                <a:spcPts val="0"/>
              </a:spcAft>
              <a:buNone/>
            </a:pPr>
            <a:r>
              <a:rPr lang="en-ID">
                <a:solidFill>
                  <a:srgbClr val="FF0000"/>
                </a:solidFill>
                <a:latin typeface="Consolas"/>
                <a:ea typeface="Consolas"/>
                <a:cs typeface="Consolas"/>
                <a:sym typeface="Consolas"/>
              </a:rPr>
              <a:t>  			   'about': (context) =&gt;const About(),</a:t>
            </a:r>
            <a:endParaRPr>
              <a:latin typeface="Consolas"/>
              <a:ea typeface="Consolas"/>
              <a:cs typeface="Consolas"/>
              <a:sym typeface="Consolas"/>
            </a:endParaRPr>
          </a:p>
          <a:p>
            <a:pPr indent="0" lvl="0" marL="0" marR="0" rtl="0" algn="l">
              <a:spcBef>
                <a:spcPts val="0"/>
              </a:spcBef>
              <a:spcAft>
                <a:spcPts val="0"/>
              </a:spcAft>
              <a:buNone/>
            </a:pPr>
            <a:r>
              <a:rPr lang="en-ID">
                <a:solidFill>
                  <a:srgbClr val="FF0000"/>
                </a:solidFill>
                <a:latin typeface="Consolas"/>
                <a:ea typeface="Consolas"/>
                <a:cs typeface="Consolas"/>
                <a:sym typeface="Consolas"/>
              </a:rPr>
              <a:t>   			},</a:t>
            </a:r>
            <a:endParaRPr>
              <a:solidFill>
                <a:srgbClr val="FF0000"/>
              </a:solidFill>
              <a:latin typeface="Consolas"/>
              <a:ea typeface="Consolas"/>
              <a:cs typeface="Consolas"/>
              <a:sym typeface="Consolas"/>
            </a:endParaRPr>
          </a:p>
        </p:txBody>
      </p:sp>
      <p:sp>
        <p:nvSpPr>
          <p:cNvPr id="278" name="Google Shape;278;p17"/>
          <p:cNvSpPr txBox="1"/>
          <p:nvPr/>
        </p:nvSpPr>
        <p:spPr>
          <a:xfrm>
            <a:off x="2485633" y="2884535"/>
            <a:ext cx="3474600" cy="36930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You can add another route here</a:t>
            </a:r>
            <a:endParaRPr/>
          </a:p>
        </p:txBody>
      </p:sp>
      <p:cxnSp>
        <p:nvCxnSpPr>
          <p:cNvPr id="279" name="Google Shape;279;p17"/>
          <p:cNvCxnSpPr>
            <a:stCxn id="278" idx="1"/>
          </p:cNvCxnSpPr>
          <p:nvPr/>
        </p:nvCxnSpPr>
        <p:spPr>
          <a:xfrm rot="10800000">
            <a:off x="1772833" y="2676185"/>
            <a:ext cx="712800" cy="39300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7647"/>
              </a:srgbClr>
            </a:outerShdw>
          </a:effectLst>
        </p:spPr>
      </p:cxnSp>
      <p:sp>
        <p:nvSpPr>
          <p:cNvPr id="280" name="Google Shape;280;p17"/>
          <p:cNvSpPr txBox="1"/>
          <p:nvPr/>
        </p:nvSpPr>
        <p:spPr>
          <a:xfrm>
            <a:off x="456796" y="3895589"/>
            <a:ext cx="31085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And modify the route calling</a:t>
            </a:r>
            <a:endParaRPr/>
          </a:p>
        </p:txBody>
      </p:sp>
      <p:sp>
        <p:nvSpPr>
          <p:cNvPr id="281" name="Google Shape;281;p17"/>
          <p:cNvSpPr/>
          <p:nvPr/>
        </p:nvSpPr>
        <p:spPr>
          <a:xfrm>
            <a:off x="-720626" y="4300427"/>
            <a:ext cx="693161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r>
              <a:rPr lang="en-ID" sz="1800">
                <a:solidFill>
                  <a:srgbClr val="FF0000"/>
                </a:solidFill>
                <a:latin typeface="Consolas"/>
                <a:ea typeface="Consolas"/>
                <a:cs typeface="Consolas"/>
                <a:sym typeface="Consolas"/>
              </a:rPr>
              <a:t>Navigator.pushNamed(context, "about");</a:t>
            </a:r>
            <a:endParaRPr/>
          </a:p>
          <a:p>
            <a:pPr indent="0" lvl="0" marL="0" marR="0" rtl="0" algn="l">
              <a:spcBef>
                <a:spcPts val="0"/>
              </a:spcBef>
              <a:spcAft>
                <a:spcPts val="0"/>
              </a:spcAft>
              <a:buNone/>
            </a:pPr>
            <a:r>
              <a:t/>
            </a:r>
            <a:endParaRPr sz="1400">
              <a:solidFill>
                <a:srgbClr val="FF0000"/>
              </a:solidFill>
              <a:latin typeface="Consolas"/>
              <a:ea typeface="Consolas"/>
              <a:cs typeface="Consolas"/>
              <a:sym typeface="Consolas"/>
            </a:endParaRPr>
          </a:p>
        </p:txBody>
      </p:sp>
      <p:sp>
        <p:nvSpPr>
          <p:cNvPr id="282" name="Google Shape;282;p17"/>
          <p:cNvSpPr txBox="1"/>
          <p:nvPr/>
        </p:nvSpPr>
        <p:spPr>
          <a:xfrm>
            <a:off x="6400800" y="3977261"/>
            <a:ext cx="2429692" cy="646331"/>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Drawer often use</a:t>
            </a:r>
            <a:endParaRPr/>
          </a:p>
          <a:p>
            <a:pPr indent="0" lvl="0" marL="0" marR="0" rtl="0" algn="l">
              <a:spcBef>
                <a:spcPts val="0"/>
              </a:spcBef>
              <a:spcAft>
                <a:spcPts val="0"/>
              </a:spcAft>
              <a:buNone/>
            </a:pPr>
            <a:r>
              <a:rPr lang="en-ID" sz="1800">
                <a:solidFill>
                  <a:schemeClr val="dk1"/>
                </a:solidFill>
                <a:latin typeface="Arial"/>
                <a:ea typeface="Arial"/>
                <a:cs typeface="Arial"/>
                <a:sym typeface="Arial"/>
              </a:rPr>
              <a:t>popAndPushNamed </a:t>
            </a:r>
            <a:endParaRPr/>
          </a:p>
        </p:txBody>
      </p:sp>
      <p:pic>
        <p:nvPicPr>
          <p:cNvPr id="283" name="Google Shape;283;p17"/>
          <p:cNvPicPr preferRelativeResize="0"/>
          <p:nvPr/>
        </p:nvPicPr>
        <p:blipFill>
          <a:blip r:embed="rId3">
            <a:alphaModFix/>
          </a:blip>
          <a:stretch>
            <a:fillRect/>
          </a:stretch>
        </p:blipFill>
        <p:spPr>
          <a:xfrm>
            <a:off x="5401230" y="1269675"/>
            <a:ext cx="3600144" cy="15397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7" name="Shape 287"/>
        <p:cNvGrpSpPr/>
        <p:nvPr/>
      </p:nvGrpSpPr>
      <p:grpSpPr>
        <a:xfrm>
          <a:off x="0" y="0"/>
          <a:ext cx="0" cy="0"/>
          <a:chOff x="0" y="0"/>
          <a:chExt cx="0" cy="0"/>
        </a:xfrm>
      </p:grpSpPr>
      <p:sp>
        <p:nvSpPr>
          <p:cNvPr id="288" name="Google Shape;288;p18"/>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4800"/>
              <a:buFont typeface="Arial"/>
              <a:buNone/>
            </a:pPr>
            <a:r>
              <a:rPr b="1" lang="en-ID" sz="4800">
                <a:solidFill>
                  <a:srgbClr val="DAE5F1"/>
                </a:solidFill>
              </a:rPr>
              <a:t>ROUTING WITH PARAMETER</a:t>
            </a:r>
            <a:endParaRPr/>
          </a:p>
        </p:txBody>
      </p:sp>
      <p:sp>
        <p:nvSpPr>
          <p:cNvPr id="289" name="Google Shape;289;p18"/>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04</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9"/>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Preparation</a:t>
            </a:r>
            <a:endParaRPr/>
          </a:p>
        </p:txBody>
      </p:sp>
      <p:cxnSp>
        <p:nvCxnSpPr>
          <p:cNvPr id="295" name="Google Shape;295;p19"/>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96" name="Google Shape;296;p19"/>
          <p:cNvSpPr txBox="1"/>
          <p:nvPr>
            <p:ph idx="1" type="body"/>
          </p:nvPr>
        </p:nvSpPr>
        <p:spPr>
          <a:xfrm>
            <a:off x="307975" y="737281"/>
            <a:ext cx="8670562" cy="1114469"/>
          </a:xfrm>
          <a:prstGeom prst="rect">
            <a:avLst/>
          </a:prstGeom>
          <a:noFill/>
          <a:ln>
            <a:noFill/>
          </a:ln>
        </p:spPr>
        <p:txBody>
          <a:bodyPr anchorCtr="0" anchor="t" bIns="45700" lIns="91425" spcFirstLastPara="1" rIns="91425" wrap="square" tIns="45700">
            <a:noAutofit/>
          </a:bodyPr>
          <a:lstStyle/>
          <a:p>
            <a:pPr indent="-330200" lvl="0" marL="457200" rtl="0" algn="l">
              <a:spcBef>
                <a:spcPts val="0"/>
              </a:spcBef>
              <a:spcAft>
                <a:spcPts val="0"/>
              </a:spcAft>
              <a:buSzPts val="1600"/>
              <a:buChar char="•"/>
            </a:pPr>
            <a:r>
              <a:rPr lang="en-ID" sz="1600"/>
              <a:t>Sometime the screen content can be different depend on parameter we send to it. For example, a </a:t>
            </a:r>
            <a:r>
              <a:rPr b="1" lang="en-ID" sz="1600"/>
              <a:t>DetailProduct</a:t>
            </a:r>
            <a:r>
              <a:rPr lang="en-ID" sz="1600"/>
              <a:t> screen will show </a:t>
            </a:r>
            <a:r>
              <a:rPr b="1" lang="en-ID" sz="1600"/>
              <a:t>different product data and product image</a:t>
            </a:r>
            <a:r>
              <a:rPr lang="en-ID" sz="1600"/>
              <a:t> while it gets </a:t>
            </a:r>
            <a:r>
              <a:rPr b="1" lang="en-ID" sz="1600"/>
              <a:t>different parameter value</a:t>
            </a:r>
            <a:r>
              <a:rPr lang="en-ID" sz="1600"/>
              <a:t> which usually the </a:t>
            </a:r>
            <a:r>
              <a:rPr b="1" lang="en-ID" sz="1600"/>
              <a:t>productid</a:t>
            </a:r>
            <a:r>
              <a:rPr lang="en-ID" sz="1600"/>
              <a:t>. </a:t>
            </a:r>
            <a:endParaRPr/>
          </a:p>
          <a:p>
            <a:pPr indent="-330200" lvl="0" marL="457200" rtl="0" algn="l">
              <a:spcBef>
                <a:spcPts val="0"/>
              </a:spcBef>
              <a:spcAft>
                <a:spcPts val="0"/>
              </a:spcAft>
              <a:buSzPts val="1600"/>
              <a:buChar char="•"/>
            </a:pPr>
            <a:r>
              <a:rPr lang="en-ID" sz="1600"/>
              <a:t>We will try to simulate this with </a:t>
            </a:r>
            <a:r>
              <a:rPr b="1" lang="en-ID" sz="1600"/>
              <a:t>Basket</a:t>
            </a:r>
            <a:r>
              <a:rPr lang="en-ID" sz="1600"/>
              <a:t> and </a:t>
            </a:r>
            <a:r>
              <a:rPr b="1" lang="en-ID" sz="1600"/>
              <a:t>ItemBasket</a:t>
            </a:r>
            <a:r>
              <a:rPr lang="en-ID" sz="1600"/>
              <a:t> screen.</a:t>
            </a:r>
            <a:endParaRPr sz="1600"/>
          </a:p>
          <a:p>
            <a:pPr indent="0" lvl="0" marL="457200" rtl="0" algn="l">
              <a:spcBef>
                <a:spcPts val="320"/>
              </a:spcBef>
              <a:spcAft>
                <a:spcPts val="0"/>
              </a:spcAft>
              <a:buNone/>
            </a:pPr>
            <a:r>
              <a:t/>
            </a:r>
            <a:endParaRPr sz="1600"/>
          </a:p>
          <a:p>
            <a:pPr indent="-330200" lvl="0" marL="457200" rtl="0" algn="l">
              <a:spcBef>
                <a:spcPts val="320"/>
              </a:spcBef>
              <a:spcAft>
                <a:spcPts val="0"/>
              </a:spcAft>
              <a:buSzPts val="1600"/>
              <a:buChar char="•"/>
            </a:pPr>
            <a:r>
              <a:rPr lang="en-ID" sz="1600"/>
              <a:t>Create </a:t>
            </a:r>
            <a:r>
              <a:rPr b="1" lang="en-ID" sz="1600"/>
              <a:t>a new screen, the Basket screen</a:t>
            </a:r>
            <a:r>
              <a:rPr lang="en-ID" sz="1600"/>
              <a:t>. This screen is opened via our </a:t>
            </a:r>
            <a:r>
              <a:rPr b="1" lang="en-ID" sz="1600"/>
              <a:t>existing basket menu in drawer</a:t>
            </a:r>
            <a:r>
              <a:rPr lang="en-ID" sz="1600"/>
              <a:t>. Nothing special here yet. You can do the similar steps when build About screen.</a:t>
            </a:r>
            <a:endParaRPr sz="1600"/>
          </a:p>
          <a:p>
            <a:pPr indent="-330200" lvl="1" marL="914400" rtl="0" algn="l">
              <a:spcBef>
                <a:spcPts val="0"/>
              </a:spcBef>
              <a:spcAft>
                <a:spcPts val="0"/>
              </a:spcAft>
              <a:buSzPts val="1600"/>
              <a:buChar char="–"/>
            </a:pPr>
            <a:r>
              <a:rPr lang="en-ID" sz="1600"/>
              <a:t>Right click on lib &gt; new file &gt; “basket.dart”</a:t>
            </a:r>
            <a:endParaRPr sz="1600"/>
          </a:p>
          <a:p>
            <a:pPr indent="-330200" lvl="1" marL="914400" rtl="0" algn="l">
              <a:spcBef>
                <a:spcPts val="0"/>
              </a:spcBef>
              <a:spcAft>
                <a:spcPts val="0"/>
              </a:spcAft>
              <a:buSzPts val="1600"/>
              <a:buChar char="–"/>
            </a:pPr>
            <a:r>
              <a:rPr lang="en-ID" sz="1600"/>
              <a:t>Basket screen use stateless widget</a:t>
            </a:r>
            <a:endParaRPr sz="1600"/>
          </a:p>
          <a:p>
            <a:pPr indent="0" lvl="0" marL="457200" rtl="0" algn="l">
              <a:spcBef>
                <a:spcPts val="320"/>
              </a:spcBef>
              <a:spcAft>
                <a:spcPts val="0"/>
              </a:spcAft>
              <a:buNone/>
            </a:pPr>
            <a:r>
              <a:t/>
            </a:r>
            <a:endParaRPr sz="1600"/>
          </a:p>
          <a:p>
            <a:pPr indent="0" lvl="0" marL="457200" rtl="0" algn="l">
              <a:spcBef>
                <a:spcPts val="320"/>
              </a:spcBef>
              <a:spcAft>
                <a:spcPts val="0"/>
              </a:spcAft>
              <a:buNone/>
            </a:pPr>
            <a:r>
              <a:t/>
            </a:r>
            <a:endParaRPr sz="1600"/>
          </a:p>
        </p:txBody>
      </p:sp>
      <p:sp>
        <p:nvSpPr>
          <p:cNvPr descr="Google's Flutter framework spreads its wings and goes multi-platform |  TechCrunch" id="297" name="Google Shape;297;p1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298" name="Google Shape;298;p19"/>
          <p:cNvPicPr preferRelativeResize="0"/>
          <p:nvPr/>
        </p:nvPicPr>
        <p:blipFill>
          <a:blip r:embed="rId3">
            <a:alphaModFix/>
          </a:blip>
          <a:stretch>
            <a:fillRect/>
          </a:stretch>
        </p:blipFill>
        <p:spPr>
          <a:xfrm>
            <a:off x="5304725" y="2676150"/>
            <a:ext cx="3571499" cy="23381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0"/>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The ItemBasket screen</a:t>
            </a:r>
            <a:endParaRPr/>
          </a:p>
        </p:txBody>
      </p:sp>
      <p:cxnSp>
        <p:nvCxnSpPr>
          <p:cNvPr id="304" name="Google Shape;304;p20"/>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305" name="Google Shape;305;p20"/>
          <p:cNvSpPr txBox="1"/>
          <p:nvPr>
            <p:ph idx="1" type="body"/>
          </p:nvPr>
        </p:nvSpPr>
        <p:spPr>
          <a:xfrm>
            <a:off x="155574" y="737275"/>
            <a:ext cx="3946200" cy="1831200"/>
          </a:xfrm>
          <a:prstGeom prst="rect">
            <a:avLst/>
          </a:prstGeom>
          <a:noFill/>
          <a:ln>
            <a:noFill/>
          </a:ln>
        </p:spPr>
        <p:txBody>
          <a:bodyPr anchorCtr="0" anchor="t" bIns="45700" lIns="91425" spcFirstLastPara="1" rIns="91425" wrap="square" tIns="45700">
            <a:noAutofit/>
          </a:bodyPr>
          <a:lstStyle/>
          <a:p>
            <a:pPr indent="-330200" lvl="0" marL="457200" rtl="0" algn="l">
              <a:spcBef>
                <a:spcPts val="0"/>
              </a:spcBef>
              <a:spcAft>
                <a:spcPts val="0"/>
              </a:spcAft>
              <a:buSzPts val="1600"/>
              <a:buChar char="•"/>
            </a:pPr>
            <a:r>
              <a:rPr lang="en-ID" sz="1600"/>
              <a:t>Create again new screen, the ItemBasket screen.</a:t>
            </a:r>
            <a:endParaRPr sz="1600"/>
          </a:p>
          <a:p>
            <a:pPr indent="-330200" lvl="1" marL="914400" rtl="0" algn="l">
              <a:spcBef>
                <a:spcPts val="0"/>
              </a:spcBef>
              <a:spcAft>
                <a:spcPts val="0"/>
              </a:spcAft>
              <a:buSzPts val="1600"/>
              <a:buChar char="–"/>
            </a:pPr>
            <a:r>
              <a:rPr lang="en-ID" sz="1600"/>
              <a:t>Right click on lib &gt; new file &gt; “itembasket.dart”</a:t>
            </a:r>
            <a:r>
              <a:rPr lang="en-ID" sz="1600"/>
              <a:t> </a:t>
            </a:r>
            <a:endParaRPr sz="1600"/>
          </a:p>
          <a:p>
            <a:pPr indent="0" lvl="0" marL="457200" rtl="0" algn="l">
              <a:spcBef>
                <a:spcPts val="0"/>
              </a:spcBef>
              <a:spcAft>
                <a:spcPts val="0"/>
              </a:spcAft>
              <a:buNone/>
            </a:pPr>
            <a:r>
              <a:t/>
            </a:r>
            <a:endParaRPr sz="1600"/>
          </a:p>
          <a:p>
            <a:pPr indent="-330200" lvl="0" marL="457200" rtl="0" algn="l">
              <a:spcBef>
                <a:spcPts val="0"/>
              </a:spcBef>
              <a:spcAft>
                <a:spcPts val="0"/>
              </a:spcAft>
              <a:buSzPts val="1600"/>
              <a:buChar char="•"/>
            </a:pPr>
            <a:r>
              <a:rPr lang="en-ID" sz="1600"/>
              <a:t>This screen is opened from basket screen with different parameter. We prepare 2 parameter, </a:t>
            </a:r>
            <a:r>
              <a:rPr b="1" lang="en-ID" sz="1600"/>
              <a:t>id</a:t>
            </a:r>
            <a:r>
              <a:rPr lang="en-ID" sz="1600"/>
              <a:t> and </a:t>
            </a:r>
            <a:r>
              <a:rPr b="1" lang="en-ID" sz="1600"/>
              <a:t>count. </a:t>
            </a:r>
            <a:endParaRPr b="1" sz="1600"/>
          </a:p>
          <a:p>
            <a:pPr indent="0" lvl="0" marL="457200" rtl="0" algn="l">
              <a:spcBef>
                <a:spcPts val="0"/>
              </a:spcBef>
              <a:spcAft>
                <a:spcPts val="0"/>
              </a:spcAft>
              <a:buNone/>
            </a:pPr>
            <a:r>
              <a:t/>
            </a:r>
            <a:endParaRPr b="1" sz="1600"/>
          </a:p>
          <a:p>
            <a:pPr indent="-330200" lvl="0" marL="457200" rtl="0" algn="l">
              <a:spcBef>
                <a:spcPts val="320"/>
              </a:spcBef>
              <a:spcAft>
                <a:spcPts val="0"/>
              </a:spcAft>
              <a:buSzPts val="1600"/>
              <a:buChar char="•"/>
            </a:pPr>
            <a:r>
              <a:rPr lang="en-ID" sz="1600"/>
              <a:t>It can be done by providing these 2 variables and use it in the constructor.</a:t>
            </a:r>
            <a:endParaRPr b="1" sz="1600"/>
          </a:p>
          <a:p>
            <a:pPr indent="0" lvl="0" marL="0" rtl="0" algn="l">
              <a:spcBef>
                <a:spcPts val="320"/>
              </a:spcBef>
              <a:spcAft>
                <a:spcPts val="0"/>
              </a:spcAft>
              <a:buNone/>
            </a:pPr>
            <a:r>
              <a:t/>
            </a:r>
            <a:endParaRPr sz="1600"/>
          </a:p>
        </p:txBody>
      </p:sp>
      <p:sp>
        <p:nvSpPr>
          <p:cNvPr descr="Google's Flutter framework spreads its wings and goes multi-platform |  TechCrunch" id="306" name="Google Shape;306;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7" name="Google Shape;307;p20"/>
          <p:cNvSpPr/>
          <p:nvPr/>
        </p:nvSpPr>
        <p:spPr>
          <a:xfrm>
            <a:off x="4012125" y="993550"/>
            <a:ext cx="5067600" cy="3785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import 'package:flutter/material.dart';</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class ItemBasket extends StatelessWidget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final int id;</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final int count;</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a:t>
            </a:r>
            <a:r>
              <a:rPr b="1" lang="en-ID" sz="1200">
                <a:solidFill>
                  <a:srgbClr val="FF0000"/>
                </a:solidFill>
                <a:latin typeface="Consolas"/>
                <a:ea typeface="Consolas"/>
                <a:cs typeface="Consolas"/>
                <a:sym typeface="Consolas"/>
              </a:rPr>
              <a:t>const ItemBasket(this.id, this.count, {super.key});</a:t>
            </a:r>
            <a:endParaRPr b="1"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@override</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Widget build(BuildContext context)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return Scaffold(</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appBar: AppBar(title: const Text('Item Basket')),</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body: Center(child: </a:t>
            </a:r>
            <a:r>
              <a:rPr b="1" lang="en-ID" sz="1200">
                <a:solidFill>
                  <a:srgbClr val="FF0000"/>
                </a:solidFill>
                <a:latin typeface="Consolas"/>
                <a:ea typeface="Consolas"/>
                <a:cs typeface="Consolas"/>
                <a:sym typeface="Consolas"/>
              </a:rPr>
              <a:t>Text("Item $id count= $count")</a:t>
            </a:r>
            <a:r>
              <a:rPr lang="en-ID" sz="1200">
                <a:solidFill>
                  <a:srgbClr val="FF0000"/>
                </a:solidFill>
                <a:latin typeface="Consolas"/>
                <a:ea typeface="Consolas"/>
                <a:cs typeface="Consolas"/>
                <a:sym typeface="Consolas"/>
              </a:rPr>
              <a:t>),</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200">
              <a:solidFill>
                <a:srgbClr val="FF000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FF0000"/>
              </a:solidFill>
              <a:latin typeface="Consolas"/>
              <a:ea typeface="Consolas"/>
              <a:cs typeface="Consolas"/>
              <a:sym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1"/>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Modify the Basket screen</a:t>
            </a:r>
            <a:endParaRPr/>
          </a:p>
        </p:txBody>
      </p:sp>
      <p:cxnSp>
        <p:nvCxnSpPr>
          <p:cNvPr id="313" name="Google Shape;313;p21"/>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314" name="Google Shape;314;p21"/>
          <p:cNvSpPr txBox="1"/>
          <p:nvPr>
            <p:ph idx="1" type="body"/>
          </p:nvPr>
        </p:nvSpPr>
        <p:spPr>
          <a:xfrm>
            <a:off x="307974" y="737281"/>
            <a:ext cx="8435431" cy="1059041"/>
          </a:xfrm>
          <a:prstGeom prst="rect">
            <a:avLst/>
          </a:prstGeom>
          <a:noFill/>
          <a:ln>
            <a:noFill/>
          </a:ln>
        </p:spPr>
        <p:txBody>
          <a:bodyPr anchorCtr="0" anchor="t" bIns="45700" lIns="91425" spcFirstLastPara="1" rIns="91425" wrap="square" tIns="45700">
            <a:noAutofit/>
          </a:bodyPr>
          <a:lstStyle/>
          <a:p>
            <a:pPr indent="-330200" lvl="0" marL="457200" rtl="0" algn="l">
              <a:spcBef>
                <a:spcPts val="0"/>
              </a:spcBef>
              <a:spcAft>
                <a:spcPts val="0"/>
              </a:spcAft>
              <a:buSzPts val="1600"/>
              <a:buChar char="•"/>
            </a:pPr>
            <a:r>
              <a:rPr lang="en-ID" sz="1600"/>
              <a:t>Go back to basket.dart screen</a:t>
            </a:r>
            <a:endParaRPr sz="1600"/>
          </a:p>
          <a:p>
            <a:pPr indent="-330200" lvl="0" marL="457200" rtl="0" algn="l">
              <a:spcBef>
                <a:spcPts val="0"/>
              </a:spcBef>
              <a:spcAft>
                <a:spcPts val="0"/>
              </a:spcAft>
              <a:buSzPts val="1600"/>
              <a:buChar char="•"/>
            </a:pPr>
            <a:r>
              <a:rPr lang="en-ID" sz="1600"/>
              <a:t>Add following import </a:t>
            </a:r>
            <a:r>
              <a:rPr lang="en-ID" sz="1600">
                <a:latin typeface="Consolas"/>
                <a:ea typeface="Consolas"/>
                <a:cs typeface="Consolas"/>
                <a:sym typeface="Consolas"/>
              </a:rPr>
              <a:t>import 'itembasket.dart';</a:t>
            </a:r>
            <a:endParaRPr sz="1600">
              <a:latin typeface="Consolas"/>
              <a:ea typeface="Consolas"/>
              <a:cs typeface="Consolas"/>
              <a:sym typeface="Consolas"/>
            </a:endParaRPr>
          </a:p>
          <a:p>
            <a:pPr indent="-330200" lvl="0" marL="457200" rtl="0" algn="l">
              <a:spcBef>
                <a:spcPts val="0"/>
              </a:spcBef>
              <a:spcAft>
                <a:spcPts val="0"/>
              </a:spcAft>
              <a:buSzPts val="1600"/>
              <a:buChar char="•"/>
            </a:pPr>
            <a:r>
              <a:rPr lang="en-ID" sz="1600"/>
              <a:t>m</a:t>
            </a:r>
            <a:r>
              <a:rPr lang="en-ID" sz="1600"/>
              <a:t>odify the Center widget with a Column widget. Column is a </a:t>
            </a:r>
            <a:r>
              <a:rPr b="1" lang="en-ID" sz="1600"/>
              <a:t>multi-child</a:t>
            </a:r>
            <a:r>
              <a:rPr lang="en-ID" sz="1600"/>
              <a:t> layout widget while Center is a </a:t>
            </a:r>
            <a:r>
              <a:rPr b="1" lang="en-ID" sz="1600"/>
              <a:t>single-child</a:t>
            </a:r>
            <a:r>
              <a:rPr lang="en-ID" sz="1600"/>
              <a:t> layout widget.</a:t>
            </a:r>
            <a:endParaRPr/>
          </a:p>
          <a:p>
            <a:pPr indent="-330200" lvl="0" marL="457200" rtl="0" algn="l">
              <a:spcBef>
                <a:spcPts val="0"/>
              </a:spcBef>
              <a:spcAft>
                <a:spcPts val="0"/>
              </a:spcAft>
              <a:buSzPts val="1600"/>
              <a:buChar char="•"/>
            </a:pPr>
            <a:r>
              <a:rPr lang="en-ID" sz="1600"/>
              <a:t>Column is a widget that displays its children in a vertical array.</a:t>
            </a:r>
            <a:endParaRPr sz="1600"/>
          </a:p>
          <a:p>
            <a:pPr indent="0" lvl="0" marL="457200" rtl="0" algn="l">
              <a:spcBef>
                <a:spcPts val="320"/>
              </a:spcBef>
              <a:spcAft>
                <a:spcPts val="0"/>
              </a:spcAft>
              <a:buNone/>
            </a:pPr>
            <a:r>
              <a:t/>
            </a:r>
            <a:endParaRPr sz="1600"/>
          </a:p>
        </p:txBody>
      </p:sp>
      <p:sp>
        <p:nvSpPr>
          <p:cNvPr descr="Google's Flutter framework spreads its wings and goes multi-platform |  TechCrunch" id="315" name="Google Shape;315;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6" name="Google Shape;316;p21"/>
          <p:cNvSpPr/>
          <p:nvPr/>
        </p:nvSpPr>
        <p:spPr>
          <a:xfrm>
            <a:off x="307974" y="2029725"/>
            <a:ext cx="7921500" cy="3047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rgbClr val="FF0000"/>
                </a:solidFill>
                <a:latin typeface="Consolas"/>
                <a:ea typeface="Consolas"/>
                <a:cs typeface="Consolas"/>
                <a:sym typeface="Consolas"/>
              </a:rPr>
              <a:t>Center(</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 Column(children: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r>
              <a:rPr lang="en-ID" sz="1200">
                <a:solidFill>
                  <a:srgbClr val="FF0000"/>
                </a:solidFill>
                <a:latin typeface="Consolas"/>
                <a:ea typeface="Consolas"/>
                <a:cs typeface="Consolas"/>
                <a:sym typeface="Consolas"/>
              </a:rPr>
              <a:t>   </a:t>
            </a:r>
            <a:r>
              <a:rPr lang="en-ID" sz="1200">
                <a:solidFill>
                  <a:srgbClr val="FF0000"/>
                </a:solidFill>
                <a:latin typeface="Consolas"/>
                <a:ea typeface="Consolas"/>
                <a:cs typeface="Consolas"/>
                <a:sym typeface="Consolas"/>
              </a:rPr>
              <a:t>   const Text("This is Basket"),</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ElevatedButton(</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onPressed: ()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Navigator.push(context,</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MaterialPageRoute(builder: (context) =&gt; const ItemBasket(1, 10)));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 const Text("Item 1")),</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ElevatedButton(</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onPressed: ()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Navigator.push(context,</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MaterialPageRoute(builder: (context) =&gt; const ItemBasket(2, 14)));</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 const Text("Item 2"))</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p:txBody>
      </p:sp>
      <p:sp>
        <p:nvSpPr>
          <p:cNvPr id="317" name="Google Shape;317;p21"/>
          <p:cNvSpPr txBox="1"/>
          <p:nvPr/>
        </p:nvSpPr>
        <p:spPr>
          <a:xfrm>
            <a:off x="5762246" y="4449208"/>
            <a:ext cx="2892425" cy="584775"/>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600">
                <a:solidFill>
                  <a:schemeClr val="dk1"/>
                </a:solidFill>
                <a:latin typeface="Arial"/>
                <a:ea typeface="Arial"/>
                <a:cs typeface="Arial"/>
                <a:sym typeface="Arial"/>
              </a:rPr>
              <a:t>More about layout widget will be explained in next topic.</a:t>
            </a:r>
            <a:endParaRPr/>
          </a:p>
        </p:txBody>
      </p:sp>
      <p:sp>
        <p:nvSpPr>
          <p:cNvPr id="318" name="Google Shape;318;p21"/>
          <p:cNvSpPr/>
          <p:nvPr/>
        </p:nvSpPr>
        <p:spPr>
          <a:xfrm>
            <a:off x="5875575" y="2167675"/>
            <a:ext cx="2892300" cy="782700"/>
          </a:xfrm>
          <a:prstGeom prst="wedgeRectCallout">
            <a:avLst>
              <a:gd fmla="val -10225" name="adj1"/>
              <a:gd fmla="val 78759"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ID">
                <a:solidFill>
                  <a:schemeClr val="lt1"/>
                </a:solidFill>
              </a:rPr>
              <a:t>Open ItemBasket screen with additional parameter: id = 1, count =10</a:t>
            </a:r>
            <a:endParaRPr>
              <a:solidFill>
                <a:schemeClr val="l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3886c7a67cc_0_96"/>
          <p:cNvSpPr txBox="1"/>
          <p:nvPr>
            <p:ph type="title"/>
          </p:nvPr>
        </p:nvSpPr>
        <p:spPr>
          <a:xfrm>
            <a:off x="0" y="0"/>
            <a:ext cx="8229600" cy="5769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Modify the Basket screen</a:t>
            </a:r>
            <a:endParaRPr/>
          </a:p>
        </p:txBody>
      </p:sp>
      <p:cxnSp>
        <p:nvCxnSpPr>
          <p:cNvPr id="324" name="Google Shape;324;g3886c7a67cc_0_96"/>
          <p:cNvCxnSpPr/>
          <p:nvPr/>
        </p:nvCxnSpPr>
        <p:spPr>
          <a:xfrm>
            <a:off x="0" y="576943"/>
            <a:ext cx="7337100" cy="150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50"/>
              </a:srgbClr>
            </a:outerShdw>
          </a:effectLst>
        </p:spPr>
      </p:cxnSp>
      <p:sp>
        <p:nvSpPr>
          <p:cNvPr descr="Google's Flutter framework spreads its wings and goes multi-platform |  TechCrunch" id="325" name="Google Shape;325;g3886c7a67cc_0_96"/>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6" name="Google Shape;326;g3886c7a67cc_0_96"/>
          <p:cNvSpPr txBox="1"/>
          <p:nvPr/>
        </p:nvSpPr>
        <p:spPr>
          <a:xfrm>
            <a:off x="5362175" y="1986750"/>
            <a:ext cx="3321000" cy="2062500"/>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600">
                <a:solidFill>
                  <a:schemeClr val="dk1"/>
                </a:solidFill>
              </a:rPr>
              <a:t>Do not add “const” in front of Center. Navigator.push(...) inside the onPressed of ElevatedButton is not const. it uses runtime values (context and ItemBasket()). Otherwise it will makes the compiler complain:</a:t>
            </a:r>
            <a:endParaRPr sz="1600">
              <a:solidFill>
                <a:schemeClr val="dk1"/>
              </a:solidFill>
            </a:endParaRPr>
          </a:p>
          <a:p>
            <a:pPr indent="0" lvl="0" marL="0" rtl="0" algn="l">
              <a:spcBef>
                <a:spcPts val="0"/>
              </a:spcBef>
              <a:spcAft>
                <a:spcPts val="0"/>
              </a:spcAft>
              <a:buSzPts val="1100"/>
              <a:buNone/>
            </a:pPr>
            <a:r>
              <a:rPr lang="en-ID" sz="1600">
                <a:solidFill>
                  <a:schemeClr val="dk1"/>
                </a:solidFill>
              </a:rPr>
              <a:t>“Invalid constant value”.</a:t>
            </a:r>
            <a:endParaRPr sz="1600">
              <a:solidFill>
                <a:schemeClr val="dk1"/>
              </a:solidFill>
            </a:endParaRPr>
          </a:p>
        </p:txBody>
      </p:sp>
      <p:pic>
        <p:nvPicPr>
          <p:cNvPr id="327" name="Google Shape;327;g3886c7a67cc_0_96"/>
          <p:cNvPicPr preferRelativeResize="0"/>
          <p:nvPr/>
        </p:nvPicPr>
        <p:blipFill>
          <a:blip r:embed="rId3">
            <a:alphaModFix/>
          </a:blip>
          <a:stretch>
            <a:fillRect/>
          </a:stretch>
        </p:blipFill>
        <p:spPr>
          <a:xfrm>
            <a:off x="460374" y="774725"/>
            <a:ext cx="4502191" cy="42594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3886c7a67cc_0_108"/>
          <p:cNvSpPr txBox="1"/>
          <p:nvPr>
            <p:ph type="title"/>
          </p:nvPr>
        </p:nvSpPr>
        <p:spPr>
          <a:xfrm>
            <a:off x="0" y="0"/>
            <a:ext cx="8229600" cy="5769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Make A Route to Basket Screen</a:t>
            </a:r>
            <a:endParaRPr/>
          </a:p>
        </p:txBody>
      </p:sp>
      <p:cxnSp>
        <p:nvCxnSpPr>
          <p:cNvPr id="333" name="Google Shape;333;g3886c7a67cc_0_108"/>
          <p:cNvCxnSpPr/>
          <p:nvPr/>
        </p:nvCxnSpPr>
        <p:spPr>
          <a:xfrm>
            <a:off x="0" y="576943"/>
            <a:ext cx="7337100" cy="150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50"/>
              </a:srgbClr>
            </a:outerShdw>
          </a:effectLst>
        </p:spPr>
      </p:cxnSp>
      <p:sp>
        <p:nvSpPr>
          <p:cNvPr id="334" name="Google Shape;334;g3886c7a67cc_0_108"/>
          <p:cNvSpPr txBox="1"/>
          <p:nvPr>
            <p:ph idx="1" type="body"/>
          </p:nvPr>
        </p:nvSpPr>
        <p:spPr>
          <a:xfrm>
            <a:off x="307974" y="737281"/>
            <a:ext cx="8435400" cy="1059000"/>
          </a:xfrm>
          <a:prstGeom prst="rect">
            <a:avLst/>
          </a:prstGeom>
          <a:noFill/>
          <a:ln>
            <a:noFill/>
          </a:ln>
        </p:spPr>
        <p:txBody>
          <a:bodyPr anchorCtr="0" anchor="t" bIns="45700" lIns="91425" spcFirstLastPara="1" rIns="91425" wrap="square" tIns="45700">
            <a:noAutofit/>
          </a:bodyPr>
          <a:lstStyle/>
          <a:p>
            <a:pPr indent="-330200" lvl="0" marL="457200" rtl="0" algn="l">
              <a:spcBef>
                <a:spcPts val="320"/>
              </a:spcBef>
              <a:spcAft>
                <a:spcPts val="0"/>
              </a:spcAft>
              <a:buSzPts val="1600"/>
              <a:buChar char="•"/>
            </a:pPr>
            <a:r>
              <a:rPr lang="en-ID" sz="1600"/>
              <a:t>Go back to main.dart</a:t>
            </a:r>
            <a:endParaRPr sz="1600"/>
          </a:p>
          <a:p>
            <a:pPr indent="-330200" lvl="0" marL="457200" rtl="0" algn="l">
              <a:spcBef>
                <a:spcPts val="0"/>
              </a:spcBef>
              <a:spcAft>
                <a:spcPts val="0"/>
              </a:spcAft>
              <a:buSzPts val="1600"/>
              <a:buChar char="•"/>
            </a:pPr>
            <a:r>
              <a:rPr lang="en-ID" sz="1600"/>
              <a:t>Add import: </a:t>
            </a:r>
            <a:r>
              <a:rPr lang="en-ID" sz="1600">
                <a:latin typeface="Consolas"/>
                <a:ea typeface="Consolas"/>
                <a:cs typeface="Consolas"/>
                <a:sym typeface="Consolas"/>
              </a:rPr>
              <a:t>import 'basket.dart';</a:t>
            </a:r>
            <a:endParaRPr sz="1600">
              <a:latin typeface="Consolas"/>
              <a:ea typeface="Consolas"/>
              <a:cs typeface="Consolas"/>
              <a:sym typeface="Consolas"/>
            </a:endParaRPr>
          </a:p>
          <a:p>
            <a:pPr indent="0" lvl="0" marL="457200" rtl="0" algn="l">
              <a:spcBef>
                <a:spcPts val="320"/>
              </a:spcBef>
              <a:spcAft>
                <a:spcPts val="0"/>
              </a:spcAft>
              <a:buNone/>
            </a:pPr>
            <a:r>
              <a:t/>
            </a:r>
            <a:endParaRPr sz="1600">
              <a:latin typeface="Consolas"/>
              <a:ea typeface="Consolas"/>
              <a:cs typeface="Consolas"/>
              <a:sym typeface="Consolas"/>
            </a:endParaRPr>
          </a:p>
          <a:p>
            <a:pPr indent="-330200" lvl="0" marL="457200" rtl="0" algn="l">
              <a:spcBef>
                <a:spcPts val="320"/>
              </a:spcBef>
              <a:spcAft>
                <a:spcPts val="0"/>
              </a:spcAft>
              <a:buSzPts val="1600"/>
              <a:buChar char="•"/>
            </a:pPr>
            <a:r>
              <a:rPr lang="en-ID" sz="1600"/>
              <a:t>You can add routes to the basket dart either using </a:t>
            </a:r>
            <a:r>
              <a:rPr b="1" lang="en-ID" sz="1600"/>
              <a:t>MaterialPageRoute</a:t>
            </a:r>
            <a:r>
              <a:rPr lang="en-ID" sz="1600"/>
              <a:t> or </a:t>
            </a:r>
            <a:r>
              <a:rPr b="1" lang="en-ID" sz="1600"/>
              <a:t>Named Route</a:t>
            </a:r>
            <a:r>
              <a:rPr lang="en-ID" sz="1600"/>
              <a:t>. Following example using </a:t>
            </a:r>
            <a:r>
              <a:rPr b="1" lang="en-ID" sz="1600"/>
              <a:t>Named Route</a:t>
            </a:r>
            <a:endParaRPr b="1" sz="1600"/>
          </a:p>
          <a:p>
            <a:pPr indent="0" lvl="0" marL="457200" rtl="0" algn="l">
              <a:spcBef>
                <a:spcPts val="320"/>
              </a:spcBef>
              <a:spcAft>
                <a:spcPts val="0"/>
              </a:spcAft>
              <a:buNone/>
            </a:pPr>
            <a:r>
              <a:t/>
            </a:r>
            <a:endParaRPr sz="1600"/>
          </a:p>
        </p:txBody>
      </p:sp>
      <p:sp>
        <p:nvSpPr>
          <p:cNvPr descr="Google's Flutter framework spreads its wings and goes multi-platform |  TechCrunch" id="335" name="Google Shape;335;g3886c7a67cc_0_108"/>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336" name="Google Shape;336;g3886c7a67cc_0_108"/>
          <p:cNvPicPr preferRelativeResize="0"/>
          <p:nvPr/>
        </p:nvPicPr>
        <p:blipFill>
          <a:blip r:embed="rId3">
            <a:alphaModFix/>
          </a:blip>
          <a:stretch>
            <a:fillRect/>
          </a:stretch>
        </p:blipFill>
        <p:spPr>
          <a:xfrm>
            <a:off x="846425" y="2186378"/>
            <a:ext cx="3317826" cy="789975"/>
          </a:xfrm>
          <a:prstGeom prst="rect">
            <a:avLst/>
          </a:prstGeom>
          <a:noFill/>
          <a:ln>
            <a:noFill/>
          </a:ln>
        </p:spPr>
      </p:pic>
      <p:pic>
        <p:nvPicPr>
          <p:cNvPr id="337" name="Google Shape;337;g3886c7a67cc_0_108"/>
          <p:cNvPicPr preferRelativeResize="0"/>
          <p:nvPr/>
        </p:nvPicPr>
        <p:blipFill>
          <a:blip r:embed="rId4">
            <a:alphaModFix/>
          </a:blip>
          <a:stretch>
            <a:fillRect/>
          </a:stretch>
        </p:blipFill>
        <p:spPr>
          <a:xfrm>
            <a:off x="846425" y="3060800"/>
            <a:ext cx="3612549" cy="13919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2"/>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Result</a:t>
            </a:r>
            <a:endParaRPr/>
          </a:p>
        </p:txBody>
      </p:sp>
      <p:cxnSp>
        <p:nvCxnSpPr>
          <p:cNvPr id="343" name="Google Shape;343;p22"/>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344" name="Google Shape;344;p2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345" name="Google Shape;345;p22"/>
          <p:cNvPicPr preferRelativeResize="0"/>
          <p:nvPr/>
        </p:nvPicPr>
        <p:blipFill rotWithShape="1">
          <a:blip r:embed="rId3">
            <a:alphaModFix/>
          </a:blip>
          <a:srcRect b="0" l="0" r="0" t="0"/>
          <a:stretch/>
        </p:blipFill>
        <p:spPr>
          <a:xfrm>
            <a:off x="460375" y="737281"/>
            <a:ext cx="1923794" cy="3989614"/>
          </a:xfrm>
          <a:prstGeom prst="rect">
            <a:avLst/>
          </a:prstGeom>
          <a:noFill/>
          <a:ln>
            <a:noFill/>
          </a:ln>
        </p:spPr>
      </p:pic>
      <p:pic>
        <p:nvPicPr>
          <p:cNvPr id="346" name="Google Shape;346;p22"/>
          <p:cNvPicPr preferRelativeResize="0"/>
          <p:nvPr/>
        </p:nvPicPr>
        <p:blipFill rotWithShape="1">
          <a:blip r:embed="rId4">
            <a:alphaModFix/>
          </a:blip>
          <a:srcRect b="0" l="0" r="0" t="0"/>
          <a:stretch/>
        </p:blipFill>
        <p:spPr>
          <a:xfrm>
            <a:off x="2574256" y="737281"/>
            <a:ext cx="1923794" cy="3989614"/>
          </a:xfrm>
          <a:prstGeom prst="rect">
            <a:avLst/>
          </a:prstGeom>
          <a:noFill/>
          <a:ln>
            <a:noFill/>
          </a:ln>
        </p:spPr>
      </p:pic>
      <p:cxnSp>
        <p:nvCxnSpPr>
          <p:cNvPr id="347" name="Google Shape;347;p22"/>
          <p:cNvCxnSpPr/>
          <p:nvPr/>
        </p:nvCxnSpPr>
        <p:spPr>
          <a:xfrm>
            <a:off x="1201783" y="2055223"/>
            <a:ext cx="1349828" cy="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7647"/>
              </a:srgbClr>
            </a:outerShdw>
          </a:effectLst>
        </p:spPr>
      </p:cxnSp>
      <p:pic>
        <p:nvPicPr>
          <p:cNvPr id="348" name="Google Shape;348;p22"/>
          <p:cNvPicPr preferRelativeResize="0"/>
          <p:nvPr/>
        </p:nvPicPr>
        <p:blipFill rotWithShape="1">
          <a:blip r:embed="rId5">
            <a:alphaModFix/>
          </a:blip>
          <a:srcRect b="0" l="0" r="0" t="0"/>
          <a:stretch/>
        </p:blipFill>
        <p:spPr>
          <a:xfrm>
            <a:off x="4726870" y="737281"/>
            <a:ext cx="1923794" cy="3989613"/>
          </a:xfrm>
          <a:prstGeom prst="rect">
            <a:avLst/>
          </a:prstGeom>
          <a:noFill/>
          <a:ln>
            <a:noFill/>
          </a:ln>
        </p:spPr>
      </p:pic>
      <p:pic>
        <p:nvPicPr>
          <p:cNvPr id="349" name="Google Shape;349;p22"/>
          <p:cNvPicPr preferRelativeResize="0"/>
          <p:nvPr/>
        </p:nvPicPr>
        <p:blipFill rotWithShape="1">
          <a:blip r:embed="rId6">
            <a:alphaModFix/>
          </a:blip>
          <a:srcRect b="0" l="0" r="0" t="0"/>
          <a:stretch/>
        </p:blipFill>
        <p:spPr>
          <a:xfrm>
            <a:off x="6882410" y="721406"/>
            <a:ext cx="1957957" cy="4060462"/>
          </a:xfrm>
          <a:prstGeom prst="rect">
            <a:avLst/>
          </a:prstGeom>
          <a:noFill/>
          <a:ln>
            <a:noFill/>
          </a:ln>
        </p:spPr>
      </p:pic>
      <p:cxnSp>
        <p:nvCxnSpPr>
          <p:cNvPr id="350" name="Google Shape;350;p22"/>
          <p:cNvCxnSpPr/>
          <p:nvPr/>
        </p:nvCxnSpPr>
        <p:spPr>
          <a:xfrm>
            <a:off x="3071200" y="1375954"/>
            <a:ext cx="1616937" cy="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7647"/>
              </a:srgbClr>
            </a:outerShdw>
          </a:effectLst>
        </p:spPr>
      </p:cxnSp>
      <p:cxnSp>
        <p:nvCxnSpPr>
          <p:cNvPr id="351" name="Google Shape;351;p22"/>
          <p:cNvCxnSpPr/>
          <p:nvPr/>
        </p:nvCxnSpPr>
        <p:spPr>
          <a:xfrm>
            <a:off x="3071200" y="1598023"/>
            <a:ext cx="3811210" cy="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7647"/>
              </a:srgbClr>
            </a:outerShdw>
          </a:effectLst>
        </p:spPr>
      </p:cxnSp>
      <p:sp>
        <p:nvSpPr>
          <p:cNvPr id="352" name="Google Shape;352;p22"/>
          <p:cNvSpPr/>
          <p:nvPr/>
        </p:nvSpPr>
        <p:spPr>
          <a:xfrm>
            <a:off x="4645952" y="2699660"/>
            <a:ext cx="2068357" cy="539930"/>
          </a:xfrm>
          <a:prstGeom prst="ellipse">
            <a:avLst/>
          </a:prstGeom>
          <a:noFill/>
          <a:ln cap="flat" cmpd="sng" w="9525">
            <a:solidFill>
              <a:srgbClr val="FF000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3" name="Google Shape;353;p22"/>
          <p:cNvSpPr/>
          <p:nvPr/>
        </p:nvSpPr>
        <p:spPr>
          <a:xfrm>
            <a:off x="6862211" y="2732087"/>
            <a:ext cx="2068357" cy="539930"/>
          </a:xfrm>
          <a:prstGeom prst="ellipse">
            <a:avLst/>
          </a:prstGeom>
          <a:noFill/>
          <a:ln cap="flat" cmpd="sng" w="9525">
            <a:solidFill>
              <a:srgbClr val="FF000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7" name="Shape 357"/>
        <p:cNvGrpSpPr/>
        <p:nvPr/>
      </p:nvGrpSpPr>
      <p:grpSpPr>
        <a:xfrm>
          <a:off x="0" y="0"/>
          <a:ext cx="0" cy="0"/>
          <a:chOff x="0" y="0"/>
          <a:chExt cx="0" cy="0"/>
        </a:xfrm>
      </p:grpSpPr>
      <p:sp>
        <p:nvSpPr>
          <p:cNvPr id="358" name="Google Shape;358;p23"/>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4800"/>
              <a:buFont typeface="Arial"/>
              <a:buNone/>
            </a:pPr>
            <a:r>
              <a:rPr b="1" lang="en-ID" sz="4800">
                <a:solidFill>
                  <a:srgbClr val="DAE5F1"/>
                </a:solidFill>
              </a:rPr>
              <a:t>CHANGE SCREEN IN TAB</a:t>
            </a:r>
            <a:endParaRPr b="1" sz="4800">
              <a:solidFill>
                <a:srgbClr val="DAE5F1"/>
              </a:solidFill>
            </a:endParaRPr>
          </a:p>
        </p:txBody>
      </p:sp>
      <p:sp>
        <p:nvSpPr>
          <p:cNvPr id="359" name="Google Shape;359;p23"/>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05</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4"/>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Preparation</a:t>
            </a:r>
            <a:endParaRPr/>
          </a:p>
        </p:txBody>
      </p:sp>
      <p:cxnSp>
        <p:nvCxnSpPr>
          <p:cNvPr id="365" name="Google Shape;365;p2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366" name="Google Shape;366;p24"/>
          <p:cNvSpPr txBox="1"/>
          <p:nvPr>
            <p:ph idx="1" type="body"/>
          </p:nvPr>
        </p:nvSpPr>
        <p:spPr>
          <a:xfrm>
            <a:off x="307975" y="737281"/>
            <a:ext cx="8670562" cy="1114469"/>
          </a:xfrm>
          <a:prstGeom prst="rect">
            <a:avLst/>
          </a:prstGeom>
          <a:noFill/>
          <a:ln>
            <a:noFill/>
          </a:ln>
        </p:spPr>
        <p:txBody>
          <a:bodyPr anchorCtr="0" anchor="t" bIns="45700" lIns="91425" spcFirstLastPara="1" rIns="91425" wrap="square" tIns="45700">
            <a:noAutofit/>
          </a:bodyPr>
          <a:lstStyle/>
          <a:p>
            <a:pPr indent="-330200" lvl="0" marL="457200" rtl="0" algn="l">
              <a:spcBef>
                <a:spcPts val="0"/>
              </a:spcBef>
              <a:spcAft>
                <a:spcPts val="0"/>
              </a:spcAft>
              <a:buSzPts val="1600"/>
              <a:buChar char="•"/>
            </a:pPr>
            <a:r>
              <a:rPr lang="en-ID" sz="1600"/>
              <a:t>In our existing app, we already have tab navigation. Now, we will make this tab navigation for changing screen. Not like the menu in the drawer, </a:t>
            </a:r>
            <a:r>
              <a:rPr b="1" lang="en-ID" sz="1600"/>
              <a:t>The tab navigation will not put the screen on the stack.</a:t>
            </a:r>
            <a:r>
              <a:rPr lang="en-ID" sz="1600"/>
              <a:t> It like changing the screen instead of stacking it.</a:t>
            </a:r>
            <a:endParaRPr/>
          </a:p>
          <a:p>
            <a:pPr indent="0" lvl="0" marL="457200" rtl="0" algn="l">
              <a:spcBef>
                <a:spcPts val="320"/>
              </a:spcBef>
              <a:spcAft>
                <a:spcPts val="0"/>
              </a:spcAft>
              <a:buNone/>
            </a:pPr>
            <a:r>
              <a:t/>
            </a:r>
            <a:endParaRPr sz="1600"/>
          </a:p>
          <a:p>
            <a:pPr indent="-330200" lvl="0" marL="457200" rtl="0" algn="l">
              <a:spcBef>
                <a:spcPts val="320"/>
              </a:spcBef>
              <a:spcAft>
                <a:spcPts val="0"/>
              </a:spcAft>
              <a:buSzPts val="1600"/>
              <a:buChar char="•"/>
            </a:pPr>
            <a:r>
              <a:rPr lang="en-ID" sz="1600"/>
              <a:t>The tab has 3 menus: </a:t>
            </a:r>
            <a:r>
              <a:rPr b="1" lang="en-ID" sz="1600"/>
              <a:t>Home, Search, and History</a:t>
            </a:r>
            <a:r>
              <a:rPr lang="en-ID" sz="1600"/>
              <a:t>. </a:t>
            </a:r>
            <a:r>
              <a:rPr b="1" lang="en-ID" sz="1600"/>
              <a:t>Create this 3 screen with a minimum feature like the about screen. </a:t>
            </a:r>
            <a:endParaRPr b="1" sz="1600"/>
          </a:p>
          <a:p>
            <a:pPr indent="0" lvl="0" marL="457200" rtl="0" algn="l">
              <a:spcBef>
                <a:spcPts val="320"/>
              </a:spcBef>
              <a:spcAft>
                <a:spcPts val="0"/>
              </a:spcAft>
              <a:buNone/>
            </a:pPr>
            <a:r>
              <a:t/>
            </a:r>
            <a:endParaRPr sz="1600"/>
          </a:p>
          <a:p>
            <a:pPr indent="0" lvl="0" marL="457200" rtl="0" algn="l">
              <a:spcBef>
                <a:spcPts val="320"/>
              </a:spcBef>
              <a:spcAft>
                <a:spcPts val="0"/>
              </a:spcAft>
              <a:buNone/>
            </a:pPr>
            <a:r>
              <a:t/>
            </a:r>
            <a:endParaRPr sz="1600"/>
          </a:p>
          <a:p>
            <a:pPr indent="0" lvl="0" marL="457200" rtl="0" algn="l">
              <a:spcBef>
                <a:spcPts val="320"/>
              </a:spcBef>
              <a:spcAft>
                <a:spcPts val="0"/>
              </a:spcAft>
              <a:buNone/>
            </a:pPr>
            <a:r>
              <a:t/>
            </a:r>
            <a:endParaRPr sz="1600"/>
          </a:p>
        </p:txBody>
      </p:sp>
      <p:sp>
        <p:nvSpPr>
          <p:cNvPr descr="Google's Flutter framework spreads its wings and goes multi-platform |  TechCrunch" id="367" name="Google Shape;367;p2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368" name="Google Shape;368;p24"/>
          <p:cNvPicPr preferRelativeResize="0"/>
          <p:nvPr/>
        </p:nvPicPr>
        <p:blipFill>
          <a:blip r:embed="rId3">
            <a:alphaModFix/>
          </a:blip>
          <a:stretch>
            <a:fillRect/>
          </a:stretch>
        </p:blipFill>
        <p:spPr>
          <a:xfrm>
            <a:off x="817900" y="2452900"/>
            <a:ext cx="2110375" cy="2383950"/>
          </a:xfrm>
          <a:prstGeom prst="rect">
            <a:avLst/>
          </a:prstGeom>
          <a:noFill/>
          <a:ln>
            <a:noFill/>
          </a:ln>
        </p:spPr>
      </p:pic>
      <p:pic>
        <p:nvPicPr>
          <p:cNvPr id="369" name="Google Shape;369;p24"/>
          <p:cNvPicPr preferRelativeResize="0"/>
          <p:nvPr/>
        </p:nvPicPr>
        <p:blipFill>
          <a:blip r:embed="rId4">
            <a:alphaModFix/>
          </a:blip>
          <a:stretch>
            <a:fillRect/>
          </a:stretch>
        </p:blipFill>
        <p:spPr>
          <a:xfrm>
            <a:off x="5058200" y="2452900"/>
            <a:ext cx="3856124" cy="22339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5"/>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Modify main.dart</a:t>
            </a:r>
            <a:endParaRPr b="1" sz="3600">
              <a:solidFill>
                <a:srgbClr val="000090"/>
              </a:solidFill>
            </a:endParaRPr>
          </a:p>
        </p:txBody>
      </p:sp>
      <p:cxnSp>
        <p:nvCxnSpPr>
          <p:cNvPr id="375" name="Google Shape;375;p2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376" name="Google Shape;376;p25"/>
          <p:cNvSpPr txBox="1"/>
          <p:nvPr>
            <p:ph idx="1" type="body"/>
          </p:nvPr>
        </p:nvSpPr>
        <p:spPr>
          <a:xfrm>
            <a:off x="307975" y="737281"/>
            <a:ext cx="8670562" cy="40548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None/>
            </a:pPr>
            <a:r>
              <a:rPr lang="en-ID" sz="1600"/>
              <a:t>Add List of screen and variable that store current index. Dont forget to import the required screens</a:t>
            </a:r>
            <a:endParaRPr/>
          </a:p>
          <a:p>
            <a:pPr indent="-342900" lvl="0" marL="342900" rtl="0" algn="l">
              <a:spcBef>
                <a:spcPts val="320"/>
              </a:spcBef>
              <a:spcAft>
                <a:spcPts val="0"/>
              </a:spcAft>
              <a:buClr>
                <a:schemeClr val="dk1"/>
              </a:buClr>
              <a:buSzPts val="1600"/>
              <a:buNone/>
            </a:pPr>
            <a:r>
              <a:t/>
            </a:r>
            <a:endParaRPr sz="1600"/>
          </a:p>
          <a:p>
            <a:pPr indent="-342900" lvl="0" marL="342900" rtl="0" algn="l">
              <a:spcBef>
                <a:spcPts val="320"/>
              </a:spcBef>
              <a:spcAft>
                <a:spcPts val="0"/>
              </a:spcAft>
              <a:buClr>
                <a:schemeClr val="dk1"/>
              </a:buClr>
              <a:buSzPts val="1600"/>
              <a:buNone/>
            </a:pPr>
            <a:r>
              <a:t/>
            </a:r>
            <a:endParaRPr sz="1600"/>
          </a:p>
          <a:p>
            <a:pPr indent="-342900" lvl="0" marL="342900" rtl="0" algn="l">
              <a:spcBef>
                <a:spcPts val="320"/>
              </a:spcBef>
              <a:spcAft>
                <a:spcPts val="0"/>
              </a:spcAft>
              <a:buClr>
                <a:schemeClr val="dk1"/>
              </a:buClr>
              <a:buSzPts val="1600"/>
              <a:buNone/>
            </a:pPr>
            <a:r>
              <a:t/>
            </a:r>
            <a:endParaRPr sz="1600"/>
          </a:p>
        </p:txBody>
      </p:sp>
      <p:sp>
        <p:nvSpPr>
          <p:cNvPr descr="Google's Flutter framework spreads its wings and goes multi-platform |  TechCrunch" id="377" name="Google Shape;377;p2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8" name="Google Shape;378;p25"/>
          <p:cNvSpPr/>
          <p:nvPr/>
        </p:nvSpPr>
        <p:spPr>
          <a:xfrm>
            <a:off x="307975" y="1788421"/>
            <a:ext cx="4572000" cy="1385100"/>
          </a:xfrm>
          <a:prstGeom prst="rect">
            <a:avLst/>
          </a:prstGeom>
          <a:noFill/>
          <a:ln>
            <a:noFill/>
          </a:ln>
        </p:spPr>
        <p:txBody>
          <a:bodyPr anchorCtr="0" anchor="t" bIns="45700" lIns="91425" spcFirstLastPara="1" rIns="91425" wrap="square" tIns="45700">
            <a:spAutoFit/>
          </a:bodyPr>
          <a:lstStyle/>
          <a:p>
            <a:pPr indent="-342900" lvl="0" marL="342900" rtl="0" algn="l">
              <a:spcBef>
                <a:spcPts val="0"/>
              </a:spcBef>
              <a:spcAft>
                <a:spcPts val="0"/>
              </a:spcAft>
              <a:buClr>
                <a:schemeClr val="dk1"/>
              </a:buClr>
              <a:buSzPts val="1600"/>
              <a:buFont typeface="Arial"/>
              <a:buNone/>
            </a:pPr>
            <a:r>
              <a:rPr lang="en-ID" sz="1600">
                <a:solidFill>
                  <a:schemeClr val="dk1"/>
                </a:solidFill>
              </a:rPr>
              <a:t>Add List of screen and currentIndex variable</a:t>
            </a:r>
            <a:endParaRPr sz="1600">
              <a:solidFill>
                <a:schemeClr val="dk1"/>
              </a:solidFill>
            </a:endParaRPr>
          </a:p>
          <a:p>
            <a:pPr indent="0" lvl="0" marL="0" marR="0" rtl="0" algn="l">
              <a:spcBef>
                <a:spcPts val="0"/>
              </a:spcBef>
              <a:spcAft>
                <a:spcPts val="0"/>
              </a:spcAft>
              <a:buNone/>
            </a:pPr>
            <a:r>
              <a:rPr lang="en-ID" sz="1400">
                <a:solidFill>
                  <a:srgbClr val="7F7F7F"/>
                </a:solidFill>
                <a:latin typeface="Consolas"/>
                <a:ea typeface="Consolas"/>
                <a:cs typeface="Consolas"/>
                <a:sym typeface="Consolas"/>
              </a:rPr>
              <a:t>class _MyHomePageState extends State&lt;MyHomePage&gt; {</a:t>
            </a:r>
            <a:endParaRPr/>
          </a:p>
          <a:p>
            <a:pPr indent="0" lvl="0" marL="0" marR="0" rtl="0" algn="l">
              <a:spcBef>
                <a:spcPts val="0"/>
              </a:spcBef>
              <a:spcAft>
                <a:spcPts val="0"/>
              </a:spcAft>
              <a:buNone/>
            </a:pPr>
            <a:r>
              <a:rPr lang="en-ID" sz="1400">
                <a:solidFill>
                  <a:srgbClr val="7F7F7F"/>
                </a:solidFill>
                <a:latin typeface="Consolas"/>
                <a:ea typeface="Consolas"/>
                <a:cs typeface="Consolas"/>
                <a:sym typeface="Consolas"/>
              </a:rPr>
              <a:t>  int _counter = 0;</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int _currentIndex = 0;</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final List&lt;Widget&gt; _screens = </a:t>
            </a:r>
            <a:br>
              <a:rPr lang="en-ID" sz="1400">
                <a:solidFill>
                  <a:srgbClr val="FF0000"/>
                </a:solidFill>
                <a:latin typeface="Consolas"/>
                <a:ea typeface="Consolas"/>
                <a:cs typeface="Consolas"/>
                <a:sym typeface="Consolas"/>
              </a:rPr>
            </a:br>
            <a:r>
              <a:rPr lang="en-ID" sz="1400">
                <a:solidFill>
                  <a:srgbClr val="FF0000"/>
                </a:solidFill>
                <a:latin typeface="Consolas"/>
                <a:ea typeface="Consolas"/>
                <a:cs typeface="Consolas"/>
                <a:sym typeface="Consolas"/>
              </a:rPr>
              <a:t>             [Home(), Search(), History()];</a:t>
            </a:r>
            <a:endParaRPr/>
          </a:p>
        </p:txBody>
      </p:sp>
      <p:sp>
        <p:nvSpPr>
          <p:cNvPr id="379" name="Google Shape;379;p25"/>
          <p:cNvSpPr txBox="1"/>
          <p:nvPr/>
        </p:nvSpPr>
        <p:spPr>
          <a:xfrm>
            <a:off x="307975" y="4002416"/>
            <a:ext cx="8670600" cy="405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1600"/>
              <a:buFont typeface="Arial"/>
              <a:buNone/>
            </a:pPr>
            <a:r>
              <a:rPr lang="en-ID" sz="1600">
                <a:solidFill>
                  <a:schemeClr val="dk1"/>
                </a:solidFill>
                <a:latin typeface="Arial"/>
                <a:ea typeface="Arial"/>
                <a:cs typeface="Arial"/>
                <a:sym typeface="Arial"/>
              </a:rPr>
              <a:t>Modify scaffold body to use above list</a:t>
            </a:r>
            <a:endParaRPr/>
          </a:p>
          <a:p>
            <a:pPr indent="-342900" lvl="0" marL="342900" marR="0" rtl="0" algn="l">
              <a:spcBef>
                <a:spcPts val="280"/>
              </a:spcBef>
              <a:spcAft>
                <a:spcPts val="0"/>
              </a:spcAft>
              <a:buClr>
                <a:srgbClr val="FF0000"/>
              </a:buClr>
              <a:buSzPts val="1400"/>
              <a:buFont typeface="Arial"/>
              <a:buNone/>
            </a:pPr>
            <a:r>
              <a:rPr lang="en-ID" sz="1400">
                <a:solidFill>
                  <a:srgbClr val="FF0000"/>
                </a:solidFill>
                <a:latin typeface="Consolas"/>
                <a:ea typeface="Consolas"/>
                <a:cs typeface="Consolas"/>
                <a:sym typeface="Consolas"/>
              </a:rPr>
              <a:t>body: _screens[_currentIndex],</a:t>
            </a:r>
            <a:endParaRPr/>
          </a:p>
          <a:p>
            <a:pPr indent="-342900" lvl="0" marL="342900" marR="0" rtl="0" algn="l">
              <a:spcBef>
                <a:spcPts val="320"/>
              </a:spcBef>
              <a:spcAft>
                <a:spcPts val="0"/>
              </a:spcAft>
              <a:buClr>
                <a:schemeClr val="dk1"/>
              </a:buClr>
              <a:buSzPts val="1600"/>
              <a:buFont typeface="Arial"/>
              <a:buNone/>
            </a:pPr>
            <a:r>
              <a:t/>
            </a:r>
            <a:endParaRPr sz="1600">
              <a:solidFill>
                <a:schemeClr val="dk1"/>
              </a:solidFill>
              <a:latin typeface="Arial"/>
              <a:ea typeface="Arial"/>
              <a:cs typeface="Arial"/>
              <a:sym typeface="Arial"/>
            </a:endParaRPr>
          </a:p>
          <a:p>
            <a:pPr indent="-342900" lvl="0" marL="342900" marR="0" rtl="0" algn="l">
              <a:spcBef>
                <a:spcPts val="320"/>
              </a:spcBef>
              <a:spcAft>
                <a:spcPts val="0"/>
              </a:spcAft>
              <a:buClr>
                <a:schemeClr val="dk1"/>
              </a:buClr>
              <a:buSzPts val="1600"/>
              <a:buFont typeface="Arial"/>
              <a:buNone/>
            </a:pPr>
            <a:r>
              <a:t/>
            </a:r>
            <a:endParaRPr sz="1600">
              <a:solidFill>
                <a:schemeClr val="dk1"/>
              </a:solidFill>
              <a:latin typeface="Arial"/>
              <a:ea typeface="Arial"/>
              <a:cs typeface="Arial"/>
              <a:sym typeface="Arial"/>
            </a:endParaRPr>
          </a:p>
        </p:txBody>
      </p:sp>
      <p:sp>
        <p:nvSpPr>
          <p:cNvPr id="380" name="Google Shape;380;p25"/>
          <p:cNvSpPr txBox="1"/>
          <p:nvPr/>
        </p:nvSpPr>
        <p:spPr>
          <a:xfrm>
            <a:off x="5238575" y="1710050"/>
            <a:ext cx="3831000" cy="21873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1600"/>
              <a:buFont typeface="Arial"/>
              <a:buNone/>
            </a:pPr>
            <a:r>
              <a:rPr lang="en-ID" sz="1600">
                <a:solidFill>
                  <a:schemeClr val="dk1"/>
                </a:solidFill>
                <a:latin typeface="Arial"/>
                <a:ea typeface="Arial"/>
                <a:cs typeface="Arial"/>
                <a:sym typeface="Arial"/>
              </a:rPr>
              <a:t>Modify bottomnavigationbar</a:t>
            </a:r>
            <a:endParaRPr sz="1600">
              <a:solidFill>
                <a:schemeClr val="dk1"/>
              </a:solidFill>
              <a:latin typeface="Arial"/>
              <a:ea typeface="Arial"/>
              <a:cs typeface="Arial"/>
              <a:sym typeface="Arial"/>
            </a:endParaRPr>
          </a:p>
          <a:p>
            <a:pPr indent="0" lvl="0" marL="0" marR="0" rtl="0" algn="l">
              <a:spcBef>
                <a:spcPts val="280"/>
              </a:spcBef>
              <a:spcAft>
                <a:spcPts val="0"/>
              </a:spcAft>
              <a:buClr>
                <a:srgbClr val="FF0000"/>
              </a:buClr>
              <a:buSzPts val="1400"/>
              <a:buFont typeface="Arial"/>
              <a:buNone/>
            </a:pPr>
            <a:r>
              <a:rPr lang="en-ID" sz="1400">
                <a:solidFill>
                  <a:srgbClr val="FF0000"/>
                </a:solidFill>
                <a:latin typeface="Consolas"/>
                <a:ea typeface="Consolas"/>
                <a:cs typeface="Consolas"/>
                <a:sym typeface="Consolas"/>
              </a:rPr>
              <a:t>currentIndex: _currentIndex,</a:t>
            </a:r>
            <a:endParaRPr/>
          </a:p>
          <a:p>
            <a:pPr indent="0" lvl="0" marL="0" marR="0" rtl="0" algn="l">
              <a:spcBef>
                <a:spcPts val="280"/>
              </a:spcBef>
              <a:spcAft>
                <a:spcPts val="0"/>
              </a:spcAft>
              <a:buClr>
                <a:srgbClr val="FF0000"/>
              </a:buClr>
              <a:buSzPts val="1400"/>
              <a:buFont typeface="Arial"/>
              <a:buNone/>
            </a:pPr>
            <a:r>
              <a:rPr lang="en-ID" sz="1400">
                <a:solidFill>
                  <a:srgbClr val="FF0000"/>
                </a:solidFill>
                <a:latin typeface="Consolas"/>
                <a:ea typeface="Consolas"/>
                <a:cs typeface="Consolas"/>
                <a:sym typeface="Consolas"/>
              </a:rPr>
              <a:t>onTap: (int index) {</a:t>
            </a:r>
            <a:endParaRPr/>
          </a:p>
          <a:p>
            <a:pPr indent="0" lvl="0" marL="0" marR="0" rtl="0" algn="l">
              <a:spcBef>
                <a:spcPts val="280"/>
              </a:spcBef>
              <a:spcAft>
                <a:spcPts val="0"/>
              </a:spcAft>
              <a:buClr>
                <a:srgbClr val="FF0000"/>
              </a:buClr>
              <a:buSzPts val="1400"/>
              <a:buFont typeface="Arial"/>
              <a:buNone/>
            </a:pPr>
            <a:r>
              <a:rPr lang="en-ID" sz="1400">
                <a:solidFill>
                  <a:srgbClr val="FF0000"/>
                </a:solidFill>
                <a:latin typeface="Consolas"/>
                <a:ea typeface="Consolas"/>
                <a:cs typeface="Consolas"/>
                <a:sym typeface="Consolas"/>
              </a:rPr>
              <a:t>   setState(() {</a:t>
            </a:r>
            <a:endParaRPr/>
          </a:p>
          <a:p>
            <a:pPr indent="0" lvl="0" marL="0" marR="0" rtl="0" algn="l">
              <a:spcBef>
                <a:spcPts val="280"/>
              </a:spcBef>
              <a:spcAft>
                <a:spcPts val="0"/>
              </a:spcAft>
              <a:buClr>
                <a:srgbClr val="FF0000"/>
              </a:buClr>
              <a:buSzPts val="1400"/>
              <a:buFont typeface="Arial"/>
              <a:buNone/>
            </a:pPr>
            <a:r>
              <a:rPr lang="en-ID" sz="1400">
                <a:solidFill>
                  <a:srgbClr val="FF0000"/>
                </a:solidFill>
                <a:latin typeface="Consolas"/>
                <a:ea typeface="Consolas"/>
                <a:cs typeface="Consolas"/>
                <a:sym typeface="Consolas"/>
              </a:rPr>
              <a:t>      _currentIndex = index;</a:t>
            </a:r>
            <a:endParaRPr/>
          </a:p>
          <a:p>
            <a:pPr indent="0" lvl="0" marL="0" marR="0" rtl="0" algn="l">
              <a:spcBef>
                <a:spcPts val="280"/>
              </a:spcBef>
              <a:spcAft>
                <a:spcPts val="0"/>
              </a:spcAft>
              <a:buClr>
                <a:srgbClr val="FF0000"/>
              </a:buClr>
              <a:buSzPts val="1400"/>
              <a:buFont typeface="Arial"/>
              <a:buNone/>
            </a:pPr>
            <a:r>
              <a:rPr lang="en-ID" sz="1400">
                <a:solidFill>
                  <a:srgbClr val="FF0000"/>
                </a:solidFill>
                <a:latin typeface="Consolas"/>
                <a:ea typeface="Consolas"/>
                <a:cs typeface="Consolas"/>
                <a:sym typeface="Consolas"/>
              </a:rPr>
              <a:t>   });</a:t>
            </a:r>
            <a:endParaRPr/>
          </a:p>
          <a:p>
            <a:pPr indent="0" lvl="0" marL="0" marR="0" rtl="0" algn="l">
              <a:spcBef>
                <a:spcPts val="280"/>
              </a:spcBef>
              <a:spcAft>
                <a:spcPts val="0"/>
              </a:spcAft>
              <a:buClr>
                <a:srgbClr val="FF0000"/>
              </a:buClr>
              <a:buSzPts val="1400"/>
              <a:buFont typeface="Arial"/>
              <a:buNone/>
            </a:pPr>
            <a:r>
              <a:rPr lang="en-ID" sz="1400">
                <a:solidFill>
                  <a:srgbClr val="FF0000"/>
                </a:solidFill>
                <a:latin typeface="Consolas"/>
                <a:ea typeface="Consolas"/>
                <a:cs typeface="Consolas"/>
                <a:sym typeface="Consolas"/>
              </a:rPr>
              <a:t>},</a:t>
            </a:r>
            <a:endParaRPr/>
          </a:p>
          <a:p>
            <a:pPr indent="-342900" lvl="0" marL="342900" marR="0" rtl="0" algn="l">
              <a:spcBef>
                <a:spcPts val="320"/>
              </a:spcBef>
              <a:spcAft>
                <a:spcPts val="0"/>
              </a:spcAft>
              <a:buClr>
                <a:schemeClr val="dk1"/>
              </a:buClr>
              <a:buSzPts val="1600"/>
              <a:buFont typeface="Arial"/>
              <a:buNone/>
            </a:pPr>
            <a:r>
              <a:t/>
            </a:r>
            <a:endParaRPr sz="1600">
              <a:solidFill>
                <a:schemeClr val="dk1"/>
              </a:solidFill>
              <a:latin typeface="Arial"/>
              <a:ea typeface="Arial"/>
              <a:cs typeface="Arial"/>
              <a:sym typeface="Arial"/>
            </a:endParaRPr>
          </a:p>
          <a:p>
            <a:pPr indent="-342900" lvl="0" marL="342900" marR="0" rtl="0" algn="l">
              <a:spcBef>
                <a:spcPts val="320"/>
              </a:spcBef>
              <a:spcAft>
                <a:spcPts val="0"/>
              </a:spcAft>
              <a:buClr>
                <a:schemeClr val="dk1"/>
              </a:buClr>
              <a:buSzPts val="1600"/>
              <a:buFont typeface="Arial"/>
              <a:buNone/>
            </a:pPr>
            <a:r>
              <a:t/>
            </a:r>
            <a:endParaRPr sz="1600">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6"/>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Result</a:t>
            </a:r>
            <a:endParaRPr/>
          </a:p>
        </p:txBody>
      </p:sp>
      <p:cxnSp>
        <p:nvCxnSpPr>
          <p:cNvPr id="386" name="Google Shape;386;p2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387" name="Google Shape;387;p26"/>
          <p:cNvSpPr txBox="1"/>
          <p:nvPr>
            <p:ph idx="1" type="body"/>
          </p:nvPr>
        </p:nvSpPr>
        <p:spPr>
          <a:xfrm>
            <a:off x="2717073" y="737281"/>
            <a:ext cx="6261463" cy="1114469"/>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600"/>
              <a:buNone/>
            </a:pPr>
            <a:r>
              <a:rPr lang="en-ID" sz="1600"/>
              <a:t>The appbar is doubled !</a:t>
            </a:r>
            <a:endParaRPr/>
          </a:p>
          <a:p>
            <a:pPr indent="-342900" lvl="0" marL="342900" rtl="0" algn="l">
              <a:spcBef>
                <a:spcPts val="320"/>
              </a:spcBef>
              <a:spcAft>
                <a:spcPts val="0"/>
              </a:spcAft>
              <a:buClr>
                <a:schemeClr val="dk1"/>
              </a:buClr>
              <a:buSzPts val="1600"/>
              <a:buNone/>
            </a:pPr>
            <a:r>
              <a:t/>
            </a:r>
            <a:endParaRPr sz="1600"/>
          </a:p>
          <a:p>
            <a:pPr indent="-342900" lvl="0" marL="342900" rtl="0" algn="l">
              <a:spcBef>
                <a:spcPts val="320"/>
              </a:spcBef>
              <a:spcAft>
                <a:spcPts val="0"/>
              </a:spcAft>
              <a:buClr>
                <a:schemeClr val="dk1"/>
              </a:buClr>
              <a:buSzPts val="1600"/>
              <a:buNone/>
            </a:pPr>
            <a:r>
              <a:rPr lang="en-ID" sz="1600"/>
              <a:t>There are 2 choices:</a:t>
            </a:r>
            <a:endParaRPr/>
          </a:p>
          <a:p>
            <a:pPr indent="-330200" lvl="0" marL="342900" rtl="0" algn="l">
              <a:spcBef>
                <a:spcPts val="320"/>
              </a:spcBef>
              <a:spcAft>
                <a:spcPts val="0"/>
              </a:spcAft>
              <a:buSzPts val="1600"/>
              <a:buChar char="●"/>
            </a:pPr>
            <a:r>
              <a:rPr b="1" lang="en-ID" sz="1600"/>
              <a:t>Remove appbar from main.dart</a:t>
            </a:r>
            <a:r>
              <a:rPr lang="en-ID" sz="1600"/>
              <a:t> scaffold. </a:t>
            </a:r>
            <a:endParaRPr/>
          </a:p>
          <a:p>
            <a:pPr indent="-273050" lvl="1" marL="742950" rtl="0" algn="l">
              <a:spcBef>
                <a:spcPts val="0"/>
              </a:spcBef>
              <a:spcAft>
                <a:spcPts val="0"/>
              </a:spcAft>
              <a:buSzPts val="1600"/>
              <a:buChar char="○"/>
            </a:pPr>
            <a:r>
              <a:rPr lang="en-ID" sz="1600"/>
              <a:t>easy, but you will lost the hamburger icon</a:t>
            </a:r>
            <a:endParaRPr sz="1600"/>
          </a:p>
          <a:p>
            <a:pPr indent="0" lvl="0" marL="742950" rtl="0" algn="l">
              <a:spcBef>
                <a:spcPts val="320"/>
              </a:spcBef>
              <a:spcAft>
                <a:spcPts val="0"/>
              </a:spcAft>
              <a:buNone/>
            </a:pPr>
            <a:r>
              <a:t/>
            </a:r>
            <a:endParaRPr sz="1600"/>
          </a:p>
          <a:p>
            <a:pPr indent="-330200" lvl="0" marL="342900" rtl="0" algn="l">
              <a:spcBef>
                <a:spcPts val="320"/>
              </a:spcBef>
              <a:spcAft>
                <a:spcPts val="0"/>
              </a:spcAft>
              <a:buSzPts val="1600"/>
              <a:buChar char="●"/>
            </a:pPr>
            <a:r>
              <a:rPr b="1" lang="en-ID" sz="1600"/>
              <a:t>Remove appbar in each screen</a:t>
            </a:r>
            <a:r>
              <a:rPr lang="en-ID" sz="1600"/>
              <a:t> and modify the appbar title	 in main scaffold</a:t>
            </a:r>
            <a:endParaRPr/>
          </a:p>
          <a:p>
            <a:pPr indent="-273050" lvl="1" marL="742950" rtl="0" algn="l">
              <a:spcBef>
                <a:spcPts val="0"/>
              </a:spcBef>
              <a:spcAft>
                <a:spcPts val="0"/>
              </a:spcAft>
              <a:buSzPts val="1600"/>
              <a:buChar char="○"/>
            </a:pPr>
            <a:r>
              <a:rPr lang="en-ID" sz="1600"/>
              <a:t>prepare list of string to store title</a:t>
            </a:r>
            <a:endParaRPr sz="1600"/>
          </a:p>
          <a:p>
            <a:pPr indent="0" lvl="0" marL="742950" rtl="0" algn="l">
              <a:spcBef>
                <a:spcPts val="320"/>
              </a:spcBef>
              <a:spcAft>
                <a:spcPts val="0"/>
              </a:spcAft>
              <a:buNone/>
            </a:pPr>
            <a:r>
              <a:rPr lang="en-ID" sz="1300">
                <a:solidFill>
                  <a:srgbClr val="FF0000"/>
                </a:solidFill>
                <a:latin typeface="Consolas"/>
                <a:ea typeface="Consolas"/>
                <a:cs typeface="Consolas"/>
                <a:sym typeface="Consolas"/>
              </a:rPr>
              <a:t>final List&lt;String&gt; _title = ['Home', 'Search', 'History'];</a:t>
            </a:r>
            <a:br>
              <a:rPr lang="en-ID" sz="1600"/>
            </a:br>
            <a:endParaRPr sz="1600"/>
          </a:p>
          <a:p>
            <a:pPr indent="-273050" lvl="1" marL="742950" rtl="0" algn="l">
              <a:spcBef>
                <a:spcPts val="320"/>
              </a:spcBef>
              <a:spcAft>
                <a:spcPts val="0"/>
              </a:spcAft>
              <a:buSzPts val="1600"/>
              <a:buChar char="○"/>
            </a:pPr>
            <a:r>
              <a:rPr lang="en-ID" sz="1600"/>
              <a:t>modify the appbar title</a:t>
            </a:r>
            <a:br>
              <a:rPr lang="en-ID" sz="1600">
                <a:solidFill>
                  <a:srgbClr val="FF0000"/>
                </a:solidFill>
                <a:latin typeface="Consolas"/>
                <a:ea typeface="Consolas"/>
                <a:cs typeface="Consolas"/>
                <a:sym typeface="Consolas"/>
              </a:rPr>
            </a:br>
            <a:r>
              <a:rPr lang="en-ID" sz="1400">
                <a:solidFill>
                  <a:srgbClr val="FF0000"/>
                </a:solidFill>
                <a:latin typeface="Consolas"/>
                <a:ea typeface="Consolas"/>
                <a:cs typeface="Consolas"/>
                <a:sym typeface="Consolas"/>
              </a:rPr>
              <a:t>title: Text(_title[_currentIndex])</a:t>
            </a:r>
            <a:endParaRPr/>
          </a:p>
          <a:p>
            <a:pPr indent="-342900" lvl="0" marL="342900" rtl="0" algn="l">
              <a:spcBef>
                <a:spcPts val="320"/>
              </a:spcBef>
              <a:spcAft>
                <a:spcPts val="0"/>
              </a:spcAft>
              <a:buClr>
                <a:schemeClr val="dk1"/>
              </a:buClr>
              <a:buSzPts val="1600"/>
              <a:buNone/>
            </a:pPr>
            <a:r>
              <a:t/>
            </a:r>
            <a:endParaRPr sz="1600"/>
          </a:p>
        </p:txBody>
      </p:sp>
      <p:sp>
        <p:nvSpPr>
          <p:cNvPr descr="Google's Flutter framework spreads its wings and goes multi-platform |  TechCrunch" id="388" name="Google Shape;388;p2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389" name="Google Shape;389;p26"/>
          <p:cNvPicPr preferRelativeResize="0"/>
          <p:nvPr/>
        </p:nvPicPr>
        <p:blipFill rotWithShape="1">
          <a:blip r:embed="rId3">
            <a:alphaModFix/>
          </a:blip>
          <a:srcRect b="0" l="0" r="0" t="0"/>
          <a:stretch/>
        </p:blipFill>
        <p:spPr>
          <a:xfrm>
            <a:off x="307975" y="721407"/>
            <a:ext cx="1921419" cy="398468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g3886c7a67cc_0_127"/>
          <p:cNvSpPr txBox="1"/>
          <p:nvPr>
            <p:ph type="title"/>
          </p:nvPr>
        </p:nvSpPr>
        <p:spPr>
          <a:xfrm>
            <a:off x="0" y="0"/>
            <a:ext cx="8229600" cy="5769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Result</a:t>
            </a:r>
            <a:endParaRPr/>
          </a:p>
        </p:txBody>
      </p:sp>
      <p:cxnSp>
        <p:nvCxnSpPr>
          <p:cNvPr id="395" name="Google Shape;395;g3886c7a67cc_0_127"/>
          <p:cNvCxnSpPr/>
          <p:nvPr/>
        </p:nvCxnSpPr>
        <p:spPr>
          <a:xfrm>
            <a:off x="0" y="576943"/>
            <a:ext cx="7337100" cy="150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50"/>
              </a:srgbClr>
            </a:outerShdw>
          </a:effectLst>
        </p:spPr>
      </p:cxnSp>
      <p:sp>
        <p:nvSpPr>
          <p:cNvPr descr="Google's Flutter framework spreads its wings and goes multi-platform |  TechCrunch" id="396" name="Google Shape;396;g3886c7a67cc_0_127"/>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397" name="Google Shape;397;g3886c7a67cc_0_127"/>
          <p:cNvPicPr preferRelativeResize="0"/>
          <p:nvPr/>
        </p:nvPicPr>
        <p:blipFill>
          <a:blip r:embed="rId3">
            <a:alphaModFix/>
          </a:blip>
          <a:stretch>
            <a:fillRect/>
          </a:stretch>
        </p:blipFill>
        <p:spPr>
          <a:xfrm>
            <a:off x="85850" y="684525"/>
            <a:ext cx="4839101" cy="3232226"/>
          </a:xfrm>
          <a:prstGeom prst="rect">
            <a:avLst/>
          </a:prstGeom>
          <a:noFill/>
          <a:ln>
            <a:noFill/>
          </a:ln>
        </p:spPr>
      </p:pic>
      <p:sp>
        <p:nvSpPr>
          <p:cNvPr id="398" name="Google Shape;398;g3886c7a67cc_0_127"/>
          <p:cNvSpPr/>
          <p:nvPr/>
        </p:nvSpPr>
        <p:spPr>
          <a:xfrm>
            <a:off x="4230800" y="1283500"/>
            <a:ext cx="427800" cy="4089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9" name="Google Shape;399;g3886c7a67cc_0_127"/>
          <p:cNvSpPr/>
          <p:nvPr/>
        </p:nvSpPr>
        <p:spPr>
          <a:xfrm>
            <a:off x="3128225" y="3441950"/>
            <a:ext cx="427800" cy="4089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00" name="Google Shape;400;g3886c7a67cc_0_127"/>
          <p:cNvPicPr preferRelativeResize="0"/>
          <p:nvPr/>
        </p:nvPicPr>
        <p:blipFill>
          <a:blip r:embed="rId4">
            <a:alphaModFix/>
          </a:blip>
          <a:stretch>
            <a:fillRect/>
          </a:stretch>
        </p:blipFill>
        <p:spPr>
          <a:xfrm>
            <a:off x="5044350" y="3441950"/>
            <a:ext cx="4023600" cy="1425800"/>
          </a:xfrm>
          <a:prstGeom prst="rect">
            <a:avLst/>
          </a:prstGeom>
          <a:noFill/>
          <a:ln>
            <a:noFill/>
          </a:ln>
        </p:spPr>
      </p:pic>
      <p:sp>
        <p:nvSpPr>
          <p:cNvPr id="401" name="Google Shape;401;g3886c7a67cc_0_127"/>
          <p:cNvSpPr txBox="1"/>
          <p:nvPr/>
        </p:nvSpPr>
        <p:spPr>
          <a:xfrm>
            <a:off x="5044350" y="2766650"/>
            <a:ext cx="3413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D">
                <a:solidFill>
                  <a:schemeClr val="dk1"/>
                </a:solidFill>
              </a:rPr>
              <a:t>Remove appBar (example in search.dart)</a:t>
            </a:r>
            <a:endParaRPr>
              <a:solidFill>
                <a:schemeClr val="dk1"/>
              </a:solidFill>
            </a:endParaRPr>
          </a:p>
        </p:txBody>
      </p:sp>
      <p:sp>
        <p:nvSpPr>
          <p:cNvPr id="402" name="Google Shape;402;g3886c7a67cc_0_127"/>
          <p:cNvSpPr/>
          <p:nvPr/>
        </p:nvSpPr>
        <p:spPr>
          <a:xfrm>
            <a:off x="7548875" y="2966300"/>
            <a:ext cx="427800" cy="304800"/>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6" name="Shape 406"/>
        <p:cNvGrpSpPr/>
        <p:nvPr/>
      </p:nvGrpSpPr>
      <p:grpSpPr>
        <a:xfrm>
          <a:off x="0" y="0"/>
          <a:ext cx="0" cy="0"/>
          <a:chOff x="0" y="0"/>
          <a:chExt cx="0" cy="0"/>
        </a:xfrm>
      </p:grpSpPr>
      <p:sp>
        <p:nvSpPr>
          <p:cNvPr id="407" name="Google Shape;407;p27"/>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4800"/>
              <a:buFont typeface="Arial"/>
              <a:buNone/>
            </a:pPr>
            <a:r>
              <a:rPr b="1" lang="en-ID" sz="4800">
                <a:solidFill>
                  <a:srgbClr val="DAE5F1"/>
                </a:solidFill>
              </a:rPr>
              <a:t>EXERCISE</a:t>
            </a:r>
            <a:endParaRPr/>
          </a:p>
        </p:txBody>
      </p:sp>
      <p:sp>
        <p:nvSpPr>
          <p:cNvPr id="408" name="Google Shape;408;p27"/>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06</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2" name="Shape 412"/>
        <p:cNvGrpSpPr/>
        <p:nvPr/>
      </p:nvGrpSpPr>
      <p:grpSpPr>
        <a:xfrm>
          <a:off x="0" y="0"/>
          <a:ext cx="0" cy="0"/>
          <a:chOff x="0" y="0"/>
          <a:chExt cx="0" cy="0"/>
        </a:xfrm>
      </p:grpSpPr>
      <p:sp>
        <p:nvSpPr>
          <p:cNvPr id="413" name="Google Shape;413;p28"/>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Class Activity(30 Minutes)</a:t>
            </a:r>
            <a:endParaRPr/>
          </a:p>
        </p:txBody>
      </p:sp>
      <p:cxnSp>
        <p:nvCxnSpPr>
          <p:cNvPr id="414" name="Google Shape;414;p2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415" name="Google Shape;415;p2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6" name="Google Shape;416;p28"/>
          <p:cNvSpPr txBox="1"/>
          <p:nvPr/>
        </p:nvSpPr>
        <p:spPr>
          <a:xfrm>
            <a:off x="155575" y="855023"/>
            <a:ext cx="8774669" cy="3739600"/>
          </a:xfrm>
          <a:prstGeom prst="rect">
            <a:avLst/>
          </a:prstGeom>
          <a:noFill/>
          <a:ln>
            <a:noFill/>
          </a:ln>
        </p:spPr>
        <p:txBody>
          <a:bodyPr anchorCtr="0" anchor="t" bIns="45700" lIns="91425" spcFirstLastPara="1" rIns="91425" wrap="square" tIns="45700">
            <a:normAutofit lnSpcReduction="10000"/>
          </a:bodyPr>
          <a:lstStyle/>
          <a:p>
            <a:pPr indent="0" lvl="0" marL="0" marR="0" rtl="0" algn="l">
              <a:spcBef>
                <a:spcPts val="0"/>
              </a:spcBef>
              <a:spcAft>
                <a:spcPts val="0"/>
              </a:spcAft>
              <a:buNone/>
            </a:pPr>
            <a:r>
              <a:rPr lang="en-ID" sz="2000">
                <a:solidFill>
                  <a:schemeClr val="dk1"/>
                </a:solidFill>
                <a:latin typeface="Arial"/>
                <a:ea typeface="Arial"/>
                <a:cs typeface="Arial"/>
                <a:sym typeface="Arial"/>
              </a:rPr>
              <a:t>If we can use Image.network(url) for showing image from internet, and from pravatar website we can pick the specific example image by using:</a:t>
            </a:r>
            <a:endParaRPr/>
          </a:p>
          <a:p>
            <a:pPr indent="0" lvl="0" marL="0" marR="0" rtl="0" algn="l">
              <a:spcBef>
                <a:spcPts val="0"/>
              </a:spcBef>
              <a:spcAft>
                <a:spcPts val="0"/>
              </a:spcAft>
              <a:buNone/>
            </a:pPr>
            <a:r>
              <a:rPr lang="en-ID" sz="2000" u="sng">
                <a:solidFill>
                  <a:schemeClr val="dk1"/>
                </a:solidFill>
                <a:latin typeface="Arial"/>
                <a:ea typeface="Arial"/>
                <a:cs typeface="Arial"/>
                <a:sym typeface="Arial"/>
                <a:hlinkClick r:id="rId4">
                  <a:extLst>
                    <a:ext uri="{A12FA001-AC4F-418D-AE19-62706E023703}">
                      <ahyp:hlinkClr val="tx"/>
                    </a:ext>
                  </a:extLst>
                </a:hlinkClick>
              </a:rPr>
              <a:t>https://i.pravatar.cc/300</a:t>
            </a:r>
            <a:r>
              <a:rPr b="1" lang="en-ID" sz="2000" u="sng">
                <a:solidFill>
                  <a:schemeClr val="dk1"/>
                </a:solidFill>
                <a:latin typeface="Arial"/>
                <a:ea typeface="Arial"/>
                <a:cs typeface="Arial"/>
                <a:sym typeface="Arial"/>
                <a:hlinkClick r:id="rId5">
                  <a:extLst>
                    <a:ext uri="{A12FA001-AC4F-418D-AE19-62706E023703}">
                      <ahyp:hlinkClr val="tx"/>
                    </a:ext>
                  </a:extLst>
                </a:hlinkClick>
              </a:rPr>
              <a:t>?img=[imagenumber]</a:t>
            </a:r>
            <a:endParaRPr sz="2000">
              <a:solidFill>
                <a:schemeClr val="dk1"/>
              </a:solidFill>
              <a:latin typeface="Arial"/>
              <a:ea typeface="Arial"/>
              <a:cs typeface="Arial"/>
              <a:sym typeface="Arial"/>
            </a:endParaRPr>
          </a:p>
          <a:p>
            <a:pPr indent="0" lvl="0" marL="0" marR="0" rtl="0" algn="l">
              <a:spcBef>
                <a:spcPts val="0"/>
              </a:spcBef>
              <a:spcAft>
                <a:spcPts val="0"/>
              </a:spcAft>
              <a:buNone/>
            </a:pPr>
            <a:r>
              <a:rPr b="0" i="0" lang="en-ID" sz="2000" u="none" cap="none" strike="noStrike">
                <a:solidFill>
                  <a:schemeClr val="dk1"/>
                </a:solidFill>
                <a:latin typeface="Arial"/>
                <a:ea typeface="Arial"/>
                <a:cs typeface="Arial"/>
                <a:sym typeface="Arial"/>
              </a:rPr>
              <a:t>*imagenumber 1 to 70</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355600" lvl="0" marL="457200" marR="0" rtl="0" algn="l">
              <a:spcBef>
                <a:spcPts val="0"/>
              </a:spcBef>
              <a:spcAft>
                <a:spcPts val="0"/>
              </a:spcAft>
              <a:buClr>
                <a:schemeClr val="dk1"/>
              </a:buClr>
              <a:buSzPts val="2000"/>
              <a:buChar char="●"/>
            </a:pPr>
            <a:r>
              <a:rPr b="0" i="0" lang="en-ID" sz="2000" u="none" cap="none" strike="noStrike">
                <a:solidFill>
                  <a:schemeClr val="dk1"/>
                </a:solidFill>
                <a:latin typeface="Arial"/>
                <a:ea typeface="Arial"/>
                <a:cs typeface="Arial"/>
                <a:sym typeface="Arial"/>
              </a:rPr>
              <a:t>Build </a:t>
            </a:r>
            <a:r>
              <a:rPr b="1" i="0" lang="en-ID" sz="2000" u="none" cap="none" strike="noStrike">
                <a:solidFill>
                  <a:schemeClr val="dk1"/>
                </a:solidFill>
              </a:rPr>
              <a:t>StudentList</a:t>
            </a:r>
            <a:r>
              <a:rPr b="0" i="0" lang="en-ID" sz="2000" u="none" cap="none" strike="noStrike">
                <a:solidFill>
                  <a:schemeClr val="dk1"/>
                </a:solidFill>
                <a:latin typeface="Arial"/>
                <a:ea typeface="Arial"/>
                <a:cs typeface="Arial"/>
                <a:sym typeface="Arial"/>
              </a:rPr>
              <a:t> and </a:t>
            </a:r>
            <a:r>
              <a:rPr b="1" i="0" lang="en-ID" sz="2000" u="none" cap="none" strike="noStrike">
                <a:solidFill>
                  <a:schemeClr val="dk1"/>
                </a:solidFill>
              </a:rPr>
              <a:t>StudentDetail</a:t>
            </a:r>
            <a:r>
              <a:rPr b="0" i="0" lang="en-ID" sz="2000" u="none" cap="none" strike="noStrike">
                <a:solidFill>
                  <a:schemeClr val="dk1"/>
                </a:solidFill>
                <a:latin typeface="Arial"/>
                <a:ea typeface="Arial"/>
                <a:cs typeface="Arial"/>
                <a:sym typeface="Arial"/>
              </a:rPr>
              <a:t> Screen. </a:t>
            </a:r>
            <a:endParaRPr/>
          </a:p>
          <a:p>
            <a:pPr indent="-355600" lvl="0" marL="457200" marR="0" rtl="0" algn="l">
              <a:spcBef>
                <a:spcPts val="0"/>
              </a:spcBef>
              <a:spcAft>
                <a:spcPts val="0"/>
              </a:spcAft>
              <a:buClr>
                <a:schemeClr val="dk1"/>
              </a:buClr>
              <a:buSzPts val="2000"/>
              <a:buChar char="●"/>
            </a:pPr>
            <a:r>
              <a:rPr lang="en-ID" sz="2000">
                <a:solidFill>
                  <a:schemeClr val="dk1"/>
                </a:solidFill>
                <a:latin typeface="Arial"/>
                <a:ea typeface="Arial"/>
                <a:cs typeface="Arial"/>
                <a:sym typeface="Arial"/>
              </a:rPr>
              <a:t>Open </a:t>
            </a:r>
            <a:r>
              <a:rPr b="1" lang="en-ID" sz="2000">
                <a:solidFill>
                  <a:schemeClr val="dk1"/>
                </a:solidFill>
              </a:rPr>
              <a:t>StudentList</a:t>
            </a:r>
            <a:r>
              <a:rPr lang="en-ID" sz="2000">
                <a:solidFill>
                  <a:schemeClr val="dk1"/>
                </a:solidFill>
                <a:latin typeface="Arial"/>
                <a:ea typeface="Arial"/>
                <a:cs typeface="Arial"/>
                <a:sym typeface="Arial"/>
              </a:rPr>
              <a:t> from </a:t>
            </a:r>
            <a:r>
              <a:rPr b="1" lang="en-ID" sz="2000">
                <a:solidFill>
                  <a:schemeClr val="dk1"/>
                </a:solidFill>
              </a:rPr>
              <a:t>drawer menu</a:t>
            </a:r>
            <a:r>
              <a:rPr lang="en-ID" sz="2000">
                <a:solidFill>
                  <a:schemeClr val="dk1"/>
                </a:solidFill>
                <a:latin typeface="Arial"/>
                <a:ea typeface="Arial"/>
                <a:cs typeface="Arial"/>
                <a:sym typeface="Arial"/>
              </a:rPr>
              <a:t>.</a:t>
            </a:r>
            <a:endParaRPr sz="2000">
              <a:solidFill>
                <a:schemeClr val="dk1"/>
              </a:solidFill>
            </a:endParaRPr>
          </a:p>
          <a:p>
            <a:pPr indent="-355600" lvl="0" marL="457200" marR="0" rtl="0" algn="l">
              <a:spcBef>
                <a:spcPts val="0"/>
              </a:spcBef>
              <a:spcAft>
                <a:spcPts val="0"/>
              </a:spcAft>
              <a:buClr>
                <a:schemeClr val="dk1"/>
              </a:buClr>
              <a:buSzPts val="2000"/>
              <a:buChar char="●"/>
            </a:pPr>
            <a:r>
              <a:rPr b="0" i="0" lang="en-ID" sz="2000" u="none" cap="none" strike="noStrike">
                <a:solidFill>
                  <a:schemeClr val="dk1"/>
                </a:solidFill>
                <a:latin typeface="Arial"/>
                <a:ea typeface="Arial"/>
                <a:cs typeface="Arial"/>
                <a:sym typeface="Arial"/>
              </a:rPr>
              <a:t>In student list, put </a:t>
            </a:r>
            <a:r>
              <a:rPr b="1" i="0" lang="en-ID" sz="2000" u="none" cap="none" strike="noStrike">
                <a:solidFill>
                  <a:schemeClr val="dk1"/>
                </a:solidFill>
              </a:rPr>
              <a:t>3 buttons </a:t>
            </a:r>
            <a:r>
              <a:rPr b="1" lang="en-ID" sz="2000">
                <a:solidFill>
                  <a:schemeClr val="dk1"/>
                </a:solidFill>
              </a:rPr>
              <a:t>with caption Student #number</a:t>
            </a:r>
            <a:r>
              <a:rPr lang="en-ID" sz="2000">
                <a:solidFill>
                  <a:schemeClr val="dk1"/>
                </a:solidFill>
                <a:latin typeface="Arial"/>
                <a:ea typeface="Arial"/>
                <a:cs typeface="Arial"/>
                <a:sym typeface="Arial"/>
              </a:rPr>
              <a:t>.</a:t>
            </a:r>
            <a:endParaRPr/>
          </a:p>
          <a:p>
            <a:pPr indent="-355600" lvl="0" marL="457200" marR="0" rtl="0" algn="l">
              <a:spcBef>
                <a:spcPts val="0"/>
              </a:spcBef>
              <a:spcAft>
                <a:spcPts val="0"/>
              </a:spcAft>
              <a:buClr>
                <a:schemeClr val="dk1"/>
              </a:buClr>
              <a:buSzPts val="2000"/>
              <a:buChar char="●"/>
            </a:pPr>
            <a:r>
              <a:rPr lang="en-ID" sz="2000">
                <a:solidFill>
                  <a:schemeClr val="dk1"/>
                </a:solidFill>
                <a:latin typeface="Arial"/>
                <a:ea typeface="Arial"/>
                <a:cs typeface="Arial"/>
                <a:sym typeface="Arial"/>
              </a:rPr>
              <a:t>Put different number you like from </a:t>
            </a:r>
            <a:r>
              <a:rPr b="1" lang="en-ID" sz="2000">
                <a:solidFill>
                  <a:schemeClr val="dk1"/>
                </a:solidFill>
              </a:rPr>
              <a:t>1 to 70</a:t>
            </a:r>
            <a:r>
              <a:rPr lang="en-ID" sz="2000">
                <a:solidFill>
                  <a:schemeClr val="dk1"/>
                </a:solidFill>
                <a:latin typeface="Arial"/>
                <a:ea typeface="Arial"/>
                <a:cs typeface="Arial"/>
                <a:sym typeface="Arial"/>
              </a:rPr>
              <a:t>. If user click this button, </a:t>
            </a:r>
            <a:r>
              <a:rPr b="1" lang="en-ID" sz="2000">
                <a:solidFill>
                  <a:schemeClr val="dk1"/>
                </a:solidFill>
              </a:rPr>
              <a:t>open the StudentDetail screen</a:t>
            </a:r>
            <a:r>
              <a:rPr lang="en-ID" sz="2000">
                <a:solidFill>
                  <a:schemeClr val="dk1"/>
                </a:solidFill>
                <a:latin typeface="Arial"/>
                <a:ea typeface="Arial"/>
                <a:cs typeface="Arial"/>
                <a:sym typeface="Arial"/>
              </a:rPr>
              <a:t> which show </a:t>
            </a:r>
            <a:r>
              <a:rPr b="1" lang="en-ID" sz="2000">
                <a:solidFill>
                  <a:schemeClr val="dk1"/>
                </a:solidFill>
              </a:rPr>
              <a:t>the picture of the student</a:t>
            </a:r>
            <a:r>
              <a:rPr lang="en-ID" sz="2000">
                <a:solidFill>
                  <a:schemeClr val="dk1"/>
                </a:solidFill>
                <a:latin typeface="Arial"/>
                <a:ea typeface="Arial"/>
                <a:cs typeface="Arial"/>
                <a:sym typeface="Arial"/>
              </a:rPr>
              <a:t> (from pravatar website)</a:t>
            </a:r>
            <a:endParaRPr sz="2000">
              <a:solidFill>
                <a:schemeClr val="dk1"/>
              </a:solidFill>
              <a:latin typeface="Arial"/>
              <a:ea typeface="Arial"/>
              <a:cs typeface="Arial"/>
              <a:sym typeface="Arial"/>
            </a:endParaRPr>
          </a:p>
          <a:p>
            <a:pPr indent="-355600" lvl="0" marL="457200" marR="0" rtl="0" algn="l">
              <a:spcBef>
                <a:spcPts val="0"/>
              </a:spcBef>
              <a:spcAft>
                <a:spcPts val="0"/>
              </a:spcAft>
              <a:buClr>
                <a:schemeClr val="dk1"/>
              </a:buClr>
              <a:buSzPts val="2000"/>
              <a:buChar char="●"/>
            </a:pPr>
            <a:r>
              <a:rPr lang="en-ID" sz="2000">
                <a:solidFill>
                  <a:schemeClr val="dk1"/>
                </a:solidFill>
              </a:rPr>
              <a:t>Upload Class Activity Result into ULS(lib folder only)</a:t>
            </a:r>
            <a:endParaRPr sz="2000">
              <a:solidFill>
                <a:schemeClr val="dk1"/>
              </a:solidFill>
            </a:endParaRPr>
          </a:p>
        </p:txBody>
      </p:sp>
      <p:sp>
        <p:nvSpPr>
          <p:cNvPr descr="blob:https://web.whatsapp.com/4be9237d-cfc1-462e-ba51-978e9348df04" id="417" name="Google Shape;417;p2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1" name="Shape 421"/>
        <p:cNvGrpSpPr/>
        <p:nvPr/>
      </p:nvGrpSpPr>
      <p:grpSpPr>
        <a:xfrm>
          <a:off x="0" y="0"/>
          <a:ext cx="0" cy="0"/>
          <a:chOff x="0" y="0"/>
          <a:chExt cx="0" cy="0"/>
        </a:xfrm>
      </p:grpSpPr>
      <p:sp>
        <p:nvSpPr>
          <p:cNvPr id="422" name="Google Shape;422;g3886c7a67cc_0_141"/>
          <p:cNvSpPr txBox="1"/>
          <p:nvPr>
            <p:ph type="title"/>
          </p:nvPr>
        </p:nvSpPr>
        <p:spPr>
          <a:xfrm>
            <a:off x="0" y="0"/>
            <a:ext cx="8229600" cy="5769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Exercise Result</a:t>
            </a:r>
            <a:endParaRPr/>
          </a:p>
        </p:txBody>
      </p:sp>
      <p:cxnSp>
        <p:nvCxnSpPr>
          <p:cNvPr id="423" name="Google Shape;423;g3886c7a67cc_0_141"/>
          <p:cNvCxnSpPr/>
          <p:nvPr/>
        </p:nvCxnSpPr>
        <p:spPr>
          <a:xfrm>
            <a:off x="0" y="576943"/>
            <a:ext cx="7337100" cy="150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50"/>
              </a:srgbClr>
            </a:outerShdw>
          </a:effectLst>
        </p:spPr>
      </p:cxnSp>
      <p:sp>
        <p:nvSpPr>
          <p:cNvPr descr="Google's Flutter framework spreads its wings and goes multi-platform |  TechCrunch" id="424" name="Google Shape;424;g3886c7a67cc_0_141"/>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descr="blob:https://web.whatsapp.com/4be9237d-cfc1-462e-ba51-978e9348df04" id="425" name="Google Shape;425;g3886c7a67cc_0_141"/>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426" name="Google Shape;426;g3886c7a67cc_0_141"/>
          <p:cNvPicPr preferRelativeResize="0"/>
          <p:nvPr/>
        </p:nvPicPr>
        <p:blipFill>
          <a:blip r:embed="rId4">
            <a:alphaModFix/>
          </a:blip>
          <a:stretch>
            <a:fillRect/>
          </a:stretch>
        </p:blipFill>
        <p:spPr>
          <a:xfrm>
            <a:off x="1139100" y="717199"/>
            <a:ext cx="2187000" cy="3709101"/>
          </a:xfrm>
          <a:prstGeom prst="rect">
            <a:avLst/>
          </a:prstGeom>
          <a:noFill/>
          <a:ln cap="flat" cmpd="sng" w="19050">
            <a:solidFill>
              <a:schemeClr val="dk2"/>
            </a:solidFill>
            <a:prstDash val="solid"/>
            <a:round/>
            <a:headEnd len="sm" w="sm" type="none"/>
            <a:tailEnd len="sm" w="sm" type="none"/>
          </a:ln>
        </p:spPr>
      </p:pic>
      <p:pic>
        <p:nvPicPr>
          <p:cNvPr id="427" name="Google Shape;427;g3886c7a67cc_0_141"/>
          <p:cNvPicPr preferRelativeResize="0"/>
          <p:nvPr/>
        </p:nvPicPr>
        <p:blipFill>
          <a:blip r:embed="rId5">
            <a:alphaModFix/>
          </a:blip>
          <a:stretch>
            <a:fillRect/>
          </a:stretch>
        </p:blipFill>
        <p:spPr>
          <a:xfrm>
            <a:off x="3478500" y="717199"/>
            <a:ext cx="2187000" cy="3672007"/>
          </a:xfrm>
          <a:prstGeom prst="rect">
            <a:avLst/>
          </a:prstGeom>
          <a:noFill/>
          <a:ln cap="flat" cmpd="sng" w="19050">
            <a:solidFill>
              <a:schemeClr val="dk2"/>
            </a:solidFill>
            <a:prstDash val="solid"/>
            <a:round/>
            <a:headEnd len="sm" w="sm" type="none"/>
            <a:tailEnd len="sm" w="sm" type="none"/>
          </a:ln>
        </p:spPr>
      </p:pic>
      <p:pic>
        <p:nvPicPr>
          <p:cNvPr id="428" name="Google Shape;428;g3886c7a67cc_0_141"/>
          <p:cNvPicPr preferRelativeResize="0"/>
          <p:nvPr/>
        </p:nvPicPr>
        <p:blipFill>
          <a:blip r:embed="rId6">
            <a:alphaModFix/>
          </a:blip>
          <a:stretch>
            <a:fillRect/>
          </a:stretch>
        </p:blipFill>
        <p:spPr>
          <a:xfrm>
            <a:off x="5817900" y="717199"/>
            <a:ext cx="2186999" cy="3648605"/>
          </a:xfrm>
          <a:prstGeom prst="rect">
            <a:avLst/>
          </a:prstGeom>
          <a:noFill/>
          <a:ln cap="flat" cmpd="sng" w="19050">
            <a:solidFill>
              <a:schemeClr val="dk2"/>
            </a:solidFill>
            <a:prstDash val="solid"/>
            <a:round/>
            <a:headEnd len="sm" w="sm" type="none"/>
            <a:tailEnd len="sm" w="sm" type="none"/>
          </a:ln>
        </p:spPr>
      </p:pic>
      <p:cxnSp>
        <p:nvCxnSpPr>
          <p:cNvPr id="429" name="Google Shape;429;g3886c7a67cc_0_141"/>
          <p:cNvCxnSpPr/>
          <p:nvPr/>
        </p:nvCxnSpPr>
        <p:spPr>
          <a:xfrm>
            <a:off x="4837200" y="1412450"/>
            <a:ext cx="1502100" cy="1083900"/>
          </a:xfrm>
          <a:prstGeom prst="curvedConnector3">
            <a:avLst>
              <a:gd fmla="val 50000" name="adj1"/>
            </a:avLst>
          </a:prstGeom>
          <a:noFill/>
          <a:ln cap="flat" cmpd="sng" w="19050">
            <a:solidFill>
              <a:schemeClr val="dk2"/>
            </a:solidFill>
            <a:prstDash val="solid"/>
            <a:round/>
            <a:headEnd len="med" w="med" type="none"/>
            <a:tailEnd len="med" w="med" type="triangle"/>
          </a:ln>
        </p:spPr>
      </p:cxnSp>
      <p:cxnSp>
        <p:nvCxnSpPr>
          <p:cNvPr id="430" name="Google Shape;430;g3886c7a67cc_0_141"/>
          <p:cNvCxnSpPr/>
          <p:nvPr/>
        </p:nvCxnSpPr>
        <p:spPr>
          <a:xfrm flipH="1" rot="10800000">
            <a:off x="2099075" y="1402950"/>
            <a:ext cx="1568700" cy="11694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29"/>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Additional Sources</a:t>
            </a:r>
            <a:endParaRPr/>
          </a:p>
        </p:txBody>
      </p:sp>
      <p:cxnSp>
        <p:nvCxnSpPr>
          <p:cNvPr id="436" name="Google Shape;436;p29"/>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437" name="Google Shape;437;p2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8" name="Google Shape;438;p29"/>
          <p:cNvSpPr txBox="1"/>
          <p:nvPr/>
        </p:nvSpPr>
        <p:spPr>
          <a:xfrm>
            <a:off x="155575" y="855023"/>
            <a:ext cx="8774669" cy="3739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lang="en-ID" sz="2000">
                <a:solidFill>
                  <a:schemeClr val="dk1"/>
                </a:solidFill>
                <a:latin typeface="Arial"/>
                <a:ea typeface="Arial"/>
                <a:cs typeface="Arial"/>
                <a:sym typeface="Arial"/>
              </a:rPr>
              <a:t>Learn different UI Widget:</a:t>
            </a:r>
            <a:br>
              <a:rPr lang="en-ID" sz="2000">
                <a:solidFill>
                  <a:schemeClr val="dk1"/>
                </a:solidFill>
                <a:latin typeface="Arial"/>
                <a:ea typeface="Arial"/>
                <a:cs typeface="Arial"/>
                <a:sym typeface="Arial"/>
              </a:rPr>
            </a:br>
            <a:r>
              <a:rPr lang="en-ID" sz="2000" u="sng">
                <a:solidFill>
                  <a:schemeClr val="dk1"/>
                </a:solidFill>
                <a:latin typeface="Arial"/>
                <a:ea typeface="Arial"/>
                <a:cs typeface="Arial"/>
                <a:sym typeface="Arial"/>
                <a:hlinkClick r:id="rId3">
                  <a:extLst>
                    <a:ext uri="{A12FA001-AC4F-418D-AE19-62706E023703}">
                      <ahyp:hlinkClr val="tx"/>
                    </a:ext>
                  </a:extLst>
                </a:hlinkClick>
              </a:rPr>
              <a:t>https://docs.flutter.dev/ui/widgets/material</a:t>
            </a:r>
            <a:r>
              <a:rPr lang="en-ID" sz="2000">
                <a:solidFill>
                  <a:schemeClr val="dk1"/>
                </a:solidFill>
                <a:latin typeface="Arial"/>
                <a:ea typeface="Arial"/>
                <a:cs typeface="Arial"/>
                <a:sym typeface="Arial"/>
              </a:rPr>
              <a:t> (for Android)</a:t>
            </a:r>
            <a:br>
              <a:rPr lang="en-ID" sz="2000">
                <a:solidFill>
                  <a:schemeClr val="dk1"/>
                </a:solidFill>
                <a:latin typeface="Arial"/>
                <a:ea typeface="Arial"/>
                <a:cs typeface="Arial"/>
                <a:sym typeface="Arial"/>
              </a:rPr>
            </a:br>
            <a:r>
              <a:rPr lang="en-ID" sz="2000" u="sng">
                <a:solidFill>
                  <a:schemeClr val="dk1"/>
                </a:solidFill>
                <a:latin typeface="Arial"/>
                <a:ea typeface="Arial"/>
                <a:cs typeface="Arial"/>
                <a:sym typeface="Arial"/>
                <a:hlinkClick r:id="rId4">
                  <a:extLst>
                    <a:ext uri="{A12FA001-AC4F-418D-AE19-62706E023703}">
                      <ahyp:hlinkClr val="tx"/>
                    </a:ext>
                  </a:extLst>
                </a:hlinkClick>
              </a:rPr>
              <a:t>https://docs.flutter.dev/ui/widgets/cupertino</a:t>
            </a:r>
            <a:r>
              <a:rPr lang="en-ID" sz="2000">
                <a:solidFill>
                  <a:schemeClr val="dk1"/>
                </a:solidFill>
                <a:latin typeface="Arial"/>
                <a:ea typeface="Arial"/>
                <a:cs typeface="Arial"/>
                <a:sym typeface="Arial"/>
              </a:rPr>
              <a:t> (for iOS)</a:t>
            </a:r>
            <a:endParaRPr/>
          </a:p>
          <a:p>
            <a:pPr indent="0" lvl="0" marL="0" marR="0" rtl="0" algn="l">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lang="en-ID" sz="2000">
                <a:solidFill>
                  <a:schemeClr val="dk1"/>
                </a:solidFill>
                <a:latin typeface="Arial"/>
                <a:ea typeface="Arial"/>
                <a:cs typeface="Arial"/>
                <a:sym typeface="Arial"/>
              </a:rPr>
              <a:t>To use Cupertino (iOS theme), import package:flutter/cupertino.dart</a:t>
            </a:r>
            <a:endParaRPr b="0" i="0" sz="2000" u="none" cap="none" strike="noStrike">
              <a:solidFill>
                <a:schemeClr val="dk1"/>
              </a:solidFill>
              <a:latin typeface="Arial"/>
              <a:ea typeface="Arial"/>
              <a:cs typeface="Arial"/>
              <a:sym typeface="Arial"/>
            </a:endParaRPr>
          </a:p>
        </p:txBody>
      </p:sp>
      <p:sp>
        <p:nvSpPr>
          <p:cNvPr descr="blob:https://web.whatsapp.com/4be9237d-cfc1-462e-ba51-978e9348df04" id="439" name="Google Shape;439;p2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3" name="Shape 443"/>
        <p:cNvGrpSpPr/>
        <p:nvPr/>
      </p:nvGrpSpPr>
      <p:grpSpPr>
        <a:xfrm>
          <a:off x="0" y="0"/>
          <a:ext cx="0" cy="0"/>
          <a:chOff x="0" y="0"/>
          <a:chExt cx="0" cy="0"/>
        </a:xfrm>
      </p:grpSpPr>
      <p:sp>
        <p:nvSpPr>
          <p:cNvPr id="444" name="Google Shape;444;p30"/>
          <p:cNvSpPr txBox="1"/>
          <p:nvPr/>
        </p:nvSpPr>
        <p:spPr>
          <a:xfrm>
            <a:off x="4862945" y="778274"/>
            <a:ext cx="3946237" cy="407081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400"/>
              <a:buFont typeface="Arial"/>
              <a:buNone/>
            </a:pPr>
            <a:r>
              <a:t/>
            </a:r>
            <a:endParaRPr sz="1400">
              <a:solidFill>
                <a:schemeClr val="lt1"/>
              </a:solidFill>
              <a:latin typeface="Arial"/>
              <a:ea typeface="Arial"/>
              <a:cs typeface="Arial"/>
              <a:sym typeface="Arial"/>
            </a:endParaRPr>
          </a:p>
        </p:txBody>
      </p:sp>
      <p:pic>
        <p:nvPicPr>
          <p:cNvPr descr="Blue-man-Questions-Comments" id="445" name="Google Shape;445;p30"/>
          <p:cNvPicPr preferRelativeResize="0"/>
          <p:nvPr/>
        </p:nvPicPr>
        <p:blipFill rotWithShape="1">
          <a:blip r:embed="rId4">
            <a:alphaModFix/>
          </a:blip>
          <a:srcRect b="0" l="0" r="0" t="0"/>
          <a:stretch/>
        </p:blipFill>
        <p:spPr>
          <a:xfrm>
            <a:off x="388657" y="547551"/>
            <a:ext cx="4474288" cy="462426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formatik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2010-04-12T23:12:02Z</dcterms:created>
  <dc:creator>Diana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0x0101004CDBB0EA5517DF4B873B215CB2C55DE6</vt:lpwstr>
  </property>
</Properties>
</file>