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Mon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0" roundtripDataSignature="AMtx7mj4Put7p7E5Mr2Tai9ZzHwRbYou6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Mono-bold.fntdata"/><Relationship Id="rId14" Type="http://schemas.openxmlformats.org/officeDocument/2006/relationships/slide" Target="slides/slide9.xml"/><Relationship Id="rId36" Type="http://schemas.openxmlformats.org/officeDocument/2006/relationships/font" Target="fonts/RobotoMono-regular.fntdata"/><Relationship Id="rId17" Type="http://schemas.openxmlformats.org/officeDocument/2006/relationships/slide" Target="slides/slide12.xml"/><Relationship Id="rId39" Type="http://schemas.openxmlformats.org/officeDocument/2006/relationships/font" Target="fonts/RobotoMono-boldItalic.fntdata"/><Relationship Id="rId16" Type="http://schemas.openxmlformats.org/officeDocument/2006/relationships/slide" Target="slides/slide11.xml"/><Relationship Id="rId38" Type="http://schemas.openxmlformats.org/officeDocument/2006/relationships/font" Target="fonts/RobotoMon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D"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8617f301d9_0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g38617f301d9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8617f301d9_0_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g38617f301d9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2"/>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3"/>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4"/>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4"/>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 name="Shape 33"/>
        <p:cNvGrpSpPr/>
        <p:nvPr/>
      </p:nvGrpSpPr>
      <p:grpSpPr>
        <a:xfrm>
          <a:off x="0" y="0"/>
          <a:ext cx="0" cy="0"/>
          <a:chOff x="0" y="0"/>
          <a:chExt cx="0" cy="0"/>
        </a:xfrm>
      </p:grpSpPr>
      <p:sp>
        <p:nvSpPr>
          <p:cNvPr id="34" name="Google Shape;34;p35"/>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5"/>
          <p:cNvSpPr/>
          <p:nvPr>
            <p:ph idx="2" type="pic"/>
          </p:nvPr>
        </p:nvSpPr>
        <p:spPr>
          <a:xfrm>
            <a:off x="1792288" y="459581"/>
            <a:ext cx="5486400" cy="3086100"/>
          </a:xfrm>
          <a:prstGeom prst="rect">
            <a:avLst/>
          </a:prstGeom>
          <a:noFill/>
          <a:ln>
            <a:noFill/>
          </a:ln>
        </p:spPr>
      </p:sp>
      <p:sp>
        <p:nvSpPr>
          <p:cNvPr id="36" name="Google Shape;36;p35"/>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7" name="Google Shape;37;p3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3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6"/>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36"/>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3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3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7"/>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37"/>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37"/>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2" name="Google Shape;52;p37"/>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3" name="Google Shape;53;p3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3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3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40"/>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0"/>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8" name="Google Shape;68;p40"/>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4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solidFill>
                <a:srgbClr val="88A44E"/>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1"/>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2"/>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2"/>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1"/>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3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8.png"/><Relationship Id="rId5" Type="http://schemas.openxmlformats.org/officeDocument/2006/relationships/hyperlink" Target="https://flutter.dev/docs/development/ui/animation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20" Type="http://schemas.openxmlformats.org/officeDocument/2006/relationships/hyperlink" Target="https://api.flutter.dev/flutter/widgets/AnimatedSwitcher-class.html" TargetMode="External"/><Relationship Id="rId22" Type="http://schemas.openxmlformats.org/officeDocument/2006/relationships/hyperlink" Target="https://api.flutter.dev/flutter/material/Theme-class.html" TargetMode="External"/><Relationship Id="rId21" Type="http://schemas.openxmlformats.org/officeDocument/2006/relationships/hyperlink" Target="https://api.flutter.dev/flutter/material/AnimatedTheme-class.html" TargetMode="External"/><Relationship Id="rId24" Type="http://schemas.openxmlformats.org/officeDocument/2006/relationships/hyperlink" Target="https://api.flutter.dev/flutter/widgets/AnimatedSize-class.html" TargetMode="External"/><Relationship Id="rId23" Type="http://schemas.openxmlformats.org/officeDocument/2006/relationships/hyperlink" Target="https://api.flutter.dev/flutter/widgets/AnimatedCrossFade-class.html" TargetMode="External"/><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hyperlink" Target="https://api.flutter.dev/flutter/widgets/AnimatedDefaultTextStyle-class.html" TargetMode="External"/><Relationship Id="rId9" Type="http://schemas.openxmlformats.org/officeDocument/2006/relationships/hyperlink" Target="https://api.flutter.dev/flutter/widgets/Opacity-class.html" TargetMode="External"/><Relationship Id="rId26" Type="http://schemas.openxmlformats.org/officeDocument/2006/relationships/hyperlink" Target="https://api.flutter.dev/flutter/animation/Tween-class.html" TargetMode="External"/><Relationship Id="rId25" Type="http://schemas.openxmlformats.org/officeDocument/2006/relationships/hyperlink" Target="https://api.flutter.dev/flutter/widgets/TweenAnimationBuilder-class.html" TargetMode="External"/><Relationship Id="rId5" Type="http://schemas.openxmlformats.org/officeDocument/2006/relationships/hyperlink" Target="https://api.flutter.dev/flutter/widgets/DefaultTextStyle-class.html" TargetMode="External"/><Relationship Id="rId6" Type="http://schemas.openxmlformats.org/officeDocument/2006/relationships/hyperlink" Target="https://api.flutter.dev/flutter/widgets/AnimatedAlign-class.html" TargetMode="External"/><Relationship Id="rId7" Type="http://schemas.openxmlformats.org/officeDocument/2006/relationships/hyperlink" Target="https://api.flutter.dev/flutter/widgets/Align-class.html" TargetMode="External"/><Relationship Id="rId8" Type="http://schemas.openxmlformats.org/officeDocument/2006/relationships/hyperlink" Target="https://api.flutter.dev/flutter/widgets/AnimatedOpacity-class.html" TargetMode="External"/><Relationship Id="rId11" Type="http://schemas.openxmlformats.org/officeDocument/2006/relationships/hyperlink" Target="https://api.flutter.dev/flutter/widgets/Padding-class.html" TargetMode="External"/><Relationship Id="rId10" Type="http://schemas.openxmlformats.org/officeDocument/2006/relationships/hyperlink" Target="https://api.flutter.dev/flutter/widgets/AnimatedPadding-class.html" TargetMode="External"/><Relationship Id="rId13" Type="http://schemas.openxmlformats.org/officeDocument/2006/relationships/hyperlink" Target="https://api.flutter.dev/flutter/widgets/PhysicalModel-class.html" TargetMode="External"/><Relationship Id="rId12" Type="http://schemas.openxmlformats.org/officeDocument/2006/relationships/hyperlink" Target="https://api.flutter.dev/flutter/widgets/AnimatedPhysicalModel-class.html" TargetMode="External"/><Relationship Id="rId15" Type="http://schemas.openxmlformats.org/officeDocument/2006/relationships/hyperlink" Target="https://api.flutter.dev/flutter/widgets/Container-class.html" TargetMode="External"/><Relationship Id="rId14" Type="http://schemas.openxmlformats.org/officeDocument/2006/relationships/hyperlink" Target="https://api.flutter.dev/flutter/widgets/AnimatedContainer-class.html" TargetMode="External"/><Relationship Id="rId17" Type="http://schemas.openxmlformats.org/officeDocument/2006/relationships/hyperlink" Target="https://api.flutter.dev/flutter/widgets/Positioned-class.html" TargetMode="External"/><Relationship Id="rId16" Type="http://schemas.openxmlformats.org/officeDocument/2006/relationships/hyperlink" Target="https://api.flutter.dev/flutter/widgets/AnimatedPositioned-class.html" TargetMode="External"/><Relationship Id="rId19" Type="http://schemas.openxmlformats.org/officeDocument/2006/relationships/hyperlink" Target="https://api.flutter.dev/flutter/widgets/PositionedDirectional-class.html" TargetMode="External"/><Relationship Id="rId18" Type="http://schemas.openxmlformats.org/officeDocument/2006/relationships/hyperlink" Target="https://api.flutter.dev/flutter/widgets/AnimatedPositionedDirectional-class.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jpg"/><Relationship Id="rId4" Type="http://schemas.openxmlformats.org/officeDocument/2006/relationships/hyperlink" Target="https://api.flutter.dev/flutter/widgets/widgets/Align-class.html" TargetMode="External"/><Relationship Id="rId5" Type="http://schemas.openxmlformats.org/officeDocument/2006/relationships/hyperlink" Target="https://api.flutter.dev/flutter/widgets/widgets/AnimatedAlign/alignment.html" TargetMode="External"/><Relationship Id="rId6" Type="http://schemas.openxmlformats.org/officeDocument/2006/relationships/hyperlink" Target="https://api.flutter.dev/flutter/animation/Curves-class.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jpg"/><Relationship Id="rId4" Type="http://schemas.openxmlformats.org/officeDocument/2006/relationships/hyperlink" Target="https://api.flutter.dev/flutter/widgets/widgets/Opacity-class.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jpg"/><Relationship Id="rId4" Type="http://schemas.openxmlformats.org/officeDocument/2006/relationships/hyperlink" Target="https://api.flutter.dev/flutter/widgets/widgets/Container-class.html" TargetMode="External"/><Relationship Id="rId5" Type="http://schemas.openxmlformats.org/officeDocument/2006/relationships/hyperlink" Target="https://api.flutter.dev/flutter/widgets/widgets/AnimatedContainer-class.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jpg"/><Relationship Id="rId4" Type="http://schemas.openxmlformats.org/officeDocument/2006/relationships/image" Target="../media/image9.png"/><Relationship Id="rId5"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7.jpg"/><Relationship Id="rId4" Type="http://schemas.openxmlformats.org/officeDocument/2006/relationships/hyperlink" Target="https://master-api.flutter.dev/flutter/widgets/TweenAnimationBuilder-class.html" TargetMode="External"/><Relationship Id="rId5"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jp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1.jp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8" name="Google Shape;88;p1"/>
          <p:cNvSpPr txBox="1"/>
          <p:nvPr>
            <p:ph type="ctrTitle"/>
          </p:nvPr>
        </p:nvSpPr>
        <p:spPr>
          <a:xfrm>
            <a:off x="685799" y="1935264"/>
            <a:ext cx="8162926" cy="127297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6000"/>
              <a:buFont typeface="Arial"/>
              <a:buNone/>
            </a:pPr>
            <a:r>
              <a:rPr lang="en-ID" sz="6000">
                <a:solidFill>
                  <a:schemeClr val="lt1"/>
                </a:solidFill>
              </a:rPr>
              <a:t>Animation</a:t>
            </a:r>
            <a:endParaRPr b="1" sz="6000">
              <a:solidFill>
                <a:schemeClr val="lt1"/>
              </a:solidFill>
            </a:endParaRPr>
          </a:p>
        </p:txBody>
      </p:sp>
      <p:sp>
        <p:nvSpPr>
          <p:cNvPr id="89" name="Google Shape;89;p1"/>
          <p:cNvSpPr txBox="1"/>
          <p:nvPr>
            <p:ph idx="1" type="subTitle"/>
          </p:nvPr>
        </p:nvSpPr>
        <p:spPr>
          <a:xfrm>
            <a:off x="4685145" y="3468832"/>
            <a:ext cx="3962400" cy="110316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FF"/>
              </a:buClr>
              <a:buSzPts val="1600"/>
              <a:buNone/>
            </a:pPr>
            <a:r>
              <a:rPr lang="en-ID" sz="1600">
                <a:solidFill>
                  <a:srgbClr val="FFFFFF"/>
                </a:solidFill>
              </a:rPr>
              <a:t>Week 7</a:t>
            </a:r>
            <a:endParaRPr/>
          </a:p>
          <a:p>
            <a:pPr indent="0" lvl="0" marL="0" rtl="0" algn="l">
              <a:spcBef>
                <a:spcPts val="320"/>
              </a:spcBef>
              <a:spcAft>
                <a:spcPts val="0"/>
              </a:spcAft>
              <a:buClr>
                <a:srgbClr val="C6D9F1"/>
              </a:buClr>
              <a:buSzPts val="1600"/>
              <a:buNone/>
            </a:pPr>
            <a:r>
              <a:rPr lang="en-ID" sz="1600">
                <a:solidFill>
                  <a:srgbClr val="C6D9F1"/>
                </a:solidFill>
              </a:rPr>
              <a:t>Program Studi Teknik Informatika</a:t>
            </a:r>
            <a:endParaRPr sz="1600">
              <a:solidFill>
                <a:srgbClr val="C6D9F1"/>
              </a:solidFill>
            </a:endParaRPr>
          </a:p>
          <a:p>
            <a:pPr indent="0" lvl="0" marL="0" rtl="0" algn="l">
              <a:spcBef>
                <a:spcPts val="320"/>
              </a:spcBef>
              <a:spcAft>
                <a:spcPts val="0"/>
              </a:spcAft>
              <a:buClr>
                <a:srgbClr val="C6D9F1"/>
              </a:buClr>
              <a:buSzPts val="1600"/>
              <a:buNone/>
            </a:pPr>
            <a:r>
              <a:rPr lang="en-ID" sz="1600">
                <a:solidFill>
                  <a:srgbClr val="C6D9F1"/>
                </a:solidFill>
              </a:rPr>
              <a:t>Fakultas Teknik – Universitas Surabaya</a:t>
            </a:r>
            <a:endParaRPr/>
          </a:p>
        </p:txBody>
      </p:sp>
      <p:sp>
        <p:nvSpPr>
          <p:cNvPr id="90" name="Google Shape;90;p1"/>
          <p:cNvSpPr txBox="1"/>
          <p:nvPr/>
        </p:nvSpPr>
        <p:spPr>
          <a:xfrm>
            <a:off x="685799" y="1166090"/>
            <a:ext cx="5721927" cy="461674"/>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lt1"/>
              </a:buClr>
              <a:buSzPts val="2000"/>
              <a:buFont typeface="Arial"/>
              <a:buNone/>
            </a:pPr>
            <a:r>
              <a:rPr b="0" i="0" lang="en-ID" sz="2000" u="none" cap="none" strike="noStrike">
                <a:solidFill>
                  <a:schemeClr val="lt1"/>
                </a:solidFill>
                <a:latin typeface="Arial"/>
                <a:ea typeface="Arial"/>
                <a:cs typeface="Arial"/>
                <a:sym typeface="Arial"/>
              </a:rPr>
              <a:t>Emerging Technology : Flutter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2"/>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Define your need</a:t>
            </a:r>
            <a:endParaRPr/>
          </a:p>
        </p:txBody>
      </p:sp>
      <p:cxnSp>
        <p:nvCxnSpPr>
          <p:cNvPr id="96" name="Google Shape;96;p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97" name="Google Shape;97;p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The animation decision tree" id="98" name="Google Shape;98;p2"/>
          <p:cNvPicPr preferRelativeResize="0"/>
          <p:nvPr/>
        </p:nvPicPr>
        <p:blipFill rotWithShape="1">
          <a:blip r:embed="rId4">
            <a:alphaModFix/>
          </a:blip>
          <a:srcRect b="0" l="0" r="0" t="0"/>
          <a:stretch/>
        </p:blipFill>
        <p:spPr>
          <a:xfrm>
            <a:off x="4645206" y="111626"/>
            <a:ext cx="4498794" cy="4966300"/>
          </a:xfrm>
          <a:prstGeom prst="rect">
            <a:avLst/>
          </a:prstGeom>
          <a:noFill/>
          <a:ln>
            <a:noFill/>
          </a:ln>
        </p:spPr>
      </p:pic>
      <p:sp>
        <p:nvSpPr>
          <p:cNvPr id="99" name="Google Shape;99;p2"/>
          <p:cNvSpPr/>
          <p:nvPr/>
        </p:nvSpPr>
        <p:spPr>
          <a:xfrm>
            <a:off x="266791" y="988201"/>
            <a:ext cx="45720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u="sng">
                <a:solidFill>
                  <a:schemeClr val="dk1"/>
                </a:solidFill>
                <a:latin typeface="Arial"/>
                <a:ea typeface="Arial"/>
                <a:cs typeface="Arial"/>
                <a:sym typeface="Arial"/>
                <a:hlinkClick r:id="rId5">
                  <a:extLst>
                    <a:ext uri="{A12FA001-AC4F-418D-AE19-62706E023703}">
                      <ahyp:hlinkClr val="tx"/>
                    </a:ext>
                  </a:extLst>
                </a:hlinkClick>
              </a:rPr>
              <a:t>https://flutter.dev/docs/development/ui/animations</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3" name="Shape 103"/>
        <p:cNvGrpSpPr/>
        <p:nvPr/>
      </p:nvGrpSpPr>
      <p:grpSpPr>
        <a:xfrm>
          <a:off x="0" y="0"/>
          <a:ext cx="0" cy="0"/>
          <a:chOff x="0" y="0"/>
          <a:chExt cx="0" cy="0"/>
        </a:xfrm>
      </p:grpSpPr>
      <p:sp>
        <p:nvSpPr>
          <p:cNvPr id="104" name="Google Shape;104;p3"/>
          <p:cNvSpPr txBox="1"/>
          <p:nvPr>
            <p:ph type="title"/>
          </p:nvPr>
        </p:nvSpPr>
        <p:spPr>
          <a:xfrm>
            <a:off x="3567544" y="1595245"/>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6000"/>
              <a:buFont typeface="Arial"/>
              <a:buNone/>
            </a:pPr>
            <a:r>
              <a:rPr lang="en-ID" sz="6000">
                <a:solidFill>
                  <a:srgbClr val="DAE5F1"/>
                </a:solidFill>
              </a:rPr>
              <a:t>IMPLICIT ANIMATION</a:t>
            </a:r>
            <a:endParaRPr b="1" sz="6000">
              <a:solidFill>
                <a:srgbClr val="DAE5F1"/>
              </a:solidFill>
            </a:endParaRPr>
          </a:p>
        </p:txBody>
      </p:sp>
      <p:sp>
        <p:nvSpPr>
          <p:cNvPr id="105" name="Google Shape;105;p3"/>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Implicit animation</a:t>
            </a:r>
            <a:endParaRPr/>
          </a:p>
        </p:txBody>
      </p:sp>
      <p:cxnSp>
        <p:nvCxnSpPr>
          <p:cNvPr id="111" name="Google Shape;111;p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12" name="Google Shape;112;p4"/>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None/>
            </a:pPr>
            <a:r>
              <a:rPr lang="en-ID" sz="1600"/>
              <a:t>The most straightforward way to add animations to your app. You don’t have to be an expert on animations or animation terminology to add animations to your app.</a:t>
            </a:r>
            <a:br>
              <a:rPr lang="en-ID" sz="1200"/>
            </a:br>
            <a:endParaRPr sz="1200"/>
          </a:p>
          <a:p>
            <a:pPr indent="-342900" lvl="0" marL="342900" rtl="0" algn="l">
              <a:spcBef>
                <a:spcPts val="240"/>
              </a:spcBef>
              <a:spcAft>
                <a:spcPts val="0"/>
              </a:spcAft>
              <a:buClr>
                <a:schemeClr val="dk1"/>
              </a:buClr>
              <a:buSzPts val="1200"/>
              <a:buChar char="•"/>
            </a:pPr>
            <a:r>
              <a:rPr lang="en-ID" sz="1200" u="sng">
                <a:solidFill>
                  <a:schemeClr val="hlink"/>
                </a:solidFill>
                <a:hlinkClick r:id="rId4"/>
              </a:rPr>
              <a:t>AnimatedDefaultTextStyle</a:t>
            </a:r>
            <a:r>
              <a:rPr lang="en-ID" sz="1200"/>
              <a:t>, which is an implicitly animated version of </a:t>
            </a:r>
            <a:r>
              <a:rPr lang="en-ID" sz="1200" u="sng">
                <a:solidFill>
                  <a:schemeClr val="hlink"/>
                </a:solidFill>
                <a:hlinkClick r:id="rId5"/>
              </a:rPr>
              <a:t>DefaultTextStyle</a:t>
            </a:r>
            <a:r>
              <a:rPr lang="en-ID" sz="1200"/>
              <a:t>.  V</a:t>
            </a:r>
            <a:endParaRPr/>
          </a:p>
          <a:p>
            <a:pPr indent="-342900" lvl="0" marL="342900" rtl="0" algn="l">
              <a:spcBef>
                <a:spcPts val="240"/>
              </a:spcBef>
              <a:spcAft>
                <a:spcPts val="0"/>
              </a:spcAft>
              <a:buClr>
                <a:schemeClr val="dk1"/>
              </a:buClr>
              <a:buSzPts val="1200"/>
              <a:buChar char="•"/>
            </a:pPr>
            <a:r>
              <a:rPr lang="en-ID" sz="1200" u="sng">
                <a:solidFill>
                  <a:schemeClr val="hlink"/>
                </a:solidFill>
                <a:hlinkClick r:id="rId6"/>
              </a:rPr>
              <a:t>AnimatedAlign</a:t>
            </a:r>
            <a:r>
              <a:rPr lang="en-ID" sz="1200"/>
              <a:t>, which is an implicitly animated version of </a:t>
            </a:r>
            <a:r>
              <a:rPr lang="en-ID" sz="1200" u="sng">
                <a:solidFill>
                  <a:schemeClr val="hlink"/>
                </a:solidFill>
                <a:hlinkClick r:id="rId7"/>
              </a:rPr>
              <a:t>Align</a:t>
            </a:r>
            <a:r>
              <a:rPr lang="en-ID" sz="1200"/>
              <a:t>. V</a:t>
            </a:r>
            <a:endParaRPr/>
          </a:p>
          <a:p>
            <a:pPr indent="-342900" lvl="0" marL="342900" rtl="0" algn="l">
              <a:spcBef>
                <a:spcPts val="240"/>
              </a:spcBef>
              <a:spcAft>
                <a:spcPts val="0"/>
              </a:spcAft>
              <a:buClr>
                <a:schemeClr val="dk1"/>
              </a:buClr>
              <a:buSzPts val="1200"/>
              <a:buChar char="•"/>
            </a:pPr>
            <a:r>
              <a:rPr lang="en-ID" sz="1200" u="sng">
                <a:solidFill>
                  <a:schemeClr val="hlink"/>
                </a:solidFill>
                <a:hlinkClick r:id="rId8"/>
              </a:rPr>
              <a:t>AnimatedOpacity</a:t>
            </a:r>
            <a:r>
              <a:rPr lang="en-ID" sz="1200"/>
              <a:t>, which is an implicitly animated version of </a:t>
            </a:r>
            <a:r>
              <a:rPr lang="en-ID" sz="1200" u="sng">
                <a:solidFill>
                  <a:schemeClr val="hlink"/>
                </a:solidFill>
                <a:hlinkClick r:id="rId9"/>
              </a:rPr>
              <a:t>Opacity</a:t>
            </a:r>
            <a:r>
              <a:rPr lang="en-ID" sz="1200"/>
              <a:t>. V</a:t>
            </a:r>
            <a:endParaRPr/>
          </a:p>
          <a:p>
            <a:pPr indent="-342900" lvl="0" marL="342900" rtl="0" algn="l">
              <a:spcBef>
                <a:spcPts val="240"/>
              </a:spcBef>
              <a:spcAft>
                <a:spcPts val="0"/>
              </a:spcAft>
              <a:buClr>
                <a:schemeClr val="dk1"/>
              </a:buClr>
              <a:buSzPts val="1200"/>
              <a:buChar char="•"/>
            </a:pPr>
            <a:r>
              <a:rPr lang="en-ID" sz="1200" u="sng">
                <a:solidFill>
                  <a:schemeClr val="hlink"/>
                </a:solidFill>
                <a:hlinkClick r:id="rId10"/>
              </a:rPr>
              <a:t>AnimatedPadding</a:t>
            </a:r>
            <a:r>
              <a:rPr lang="en-ID" sz="1200"/>
              <a:t>, which is an implicitly animated version of </a:t>
            </a:r>
            <a:r>
              <a:rPr lang="en-ID" sz="1200" u="sng">
                <a:solidFill>
                  <a:schemeClr val="hlink"/>
                </a:solidFill>
                <a:hlinkClick r:id="rId11"/>
              </a:rPr>
              <a:t>Padding</a:t>
            </a:r>
            <a:r>
              <a:rPr lang="en-ID" sz="1200"/>
              <a:t>. </a:t>
            </a:r>
            <a:endParaRPr/>
          </a:p>
          <a:p>
            <a:pPr indent="-342900" lvl="0" marL="342900" rtl="0" algn="l">
              <a:spcBef>
                <a:spcPts val="240"/>
              </a:spcBef>
              <a:spcAft>
                <a:spcPts val="0"/>
              </a:spcAft>
              <a:buClr>
                <a:schemeClr val="dk1"/>
              </a:buClr>
              <a:buSzPts val="1200"/>
              <a:buChar char="•"/>
            </a:pPr>
            <a:r>
              <a:rPr lang="en-ID" sz="1200" u="sng">
                <a:solidFill>
                  <a:schemeClr val="hlink"/>
                </a:solidFill>
                <a:hlinkClick r:id="rId12"/>
              </a:rPr>
              <a:t>AnimatedPhysicalModel</a:t>
            </a:r>
            <a:r>
              <a:rPr lang="en-ID" sz="1200"/>
              <a:t>, which is an implicitly animated version of </a:t>
            </a:r>
            <a:r>
              <a:rPr lang="en-ID" sz="1200" u="sng">
                <a:solidFill>
                  <a:schemeClr val="hlink"/>
                </a:solidFill>
                <a:hlinkClick r:id="rId13"/>
              </a:rPr>
              <a:t>PhysicalModel</a:t>
            </a:r>
            <a:r>
              <a:rPr lang="en-ID" sz="1200"/>
              <a:t>. </a:t>
            </a:r>
            <a:endParaRPr/>
          </a:p>
          <a:p>
            <a:pPr indent="-342900" lvl="0" marL="342900" rtl="0" algn="l">
              <a:spcBef>
                <a:spcPts val="240"/>
              </a:spcBef>
              <a:spcAft>
                <a:spcPts val="0"/>
              </a:spcAft>
              <a:buClr>
                <a:schemeClr val="dk1"/>
              </a:buClr>
              <a:buSzPts val="1200"/>
              <a:buChar char="•"/>
            </a:pPr>
            <a:r>
              <a:rPr lang="en-ID" sz="1200" u="sng">
                <a:solidFill>
                  <a:schemeClr val="hlink"/>
                </a:solidFill>
                <a:hlinkClick r:id="rId14"/>
              </a:rPr>
              <a:t>AnimatedContainer</a:t>
            </a:r>
            <a:r>
              <a:rPr lang="en-ID" sz="1200"/>
              <a:t>, which is an implicitly animated version of </a:t>
            </a:r>
            <a:r>
              <a:rPr lang="en-ID" sz="1200" u="sng">
                <a:solidFill>
                  <a:schemeClr val="hlink"/>
                </a:solidFill>
                <a:hlinkClick r:id="rId15"/>
              </a:rPr>
              <a:t>Container</a:t>
            </a:r>
            <a:r>
              <a:rPr lang="en-ID" sz="1200"/>
              <a:t>.  V</a:t>
            </a:r>
            <a:endParaRPr/>
          </a:p>
          <a:p>
            <a:pPr indent="-342900" lvl="0" marL="342900" rtl="0" algn="l">
              <a:spcBef>
                <a:spcPts val="240"/>
              </a:spcBef>
              <a:spcAft>
                <a:spcPts val="0"/>
              </a:spcAft>
              <a:buClr>
                <a:schemeClr val="dk1"/>
              </a:buClr>
              <a:buSzPts val="1200"/>
              <a:buChar char="•"/>
            </a:pPr>
            <a:r>
              <a:rPr lang="en-ID" sz="1200" u="sng">
                <a:solidFill>
                  <a:schemeClr val="hlink"/>
                </a:solidFill>
                <a:hlinkClick r:id="rId16"/>
              </a:rPr>
              <a:t>AnimatedPositioned</a:t>
            </a:r>
            <a:r>
              <a:rPr lang="en-ID" sz="1200"/>
              <a:t>, which is an implicitly animated version of </a:t>
            </a:r>
            <a:r>
              <a:rPr lang="en-ID" sz="1200" u="sng">
                <a:solidFill>
                  <a:schemeClr val="hlink"/>
                </a:solidFill>
                <a:hlinkClick r:id="rId17"/>
              </a:rPr>
              <a:t>Positioned</a:t>
            </a:r>
            <a:r>
              <a:rPr lang="en-ID" sz="1200"/>
              <a:t>. </a:t>
            </a:r>
            <a:endParaRPr/>
          </a:p>
          <a:p>
            <a:pPr indent="-342900" lvl="0" marL="342900" rtl="0" algn="l">
              <a:spcBef>
                <a:spcPts val="240"/>
              </a:spcBef>
              <a:spcAft>
                <a:spcPts val="0"/>
              </a:spcAft>
              <a:buClr>
                <a:schemeClr val="dk1"/>
              </a:buClr>
              <a:buSzPts val="1200"/>
              <a:buChar char="•"/>
            </a:pPr>
            <a:r>
              <a:rPr lang="en-ID" sz="1200" u="sng">
                <a:solidFill>
                  <a:schemeClr val="hlink"/>
                </a:solidFill>
                <a:hlinkClick r:id="rId18"/>
              </a:rPr>
              <a:t>AnimatedPositionedDirectional</a:t>
            </a:r>
            <a:r>
              <a:rPr lang="en-ID" sz="1200"/>
              <a:t>, which is an implicitly animated version of </a:t>
            </a:r>
            <a:r>
              <a:rPr lang="en-ID" sz="1200" u="sng">
                <a:solidFill>
                  <a:schemeClr val="hlink"/>
                </a:solidFill>
                <a:hlinkClick r:id="rId19"/>
              </a:rPr>
              <a:t>PositionedDirectional</a:t>
            </a:r>
            <a:r>
              <a:rPr lang="en-ID" sz="1200"/>
              <a:t>.</a:t>
            </a:r>
            <a:endParaRPr/>
          </a:p>
          <a:p>
            <a:pPr indent="-342900" lvl="0" marL="342900" rtl="0" algn="l">
              <a:spcBef>
                <a:spcPts val="240"/>
              </a:spcBef>
              <a:spcAft>
                <a:spcPts val="0"/>
              </a:spcAft>
              <a:buClr>
                <a:schemeClr val="dk1"/>
              </a:buClr>
              <a:buSzPts val="1200"/>
              <a:buChar char="•"/>
            </a:pPr>
            <a:r>
              <a:rPr lang="en-ID" sz="1200" u="sng">
                <a:solidFill>
                  <a:schemeClr val="hlink"/>
                </a:solidFill>
                <a:hlinkClick r:id="rId20"/>
              </a:rPr>
              <a:t>AnimatedSwitcher</a:t>
            </a:r>
            <a:r>
              <a:rPr lang="en-ID" sz="1200"/>
              <a:t>, which fades from one widget to another.  V</a:t>
            </a:r>
            <a:endParaRPr/>
          </a:p>
          <a:p>
            <a:pPr indent="-342900" lvl="0" marL="342900" rtl="0" algn="l">
              <a:spcBef>
                <a:spcPts val="240"/>
              </a:spcBef>
              <a:spcAft>
                <a:spcPts val="0"/>
              </a:spcAft>
              <a:buClr>
                <a:schemeClr val="dk1"/>
              </a:buClr>
              <a:buSzPts val="1200"/>
              <a:buChar char="•"/>
            </a:pPr>
            <a:r>
              <a:rPr lang="en-ID" sz="1200" u="sng">
                <a:solidFill>
                  <a:schemeClr val="hlink"/>
                </a:solidFill>
                <a:hlinkClick r:id="rId21"/>
              </a:rPr>
              <a:t>AnimatedTheme</a:t>
            </a:r>
            <a:r>
              <a:rPr lang="en-ID" sz="1200"/>
              <a:t>, which is an implicitly animated version of </a:t>
            </a:r>
            <a:r>
              <a:rPr lang="en-ID" sz="1200" u="sng">
                <a:solidFill>
                  <a:schemeClr val="hlink"/>
                </a:solidFill>
                <a:hlinkClick r:id="rId22"/>
              </a:rPr>
              <a:t>Theme</a:t>
            </a:r>
            <a:r>
              <a:rPr lang="en-ID" sz="1200"/>
              <a:t>.</a:t>
            </a:r>
            <a:endParaRPr/>
          </a:p>
          <a:p>
            <a:pPr indent="-342900" lvl="0" marL="342900" rtl="0" algn="l">
              <a:spcBef>
                <a:spcPts val="240"/>
              </a:spcBef>
              <a:spcAft>
                <a:spcPts val="0"/>
              </a:spcAft>
              <a:buClr>
                <a:schemeClr val="dk1"/>
              </a:buClr>
              <a:buSzPts val="1200"/>
              <a:buChar char="•"/>
            </a:pPr>
            <a:r>
              <a:rPr lang="en-ID" sz="1200" u="sng">
                <a:solidFill>
                  <a:schemeClr val="hlink"/>
                </a:solidFill>
                <a:hlinkClick r:id="rId23"/>
              </a:rPr>
              <a:t>AnimatedCrossFade</a:t>
            </a:r>
            <a:r>
              <a:rPr lang="en-ID" sz="1200"/>
              <a:t>, which cross-fades between two given children and animates itself between their sizes. V</a:t>
            </a:r>
            <a:endParaRPr/>
          </a:p>
          <a:p>
            <a:pPr indent="-342900" lvl="0" marL="342900" rtl="0" algn="l">
              <a:spcBef>
                <a:spcPts val="240"/>
              </a:spcBef>
              <a:spcAft>
                <a:spcPts val="0"/>
              </a:spcAft>
              <a:buClr>
                <a:schemeClr val="dk1"/>
              </a:buClr>
              <a:buSzPts val="1200"/>
              <a:buChar char="•"/>
            </a:pPr>
            <a:r>
              <a:rPr lang="en-ID" sz="1200" u="sng">
                <a:solidFill>
                  <a:schemeClr val="hlink"/>
                </a:solidFill>
                <a:hlinkClick r:id="rId24"/>
              </a:rPr>
              <a:t>AnimatedSize</a:t>
            </a:r>
            <a:r>
              <a:rPr lang="en-ID" sz="1200"/>
              <a:t>, which automatically transitions its size over a given duration. </a:t>
            </a:r>
            <a:endParaRPr/>
          </a:p>
          <a:p>
            <a:pPr indent="-342900" lvl="0" marL="342900" rtl="0" algn="l">
              <a:spcBef>
                <a:spcPts val="240"/>
              </a:spcBef>
              <a:spcAft>
                <a:spcPts val="0"/>
              </a:spcAft>
              <a:buClr>
                <a:schemeClr val="dk1"/>
              </a:buClr>
              <a:buSzPts val="1200"/>
              <a:buChar char="•"/>
            </a:pPr>
            <a:r>
              <a:rPr lang="en-ID" sz="1200" u="sng">
                <a:solidFill>
                  <a:schemeClr val="hlink"/>
                </a:solidFill>
                <a:hlinkClick r:id="rId25"/>
              </a:rPr>
              <a:t>TweenAnimationBuilder</a:t>
            </a:r>
            <a:r>
              <a:rPr lang="en-ID" sz="1200"/>
              <a:t>, which animates any property expressed by a </a:t>
            </a:r>
            <a:r>
              <a:rPr lang="en-ID" sz="1200" u="sng">
                <a:solidFill>
                  <a:schemeClr val="hlink"/>
                </a:solidFill>
                <a:hlinkClick r:id="rId26"/>
              </a:rPr>
              <a:t>Tween</a:t>
            </a:r>
            <a:r>
              <a:rPr lang="en-ID" sz="1200"/>
              <a:t> to a specified target value. V</a:t>
            </a:r>
            <a:endParaRPr/>
          </a:p>
          <a:p>
            <a:pPr indent="-266700" lvl="0" marL="342900" rtl="0" algn="l">
              <a:spcBef>
                <a:spcPts val="240"/>
              </a:spcBef>
              <a:spcAft>
                <a:spcPts val="0"/>
              </a:spcAft>
              <a:buClr>
                <a:schemeClr val="dk1"/>
              </a:buClr>
              <a:buSzPts val="1200"/>
              <a:buNone/>
            </a:pPr>
            <a:r>
              <a:t/>
            </a:r>
            <a:endParaRPr sz="1200"/>
          </a:p>
          <a:p>
            <a:pPr indent="-266700" lvl="0" marL="342900" rtl="0" algn="l">
              <a:spcBef>
                <a:spcPts val="240"/>
              </a:spcBef>
              <a:spcAft>
                <a:spcPts val="0"/>
              </a:spcAft>
              <a:buClr>
                <a:schemeClr val="dk1"/>
              </a:buClr>
              <a:buSzPts val="1200"/>
              <a:buNone/>
            </a:pPr>
            <a:r>
              <a:t/>
            </a:r>
            <a:endParaRPr sz="1200"/>
          </a:p>
          <a:p>
            <a:pPr indent="-342900" lvl="0" marL="342900" rtl="0" algn="l">
              <a:spcBef>
                <a:spcPts val="200"/>
              </a:spcBef>
              <a:spcAft>
                <a:spcPts val="0"/>
              </a:spcAft>
              <a:buClr>
                <a:schemeClr val="dk1"/>
              </a:buClr>
              <a:buSzPts val="1000"/>
              <a:buNone/>
            </a:pPr>
            <a:r>
              <a:t/>
            </a:r>
            <a:endParaRPr sz="1000">
              <a:solidFill>
                <a:srgbClr val="0070C0"/>
              </a:solidFill>
            </a:endParaRPr>
          </a:p>
        </p:txBody>
      </p:sp>
      <p:sp>
        <p:nvSpPr>
          <p:cNvPr descr="Google's Flutter framework spreads its wings and goes multi-platform |  TechCrunch" id="113" name="Google Shape;113;p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 name="Shape 117"/>
        <p:cNvGrpSpPr/>
        <p:nvPr/>
      </p:nvGrpSpPr>
      <p:grpSpPr>
        <a:xfrm>
          <a:off x="0" y="0"/>
          <a:ext cx="0" cy="0"/>
          <a:chOff x="0" y="0"/>
          <a:chExt cx="0" cy="0"/>
        </a:xfrm>
      </p:grpSpPr>
      <p:sp>
        <p:nvSpPr>
          <p:cNvPr id="118" name="Google Shape;118;p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Page Preparation</a:t>
            </a:r>
            <a:endParaRPr/>
          </a:p>
        </p:txBody>
      </p:sp>
      <p:cxnSp>
        <p:nvCxnSpPr>
          <p:cNvPr id="119" name="Google Shape;119;p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20" name="Google Shape;120;p5"/>
          <p:cNvSpPr txBox="1"/>
          <p:nvPr>
            <p:ph idx="1" type="body"/>
          </p:nvPr>
        </p:nvSpPr>
        <p:spPr>
          <a:xfrm>
            <a:off x="460376" y="817124"/>
            <a:ext cx="3249476"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None/>
            </a:pPr>
            <a:r>
              <a:rPr lang="en-ID" sz="1400"/>
              <a:t>In order to try some animation widget, we will use a new stateful widget with the root widget is a </a:t>
            </a:r>
            <a:r>
              <a:rPr b="0" lang="en-ID" sz="1400">
                <a:latin typeface="Arial"/>
                <a:ea typeface="Arial"/>
                <a:cs typeface="Arial"/>
                <a:sym typeface="Arial"/>
              </a:rPr>
              <a:t>SingleChildScrollView</a:t>
            </a:r>
            <a:endParaRPr b="0" sz="1400">
              <a:latin typeface="Arial"/>
              <a:ea typeface="Arial"/>
              <a:cs typeface="Arial"/>
              <a:sym typeface="Arial"/>
            </a:endParaRPr>
          </a:p>
          <a:p>
            <a:pPr indent="0" lvl="0" marL="0" rtl="0" algn="l">
              <a:spcBef>
                <a:spcPts val="280"/>
              </a:spcBef>
              <a:spcAft>
                <a:spcPts val="0"/>
              </a:spcAft>
              <a:buClr>
                <a:schemeClr val="dk1"/>
              </a:buClr>
              <a:buSzPts val="1400"/>
              <a:buNone/>
            </a:pPr>
            <a:r>
              <a:rPr lang="en-ID" sz="1400"/>
              <a:t>with Column so it can contain a lot of widget without worrying exceeding the screen height. Prepare also the menu to open this screen.</a:t>
            </a:r>
            <a:endParaRPr/>
          </a:p>
          <a:p>
            <a:pPr indent="0" lvl="0" marL="0" rtl="0" algn="l">
              <a:spcBef>
                <a:spcPts val="360"/>
              </a:spcBef>
              <a:spcAft>
                <a:spcPts val="0"/>
              </a:spcAft>
              <a:buClr>
                <a:schemeClr val="dk1"/>
              </a:buClr>
              <a:buSzPts val="1800"/>
              <a:buNone/>
            </a:pPr>
            <a:r>
              <a:t/>
            </a:r>
            <a:endParaRPr sz="1800">
              <a:latin typeface="Consolas"/>
              <a:ea typeface="Consolas"/>
              <a:cs typeface="Consolas"/>
              <a:sym typeface="Consolas"/>
            </a:endParaRPr>
          </a:p>
        </p:txBody>
      </p:sp>
      <p:sp>
        <p:nvSpPr>
          <p:cNvPr descr="Google's Flutter framework spreads its wings and goes multi-platform |  TechCrunch" id="121" name="Google Shape;121;p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 name="Google Shape;122;p5"/>
          <p:cNvSpPr txBox="1"/>
          <p:nvPr/>
        </p:nvSpPr>
        <p:spPr>
          <a:xfrm>
            <a:off x="3814353" y="811683"/>
            <a:ext cx="5024700" cy="3894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300">
                <a:solidFill>
                  <a:srgbClr val="FF0000"/>
                </a:solidFill>
                <a:latin typeface="Consolas"/>
                <a:ea typeface="Consolas"/>
                <a:cs typeface="Consolas"/>
                <a:sym typeface="Consolas"/>
              </a:rPr>
              <a:t>import 'package:flutter/material.dart';</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class Animasi extends StatefulWidget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const Animasi({super.key});</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@override</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State&lt;Animasi&gt; createState() =&gt; _AnimasiState();</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a:t>
            </a:r>
            <a:endParaRPr sz="1300">
              <a:latin typeface="Consolas"/>
              <a:ea typeface="Consolas"/>
              <a:cs typeface="Consolas"/>
              <a:sym typeface="Consolas"/>
            </a:endParaRPr>
          </a:p>
          <a:p>
            <a:pPr indent="0" lvl="0" marL="0" marR="0" rtl="0" algn="l">
              <a:spcBef>
                <a:spcPts val="0"/>
              </a:spcBef>
              <a:spcAft>
                <a:spcPts val="0"/>
              </a:spcAft>
              <a:buNone/>
            </a:pPr>
            <a:r>
              <a:t/>
            </a:r>
            <a:endParaRPr sz="13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class _AnimasiState extends State&lt;Animasi&gt;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@override</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Widget build(BuildContext context)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return Scaffold(</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appBar: AppBar(</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title: const Text('animation test'),</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body: SingleChildScrollView(child: Column(children: &lt;Widget&gt;[</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a:t>
            </a:r>
            <a:endParaRPr sz="1300">
              <a:latin typeface="Consolas"/>
              <a:ea typeface="Consolas"/>
              <a:cs typeface="Consolas"/>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 name="Shape 126"/>
        <p:cNvGrpSpPr/>
        <p:nvPr/>
      </p:nvGrpSpPr>
      <p:grpSpPr>
        <a:xfrm>
          <a:off x="0" y="0"/>
          <a:ext cx="0" cy="0"/>
          <a:chOff x="0" y="0"/>
          <a:chExt cx="0" cy="0"/>
        </a:xfrm>
      </p:grpSpPr>
      <p:sp>
        <p:nvSpPr>
          <p:cNvPr id="127" name="Google Shape;127;p6"/>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Font typeface="Arial"/>
              <a:buNone/>
            </a:pPr>
            <a:r>
              <a:rPr lang="en-ID">
                <a:solidFill>
                  <a:schemeClr val="lt1"/>
                </a:solidFill>
              </a:rPr>
              <a:t>ANIMATEDDEFAULTTEXTSTYLE</a:t>
            </a:r>
            <a:endParaRPr>
              <a:solidFill>
                <a:schemeClr val="lt1"/>
              </a:solidFill>
            </a:endParaRPr>
          </a:p>
        </p:txBody>
      </p:sp>
      <p:sp>
        <p:nvSpPr>
          <p:cNvPr id="128" name="Google Shape;128;p6"/>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2" name="Shape 132"/>
        <p:cNvGrpSpPr/>
        <p:nvPr/>
      </p:nvGrpSpPr>
      <p:grpSpPr>
        <a:xfrm>
          <a:off x="0" y="0"/>
          <a:ext cx="0" cy="0"/>
          <a:chOff x="0" y="0"/>
          <a:chExt cx="0" cy="0"/>
        </a:xfrm>
      </p:grpSpPr>
      <p:sp>
        <p:nvSpPr>
          <p:cNvPr id="133" name="Google Shape;133;p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AnimatedDefaultTextStyle</a:t>
            </a:r>
            <a:endParaRPr b="1" sz="3600">
              <a:solidFill>
                <a:srgbClr val="000090"/>
              </a:solidFill>
            </a:endParaRPr>
          </a:p>
        </p:txBody>
      </p:sp>
      <p:cxnSp>
        <p:nvCxnSpPr>
          <p:cNvPr id="134" name="Google Shape;134;p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35" name="Google Shape;135;p7"/>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ID" sz="1800"/>
              <a:t>AnimatedDefaultTextStyle requires 3 mandatory parameters :</a:t>
            </a:r>
            <a:endParaRPr/>
          </a:p>
          <a:p>
            <a:pPr indent="-342900" lvl="0" marL="342900" rtl="0" algn="l">
              <a:spcBef>
                <a:spcPts val="360"/>
              </a:spcBef>
              <a:spcAft>
                <a:spcPts val="0"/>
              </a:spcAft>
              <a:buClr>
                <a:schemeClr val="dk1"/>
              </a:buClr>
              <a:buSzPts val="1800"/>
              <a:buChar char="•"/>
            </a:pPr>
            <a:r>
              <a:rPr lang="en-ID" sz="1800"/>
              <a:t>duration : The duration or the time period over which you want your animation to complete.</a:t>
            </a:r>
            <a:endParaRPr/>
          </a:p>
          <a:p>
            <a:pPr indent="-342900" lvl="0" marL="342900" rtl="0" algn="l">
              <a:spcBef>
                <a:spcPts val="360"/>
              </a:spcBef>
              <a:spcAft>
                <a:spcPts val="0"/>
              </a:spcAft>
              <a:buClr>
                <a:schemeClr val="dk1"/>
              </a:buClr>
              <a:buSzPts val="1800"/>
              <a:buChar char="•"/>
            </a:pPr>
            <a:r>
              <a:rPr lang="en-ID" sz="1800"/>
              <a:t>child : The child widget which you want to pass to your AnimatedDefaultTextStyle.</a:t>
            </a:r>
            <a:endParaRPr/>
          </a:p>
          <a:p>
            <a:pPr indent="-342900" lvl="0" marL="342900" rtl="0" algn="l">
              <a:spcBef>
                <a:spcPts val="360"/>
              </a:spcBef>
              <a:spcAft>
                <a:spcPts val="0"/>
              </a:spcAft>
              <a:buClr>
                <a:schemeClr val="dk1"/>
              </a:buClr>
              <a:buSzPts val="1800"/>
              <a:buChar char="•"/>
            </a:pPr>
            <a:r>
              <a:rPr lang="en-ID" sz="1800"/>
              <a:t>style : The TextStyle which you want to apply for your Text</a:t>
            </a:r>
            <a:endParaRPr/>
          </a:p>
          <a:p>
            <a:pPr indent="0" lvl="0" marL="0" rtl="0" algn="l">
              <a:spcBef>
                <a:spcPts val="280"/>
              </a:spcBef>
              <a:spcAft>
                <a:spcPts val="0"/>
              </a:spcAft>
              <a:buClr>
                <a:schemeClr val="dk1"/>
              </a:buClr>
              <a:buSzPts val="1400"/>
              <a:buNone/>
            </a:pPr>
            <a:r>
              <a:t/>
            </a:r>
            <a:endParaRPr sz="1400"/>
          </a:p>
          <a:p>
            <a:pPr indent="0" lvl="0" marL="0" rtl="0" algn="l">
              <a:spcBef>
                <a:spcPts val="280"/>
              </a:spcBef>
              <a:spcAft>
                <a:spcPts val="0"/>
              </a:spcAft>
              <a:buClr>
                <a:schemeClr val="dk1"/>
              </a:buClr>
              <a:buSzPts val="1400"/>
              <a:buNone/>
            </a:pPr>
            <a:r>
              <a:rPr lang="en-ID" sz="1400"/>
              <a:t>The child doesn’t necessarily have to be a Text widget. The way it works is that it accepts any widget and it then applies the style which we’ve passed to all the descendants which are Text in that tree.</a:t>
            </a:r>
            <a:endParaRPr/>
          </a:p>
          <a:p>
            <a:pPr indent="0" lvl="0" marL="0" rtl="0" algn="l">
              <a:spcBef>
                <a:spcPts val="280"/>
              </a:spcBef>
              <a:spcAft>
                <a:spcPts val="0"/>
              </a:spcAft>
              <a:buClr>
                <a:schemeClr val="dk1"/>
              </a:buClr>
              <a:buSzPts val="1400"/>
              <a:buNone/>
            </a:pPr>
            <a:r>
              <a:rPr lang="en-ID" sz="1400"/>
              <a:t>For example, you could pass your child a Row which has 3 Text children, so AnimatedDefaultTextStyle will apply the style to all the 3 Text widgets.</a:t>
            </a:r>
            <a:endParaRPr/>
          </a:p>
          <a:p>
            <a:pPr indent="0" lvl="0" marL="0" rtl="0" algn="l">
              <a:spcBef>
                <a:spcPts val="280"/>
              </a:spcBef>
              <a:spcAft>
                <a:spcPts val="0"/>
              </a:spcAft>
              <a:buClr>
                <a:schemeClr val="dk1"/>
              </a:buClr>
              <a:buSzPts val="1400"/>
              <a:buNone/>
            </a:pPr>
            <a:br>
              <a:rPr lang="en-ID" sz="1400"/>
            </a:br>
            <a:endParaRPr sz="1400"/>
          </a:p>
        </p:txBody>
      </p:sp>
      <p:sp>
        <p:nvSpPr>
          <p:cNvPr descr="Google's Flutter framework spreads its wings and goes multi-platform |  TechCrunch" id="136" name="Google Shape;136;p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0" name="Shape 140"/>
        <p:cNvGrpSpPr/>
        <p:nvPr/>
      </p:nvGrpSpPr>
      <p:grpSpPr>
        <a:xfrm>
          <a:off x="0" y="0"/>
          <a:ext cx="0" cy="0"/>
          <a:chOff x="0" y="0"/>
          <a:chExt cx="0" cy="0"/>
        </a:xfrm>
      </p:grpSpPr>
      <p:sp>
        <p:nvSpPr>
          <p:cNvPr id="141" name="Google Shape;141;p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Animating Text</a:t>
            </a:r>
            <a:endParaRPr/>
          </a:p>
        </p:txBody>
      </p:sp>
      <p:cxnSp>
        <p:nvCxnSpPr>
          <p:cNvPr id="142" name="Google Shape;142;p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43" name="Google Shape;143;p8"/>
          <p:cNvSpPr txBox="1"/>
          <p:nvPr>
            <p:ph idx="1" type="body"/>
          </p:nvPr>
        </p:nvSpPr>
        <p:spPr>
          <a:xfrm>
            <a:off x="460375" y="817124"/>
            <a:ext cx="8151997" cy="56900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None/>
            </a:pPr>
            <a:r>
              <a:rPr lang="en-ID" sz="1400"/>
              <a:t>We will add a text and a button. When user clicks the button, the text is animated by changing its style.</a:t>
            </a:r>
            <a:endParaRPr/>
          </a:p>
        </p:txBody>
      </p:sp>
      <p:sp>
        <p:nvSpPr>
          <p:cNvPr descr="Google's Flutter framework spreads its wings and goes multi-platform |  TechCrunch" id="144" name="Google Shape;144;p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 name="Google Shape;145;p8"/>
          <p:cNvSpPr/>
          <p:nvPr/>
        </p:nvSpPr>
        <p:spPr>
          <a:xfrm>
            <a:off x="1086383" y="1030372"/>
            <a:ext cx="4572000" cy="38164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1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AnimatedDefaultTextStyle(</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style: _animated</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 const TextStyle(</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color: Colors.blue,</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fontSize: 60,</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 const TextStyle(</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color: Colors.red,</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fontSize: 14,</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duration: const Duration(milliseconds: 1000),</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child: const Center(child: Text('Hello')),</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TextButton(</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child: const Text('Animate'),</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onPressed: ()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setState(()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_animated = !_animated;</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p:txBody>
      </p:sp>
      <p:pic>
        <p:nvPicPr>
          <p:cNvPr id="146" name="Google Shape;146;p8"/>
          <p:cNvPicPr preferRelativeResize="0"/>
          <p:nvPr/>
        </p:nvPicPr>
        <p:blipFill rotWithShape="1">
          <a:blip r:embed="rId4">
            <a:alphaModFix/>
          </a:blip>
          <a:srcRect b="0" l="0" r="0" t="0"/>
          <a:stretch/>
        </p:blipFill>
        <p:spPr>
          <a:xfrm>
            <a:off x="5534308" y="1240975"/>
            <a:ext cx="2523309" cy="1145640"/>
          </a:xfrm>
          <a:prstGeom prst="rect">
            <a:avLst/>
          </a:prstGeom>
          <a:noFill/>
          <a:ln>
            <a:noFill/>
          </a:ln>
        </p:spPr>
      </p:pic>
      <p:pic>
        <p:nvPicPr>
          <p:cNvPr id="147" name="Google Shape;147;p8"/>
          <p:cNvPicPr preferRelativeResize="0"/>
          <p:nvPr/>
        </p:nvPicPr>
        <p:blipFill rotWithShape="1">
          <a:blip r:embed="rId5">
            <a:alphaModFix/>
          </a:blip>
          <a:srcRect b="0" l="0" r="0" t="0"/>
          <a:stretch/>
        </p:blipFill>
        <p:spPr>
          <a:xfrm>
            <a:off x="5547574" y="2319726"/>
            <a:ext cx="2523309" cy="1305160"/>
          </a:xfrm>
          <a:prstGeom prst="rect">
            <a:avLst/>
          </a:prstGeom>
          <a:noFill/>
          <a:ln>
            <a:noFill/>
          </a:ln>
        </p:spPr>
      </p:pic>
      <p:pic>
        <p:nvPicPr>
          <p:cNvPr id="148" name="Google Shape;148;p8"/>
          <p:cNvPicPr preferRelativeResize="0"/>
          <p:nvPr/>
        </p:nvPicPr>
        <p:blipFill rotWithShape="1">
          <a:blip r:embed="rId6">
            <a:alphaModFix/>
          </a:blip>
          <a:srcRect b="0" l="0" r="0" t="0"/>
          <a:stretch/>
        </p:blipFill>
        <p:spPr>
          <a:xfrm>
            <a:off x="5560264" y="3551509"/>
            <a:ext cx="2497353" cy="13850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 name="Shape 152"/>
        <p:cNvGrpSpPr/>
        <p:nvPr/>
      </p:nvGrpSpPr>
      <p:grpSpPr>
        <a:xfrm>
          <a:off x="0" y="0"/>
          <a:ext cx="0" cy="0"/>
          <a:chOff x="0" y="0"/>
          <a:chExt cx="0" cy="0"/>
        </a:xfrm>
      </p:grpSpPr>
      <p:sp>
        <p:nvSpPr>
          <p:cNvPr id="153" name="Google Shape;153;p9"/>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Adding timer</a:t>
            </a:r>
            <a:endParaRPr/>
          </a:p>
        </p:txBody>
      </p:sp>
      <p:cxnSp>
        <p:nvCxnSpPr>
          <p:cNvPr id="154" name="Google Shape;154;p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55" name="Google Shape;155;p9"/>
          <p:cNvSpPr txBox="1"/>
          <p:nvPr>
            <p:ph idx="1" type="body"/>
          </p:nvPr>
        </p:nvSpPr>
        <p:spPr>
          <a:xfrm>
            <a:off x="460375" y="817124"/>
            <a:ext cx="8151997" cy="56900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None/>
            </a:pPr>
            <a:r>
              <a:rPr lang="en-ID" sz="1400"/>
              <a:t>Text Animation in previous slide can be raised anytime using another events, by changing the value of the Boolean variable animated. Therefore a timer also can be used to raise the animation.</a:t>
            </a:r>
            <a:endParaRPr/>
          </a:p>
          <a:p>
            <a:pPr indent="0" lvl="0" marL="0" rtl="0" algn="l">
              <a:spcBef>
                <a:spcPts val="280"/>
              </a:spcBef>
              <a:spcAft>
                <a:spcPts val="0"/>
              </a:spcAft>
              <a:buClr>
                <a:schemeClr val="dk1"/>
              </a:buClr>
              <a:buSzPts val="1400"/>
              <a:buNone/>
            </a:pPr>
            <a:r>
              <a:t/>
            </a:r>
            <a:endParaRPr sz="1400"/>
          </a:p>
        </p:txBody>
      </p:sp>
      <p:sp>
        <p:nvSpPr>
          <p:cNvPr descr="Google's Flutter framework spreads its wings and goes multi-platform |  TechCrunch" id="156" name="Google Shape;156;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7" name="Google Shape;157;p9"/>
          <p:cNvSpPr/>
          <p:nvPr/>
        </p:nvSpPr>
        <p:spPr>
          <a:xfrm>
            <a:off x="668381" y="1694587"/>
            <a:ext cx="6668589" cy="21236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 late Timer _timer;</a:t>
            </a:r>
            <a:endParaRPr/>
          </a:p>
          <a:p>
            <a:pPr indent="0" lvl="0" marL="0" marR="0" rtl="0" algn="l">
              <a:spcBef>
                <a:spcPts val="0"/>
              </a:spcBef>
              <a:spcAft>
                <a:spcPts val="0"/>
              </a:spcAft>
              <a:buNone/>
            </a:pPr>
            <a:r>
              <a:t/>
            </a:r>
            <a:endParaRPr sz="12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@override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void initState()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super.initState();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_timer = Timer.periodic(Duration(milliseconds: 3000), (timer)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setState(()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_animated = !_animated;</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1" name="Shape 161"/>
        <p:cNvGrpSpPr/>
        <p:nvPr/>
      </p:nvGrpSpPr>
      <p:grpSpPr>
        <a:xfrm>
          <a:off x="0" y="0"/>
          <a:ext cx="0" cy="0"/>
          <a:chOff x="0" y="0"/>
          <a:chExt cx="0" cy="0"/>
        </a:xfrm>
      </p:grpSpPr>
      <p:sp>
        <p:nvSpPr>
          <p:cNvPr id="162" name="Google Shape;162;p10"/>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800"/>
              <a:buFont typeface="Arial"/>
              <a:buNone/>
            </a:pPr>
            <a:r>
              <a:rPr lang="en-ID" sz="4800">
                <a:solidFill>
                  <a:schemeClr val="lt1"/>
                </a:solidFill>
              </a:rPr>
              <a:t>ANIMATEDALIGN</a:t>
            </a:r>
            <a:endParaRPr/>
          </a:p>
        </p:txBody>
      </p:sp>
      <p:sp>
        <p:nvSpPr>
          <p:cNvPr id="163" name="Google Shape;163;p10"/>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7" name="Shape 167"/>
        <p:cNvGrpSpPr/>
        <p:nvPr/>
      </p:nvGrpSpPr>
      <p:grpSpPr>
        <a:xfrm>
          <a:off x="0" y="0"/>
          <a:ext cx="0" cy="0"/>
          <a:chOff x="0" y="0"/>
          <a:chExt cx="0" cy="0"/>
        </a:xfrm>
      </p:grpSpPr>
      <p:sp>
        <p:nvSpPr>
          <p:cNvPr id="168" name="Google Shape;168;p11"/>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AnimatedAlign</a:t>
            </a:r>
            <a:endParaRPr b="1" sz="3600">
              <a:solidFill>
                <a:srgbClr val="000090"/>
              </a:solidFill>
            </a:endParaRPr>
          </a:p>
        </p:txBody>
      </p:sp>
      <p:cxnSp>
        <p:nvCxnSpPr>
          <p:cNvPr id="169" name="Google Shape;169;p1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70" name="Google Shape;170;p11"/>
          <p:cNvSpPr txBox="1"/>
          <p:nvPr>
            <p:ph idx="1" type="body"/>
          </p:nvPr>
        </p:nvSpPr>
        <p:spPr>
          <a:xfrm>
            <a:off x="460376" y="817124"/>
            <a:ext cx="2030276"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ID" sz="1800"/>
              <a:t>Animated version of </a:t>
            </a:r>
            <a:r>
              <a:rPr lang="en-ID" sz="1800" u="sng">
                <a:solidFill>
                  <a:schemeClr val="hlink"/>
                </a:solidFill>
                <a:hlinkClick r:id="rId4"/>
              </a:rPr>
              <a:t>Align</a:t>
            </a:r>
            <a:r>
              <a:rPr lang="en-ID" sz="1800"/>
              <a:t> which automatically transitions the child's position over a given duration whenever the given </a:t>
            </a:r>
            <a:r>
              <a:rPr lang="en-ID" sz="1800" u="sng">
                <a:solidFill>
                  <a:schemeClr val="hlink"/>
                </a:solidFill>
                <a:hlinkClick r:id="rId5"/>
              </a:rPr>
              <a:t>alignment</a:t>
            </a:r>
            <a:r>
              <a:rPr lang="en-ID" sz="1800"/>
              <a:t> changes.</a:t>
            </a:r>
            <a:br>
              <a:rPr lang="en-ID" sz="1800"/>
            </a:br>
            <a:endParaRPr sz="1800">
              <a:solidFill>
                <a:srgbClr val="FF0000"/>
              </a:solidFill>
              <a:latin typeface="Consolas"/>
              <a:ea typeface="Consolas"/>
              <a:cs typeface="Consolas"/>
              <a:sym typeface="Consolas"/>
            </a:endParaRPr>
          </a:p>
        </p:txBody>
      </p:sp>
      <p:sp>
        <p:nvSpPr>
          <p:cNvPr descr="Google's Flutter framework spreads its wings and goes multi-platform |  TechCrunch" id="171" name="Google Shape;171;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2" name="Google Shape;172;p11"/>
          <p:cNvSpPr txBox="1"/>
          <p:nvPr/>
        </p:nvSpPr>
        <p:spPr>
          <a:xfrm>
            <a:off x="2943497" y="4416424"/>
            <a:ext cx="5939245"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u="sng">
                <a:solidFill>
                  <a:schemeClr val="dk1"/>
                </a:solidFill>
                <a:latin typeface="Arial"/>
                <a:ea typeface="Arial"/>
                <a:cs typeface="Arial"/>
                <a:sym typeface="Arial"/>
                <a:hlinkClick r:id="rId6">
                  <a:extLst>
                    <a:ext uri="{A12FA001-AC4F-418D-AE19-62706E023703}">
                      <ahyp:hlinkClr val="tx"/>
                    </a:ext>
                  </a:extLst>
                </a:hlinkClick>
              </a:rPr>
              <a:t>https://api.flutter.dev/flutter/animation/Curves-class.html</a:t>
            </a:r>
            <a:endParaRPr sz="1800">
              <a:solidFill>
                <a:schemeClr val="dk1"/>
              </a:solidFill>
              <a:latin typeface="Arial"/>
              <a:ea typeface="Arial"/>
              <a:cs typeface="Arial"/>
              <a:sym typeface="Arial"/>
            </a:endParaRPr>
          </a:p>
        </p:txBody>
      </p:sp>
      <p:sp>
        <p:nvSpPr>
          <p:cNvPr id="173" name="Google Shape;173;p11"/>
          <p:cNvSpPr txBox="1"/>
          <p:nvPr/>
        </p:nvSpPr>
        <p:spPr>
          <a:xfrm>
            <a:off x="2490652" y="742872"/>
            <a:ext cx="6644700" cy="34941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300">
                <a:solidFill>
                  <a:srgbClr val="FF0000"/>
                </a:solidFill>
                <a:latin typeface="Consolas"/>
                <a:ea typeface="Consolas"/>
                <a:cs typeface="Consolas"/>
                <a:sym typeface="Consolas"/>
              </a:rPr>
              <a:t> SizedBox(</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width: 250.0,</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height: 250.0,</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child: AnimatedAlign(</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alignment: _animated ? Alignment.topRight : Alignment.bottomLeft,</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duration: const Duration(seconds: 3),</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curve: Curves.fastOutSlowIn,</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child: ClipOval(</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child: Image.network(</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'https://i.pravatar.cc/100',</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width: 100,</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height: 100,</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fit: BoxFit.cover,</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t>
            </a:r>
            <a:endParaRPr sz="1300">
              <a:solidFill>
                <a:srgbClr val="FF0000"/>
              </a:solidFill>
              <a:latin typeface="Consolas"/>
              <a:ea typeface="Consolas"/>
              <a:cs typeface="Consolas"/>
              <a:sym typeface="Consolas"/>
            </a:endParaRPr>
          </a:p>
        </p:txBody>
      </p:sp>
      <p:cxnSp>
        <p:nvCxnSpPr>
          <p:cNvPr id="174" name="Google Shape;174;p11"/>
          <p:cNvCxnSpPr/>
          <p:nvPr/>
        </p:nvCxnSpPr>
        <p:spPr>
          <a:xfrm>
            <a:off x="5686697" y="2255520"/>
            <a:ext cx="1314994" cy="2145108"/>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8" name="Shape 178"/>
        <p:cNvGrpSpPr/>
        <p:nvPr/>
      </p:nvGrpSpPr>
      <p:grpSpPr>
        <a:xfrm>
          <a:off x="0" y="0"/>
          <a:ext cx="0" cy="0"/>
          <a:chOff x="0" y="0"/>
          <a:chExt cx="0" cy="0"/>
        </a:xfrm>
      </p:grpSpPr>
      <p:sp>
        <p:nvSpPr>
          <p:cNvPr id="179" name="Google Shape;179;p12"/>
          <p:cNvSpPr txBox="1"/>
          <p:nvPr>
            <p:ph type="title"/>
          </p:nvPr>
        </p:nvSpPr>
        <p:spPr>
          <a:xfrm>
            <a:off x="3567544" y="1819241"/>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800"/>
              <a:buFont typeface="Arial"/>
              <a:buNone/>
            </a:pPr>
            <a:r>
              <a:rPr lang="en-ID" sz="4800">
                <a:solidFill>
                  <a:schemeClr val="lt1"/>
                </a:solidFill>
              </a:rPr>
              <a:t>ANIMATED</a:t>
            </a:r>
            <a:br>
              <a:rPr lang="en-ID" sz="4800">
                <a:solidFill>
                  <a:schemeClr val="lt1"/>
                </a:solidFill>
              </a:rPr>
            </a:br>
            <a:r>
              <a:rPr lang="en-ID" sz="4800">
                <a:solidFill>
                  <a:schemeClr val="lt1"/>
                </a:solidFill>
              </a:rPr>
              <a:t>OPACITY</a:t>
            </a:r>
            <a:endParaRPr/>
          </a:p>
        </p:txBody>
      </p:sp>
      <p:sp>
        <p:nvSpPr>
          <p:cNvPr id="180" name="Google Shape;180;p12"/>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04</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4" name="Shape 184"/>
        <p:cNvGrpSpPr/>
        <p:nvPr/>
      </p:nvGrpSpPr>
      <p:grpSpPr>
        <a:xfrm>
          <a:off x="0" y="0"/>
          <a:ext cx="0" cy="0"/>
          <a:chOff x="0" y="0"/>
          <a:chExt cx="0" cy="0"/>
        </a:xfrm>
      </p:grpSpPr>
      <p:sp>
        <p:nvSpPr>
          <p:cNvPr id="185" name="Google Shape;185;p1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AnimatedOpacity</a:t>
            </a:r>
            <a:endParaRPr b="1" sz="3600">
              <a:solidFill>
                <a:srgbClr val="000090"/>
              </a:solidFill>
            </a:endParaRPr>
          </a:p>
        </p:txBody>
      </p:sp>
      <p:cxnSp>
        <p:nvCxnSpPr>
          <p:cNvPr id="186" name="Google Shape;186;p1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87" name="Google Shape;187;p13"/>
          <p:cNvSpPr txBox="1"/>
          <p:nvPr>
            <p:ph idx="1" type="body"/>
          </p:nvPr>
        </p:nvSpPr>
        <p:spPr>
          <a:xfrm>
            <a:off x="460375" y="817124"/>
            <a:ext cx="8875214"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None/>
            </a:pPr>
            <a:r>
              <a:rPr lang="en-ID" sz="1600"/>
              <a:t>Animated version of </a:t>
            </a:r>
            <a:r>
              <a:rPr lang="en-ID" sz="1600" u="sng">
                <a:solidFill>
                  <a:schemeClr val="hlink"/>
                </a:solidFill>
                <a:hlinkClick r:id="rId4"/>
              </a:rPr>
              <a:t>Opacity</a:t>
            </a:r>
            <a:r>
              <a:rPr lang="en-ID" sz="1600"/>
              <a:t> which automatically transitions the child's opacity over a given duration whenever the given opacity changes.</a:t>
            </a:r>
            <a:br>
              <a:rPr lang="en-ID" sz="1800"/>
            </a:br>
            <a:endParaRPr sz="1800"/>
          </a:p>
          <a:p>
            <a:pPr indent="0" lvl="0" marL="0" rtl="0" algn="l">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a:t>
            </a:r>
            <a:r>
              <a:rPr lang="en-ID" sz="1200">
                <a:solidFill>
                  <a:srgbClr val="FF0000"/>
                </a:solidFill>
                <a:latin typeface="Consolas"/>
                <a:ea typeface="Consolas"/>
                <a:cs typeface="Consolas"/>
                <a:sym typeface="Consolas"/>
              </a:rPr>
              <a:t> SizedBox(</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width: 250.0,</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height: 250.0,</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child: AnimatedOpacity(</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opacity: _opacityLevel,</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duration: const Duration(seconds: 5),</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child:</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Image.network('https://i.pravatar.cc/240?img=6'),</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a:t>
            </a:r>
            <a:endParaRPr sz="1800"/>
          </a:p>
        </p:txBody>
      </p:sp>
      <p:sp>
        <p:nvSpPr>
          <p:cNvPr descr="Google's Flutter framework spreads its wings and goes multi-platform |  TechCrunch" id="188" name="Google Shape;188;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 name="Google Shape;189;p13"/>
          <p:cNvSpPr txBox="1"/>
          <p:nvPr/>
        </p:nvSpPr>
        <p:spPr>
          <a:xfrm>
            <a:off x="4765766" y="1428206"/>
            <a:ext cx="4125600" cy="1015800"/>
          </a:xfrm>
          <a:prstGeom prst="rect">
            <a:avLst/>
          </a:prstGeom>
          <a:solidFill>
            <a:schemeClr val="lt1"/>
          </a:solidFill>
          <a:ln cap="flat" cmpd="sng" w="25400">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000">
                <a:solidFill>
                  <a:srgbClr val="FF0000"/>
                </a:solidFill>
                <a:latin typeface="Consolas"/>
                <a:ea typeface="Consolas"/>
                <a:cs typeface="Consolas"/>
                <a:sym typeface="Consolas"/>
              </a:rPr>
              <a:t>_timer2 = Timer.periodic(Duration(milliseconds: 5000), (timer) {</a:t>
            </a:r>
            <a:endParaRPr sz="1300">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setState(() {</a:t>
            </a:r>
            <a:endParaRPr sz="1300">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_opacityLevel=1.0-_opacityLevel;</a:t>
            </a:r>
            <a:endParaRPr sz="1300">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3" name="Shape 193"/>
        <p:cNvGrpSpPr/>
        <p:nvPr/>
      </p:nvGrpSpPr>
      <p:grpSpPr>
        <a:xfrm>
          <a:off x="0" y="0"/>
          <a:ext cx="0" cy="0"/>
          <a:chOff x="0" y="0"/>
          <a:chExt cx="0" cy="0"/>
        </a:xfrm>
      </p:grpSpPr>
      <p:sp>
        <p:nvSpPr>
          <p:cNvPr id="194" name="Google Shape;194;p14"/>
          <p:cNvSpPr txBox="1"/>
          <p:nvPr>
            <p:ph type="title"/>
          </p:nvPr>
        </p:nvSpPr>
        <p:spPr>
          <a:xfrm>
            <a:off x="3567544" y="1803781"/>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lang="en-ID" sz="5400">
                <a:solidFill>
                  <a:srgbClr val="DAE5F1"/>
                </a:solidFill>
              </a:rPr>
              <a:t>ANIMATED CONTAINER</a:t>
            </a:r>
            <a:endParaRPr b="1" sz="5400">
              <a:solidFill>
                <a:srgbClr val="DAE5F1"/>
              </a:solidFill>
            </a:endParaRPr>
          </a:p>
        </p:txBody>
      </p:sp>
      <p:sp>
        <p:nvSpPr>
          <p:cNvPr id="195" name="Google Shape;195;p14"/>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05</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9" name="Shape 199"/>
        <p:cNvGrpSpPr/>
        <p:nvPr/>
      </p:nvGrpSpPr>
      <p:grpSpPr>
        <a:xfrm>
          <a:off x="0" y="0"/>
          <a:ext cx="0" cy="0"/>
          <a:chOff x="0" y="0"/>
          <a:chExt cx="0" cy="0"/>
        </a:xfrm>
      </p:grpSpPr>
      <p:sp>
        <p:nvSpPr>
          <p:cNvPr descr="Google's Flutter framework spreads its wings and goes multi-platform |  TechCrunch" id="200" name="Google Shape;200;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 name="Google Shape;201;p15"/>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 AnimatedContainer</a:t>
            </a:r>
            <a:endParaRPr b="1" sz="3600">
              <a:solidFill>
                <a:srgbClr val="000090"/>
              </a:solidFill>
              <a:latin typeface="Arial"/>
              <a:ea typeface="Arial"/>
              <a:cs typeface="Arial"/>
              <a:sym typeface="Arial"/>
            </a:endParaRPr>
          </a:p>
        </p:txBody>
      </p:sp>
      <p:cxnSp>
        <p:nvCxnSpPr>
          <p:cNvPr id="202" name="Google Shape;202;p1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03" name="Google Shape;203;p15"/>
          <p:cNvSpPr txBox="1"/>
          <p:nvPr/>
        </p:nvSpPr>
        <p:spPr>
          <a:xfrm>
            <a:off x="460375" y="894908"/>
            <a:ext cx="8151997" cy="40108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600"/>
              <a:buFont typeface="Arial"/>
              <a:buNone/>
            </a:pPr>
            <a:r>
              <a:t/>
            </a:r>
            <a:endParaRPr sz="1600">
              <a:solidFill>
                <a:srgbClr val="FF0000"/>
              </a:solidFill>
              <a:latin typeface="Arial"/>
              <a:ea typeface="Arial"/>
              <a:cs typeface="Arial"/>
              <a:sym typeface="Arial"/>
            </a:endParaRPr>
          </a:p>
        </p:txBody>
      </p:sp>
      <p:sp>
        <p:nvSpPr>
          <p:cNvPr id="204" name="Google Shape;204;p15"/>
          <p:cNvSpPr/>
          <p:nvPr/>
        </p:nvSpPr>
        <p:spPr>
          <a:xfrm>
            <a:off x="2795452" y="721406"/>
            <a:ext cx="6304600" cy="39087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800">
                <a:solidFill>
                  <a:srgbClr val="FF0000"/>
                </a:solidFill>
                <a:latin typeface="Consolas"/>
                <a:ea typeface="Consolas"/>
                <a:cs typeface="Consolas"/>
                <a:sym typeface="Consolas"/>
              </a:rPr>
              <a:t>AnimatedContainer(</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height: _animated ? 200 : 300,</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width:_animated ? 300 : 200,</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decoration: _animated</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 BoxDecoration(</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image: const DecorationImage(</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image: NetworkImage(</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'https://i.pravatar.cc/400?img=1'),</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fit: BoxFit.cover,</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border: Border.all(</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color: Colors.blue,</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width: 10,</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shape: BoxShape.rectangle,</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borderRadius: const BorderRadius.all(Radius.circular(30)),</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 BoxDecoration(</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image: const DecorationImage(</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image: NetworkImage(</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'https://i.pravatar.cc/400?img=15'),</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fit: BoxFit.cover,</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border: Border.all(</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color: Colors.red,</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width: 1,</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shape: BoxShape.rectangle ),</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duration: const Duration(seconds: 3),</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curve: Curves.fastOutSlowIn,</a:t>
            </a:r>
            <a:endParaRPr>
              <a:latin typeface="Consolas"/>
              <a:ea typeface="Consolas"/>
              <a:cs typeface="Consolas"/>
              <a:sym typeface="Consolas"/>
            </a:endParaRPr>
          </a:p>
          <a:p>
            <a:pPr indent="0" lvl="0" marL="0" marR="0" rtl="0" algn="l">
              <a:spcBef>
                <a:spcPts val="0"/>
              </a:spcBef>
              <a:spcAft>
                <a:spcPts val="0"/>
              </a:spcAft>
              <a:buNone/>
            </a:pPr>
            <a:r>
              <a:rPr lang="en-ID" sz="800">
                <a:solidFill>
                  <a:srgbClr val="FF0000"/>
                </a:solidFill>
                <a:latin typeface="Consolas"/>
                <a:ea typeface="Consolas"/>
                <a:cs typeface="Consolas"/>
                <a:sym typeface="Consolas"/>
              </a:rPr>
              <a:t>          ),</a:t>
            </a:r>
            <a:endParaRPr>
              <a:latin typeface="Consolas"/>
              <a:ea typeface="Consolas"/>
              <a:cs typeface="Consolas"/>
              <a:sym typeface="Consolas"/>
            </a:endParaRPr>
          </a:p>
        </p:txBody>
      </p:sp>
      <p:sp>
        <p:nvSpPr>
          <p:cNvPr id="205" name="Google Shape;205;p15"/>
          <p:cNvSpPr/>
          <p:nvPr/>
        </p:nvSpPr>
        <p:spPr>
          <a:xfrm>
            <a:off x="155576" y="576943"/>
            <a:ext cx="2491830" cy="31085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chemeClr val="dk1"/>
                </a:solidFill>
                <a:latin typeface="Arial"/>
                <a:ea typeface="Arial"/>
                <a:cs typeface="Arial"/>
                <a:sym typeface="Arial"/>
              </a:rPr>
              <a:t>Animated version of </a:t>
            </a:r>
            <a:r>
              <a:rPr lang="en-ID" sz="1400" u="sng">
                <a:solidFill>
                  <a:schemeClr val="dk1"/>
                </a:solidFill>
                <a:latin typeface="Arial"/>
                <a:ea typeface="Arial"/>
                <a:cs typeface="Arial"/>
                <a:sym typeface="Arial"/>
                <a:hlinkClick r:id="rId4">
                  <a:extLst>
                    <a:ext uri="{A12FA001-AC4F-418D-AE19-62706E023703}">
                      <ahyp:hlinkClr val="tx"/>
                    </a:ext>
                  </a:extLst>
                </a:hlinkClick>
              </a:rPr>
              <a:t>Container</a:t>
            </a:r>
            <a:r>
              <a:rPr lang="en-ID" sz="1400">
                <a:solidFill>
                  <a:schemeClr val="dk1"/>
                </a:solidFill>
                <a:latin typeface="Arial"/>
                <a:ea typeface="Arial"/>
                <a:cs typeface="Arial"/>
                <a:sym typeface="Arial"/>
              </a:rPr>
              <a:t> that gradually changes its values over a period of time.</a:t>
            </a:r>
            <a:endParaRPr/>
          </a:p>
          <a:p>
            <a:pPr indent="0" lvl="0" marL="0" marR="0" rtl="0" algn="l">
              <a:spcBef>
                <a:spcPts val="0"/>
              </a:spcBef>
              <a:spcAft>
                <a:spcPts val="0"/>
              </a:spcAft>
              <a:buNone/>
            </a:pPr>
            <a:r>
              <a:rPr lang="en-ID" sz="1400">
                <a:solidFill>
                  <a:schemeClr val="dk1"/>
                </a:solidFill>
                <a:latin typeface="Arial"/>
                <a:ea typeface="Arial"/>
                <a:cs typeface="Arial"/>
                <a:sym typeface="Arial"/>
              </a:rPr>
              <a:t>The </a:t>
            </a:r>
            <a:r>
              <a:rPr lang="en-ID" sz="1400" u="sng">
                <a:solidFill>
                  <a:schemeClr val="dk1"/>
                </a:solidFill>
                <a:latin typeface="Arial"/>
                <a:ea typeface="Arial"/>
                <a:cs typeface="Arial"/>
                <a:sym typeface="Arial"/>
                <a:hlinkClick r:id="rId5">
                  <a:extLst>
                    <a:ext uri="{A12FA001-AC4F-418D-AE19-62706E023703}">
                      <ahyp:hlinkClr val="tx"/>
                    </a:ext>
                  </a:extLst>
                </a:hlinkClick>
              </a:rPr>
              <a:t>AnimatedContainer</a:t>
            </a:r>
            <a:r>
              <a:rPr lang="en-ID" sz="1400">
                <a:solidFill>
                  <a:schemeClr val="dk1"/>
                </a:solidFill>
                <a:latin typeface="Arial"/>
                <a:ea typeface="Arial"/>
                <a:cs typeface="Arial"/>
                <a:sym typeface="Arial"/>
              </a:rPr>
              <a:t> will automatically animate between the old and new values of properties when they change using the provided curve and duration. Properties that are null are not animated. Its child and descendants are not animated.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9" name="Shape 209"/>
        <p:cNvGrpSpPr/>
        <p:nvPr/>
      </p:nvGrpSpPr>
      <p:grpSpPr>
        <a:xfrm>
          <a:off x="0" y="0"/>
          <a:ext cx="0" cy="0"/>
          <a:chOff x="0" y="0"/>
          <a:chExt cx="0" cy="0"/>
        </a:xfrm>
      </p:grpSpPr>
      <p:sp>
        <p:nvSpPr>
          <p:cNvPr id="210" name="Google Shape;210;p16"/>
          <p:cNvSpPr txBox="1"/>
          <p:nvPr>
            <p:ph type="title"/>
          </p:nvPr>
        </p:nvSpPr>
        <p:spPr>
          <a:xfrm>
            <a:off x="3567544" y="1754734"/>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lang="en-ID" sz="5400">
                <a:solidFill>
                  <a:srgbClr val="DAE5F1"/>
                </a:solidFill>
              </a:rPr>
              <a:t>ANIMATED CROSSFADE</a:t>
            </a:r>
            <a:endParaRPr b="1" sz="5400">
              <a:solidFill>
                <a:srgbClr val="DAE5F1"/>
              </a:solidFill>
            </a:endParaRPr>
          </a:p>
        </p:txBody>
      </p:sp>
      <p:sp>
        <p:nvSpPr>
          <p:cNvPr id="211" name="Google Shape;211;p16"/>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5" name="Shape 215"/>
        <p:cNvGrpSpPr/>
        <p:nvPr/>
      </p:nvGrpSpPr>
      <p:grpSpPr>
        <a:xfrm>
          <a:off x="0" y="0"/>
          <a:ext cx="0" cy="0"/>
          <a:chOff x="0" y="0"/>
          <a:chExt cx="0" cy="0"/>
        </a:xfrm>
      </p:grpSpPr>
      <p:sp>
        <p:nvSpPr>
          <p:cNvPr descr="Google's Flutter framework spreads its wings and goes multi-platform |  TechCrunch" id="216" name="Google Shape;216;p1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7" name="Google Shape;217;p17"/>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 AnimatedCrossfade</a:t>
            </a:r>
            <a:endParaRPr b="1" sz="3600">
              <a:solidFill>
                <a:srgbClr val="000090"/>
              </a:solidFill>
              <a:latin typeface="Arial"/>
              <a:ea typeface="Arial"/>
              <a:cs typeface="Arial"/>
              <a:sym typeface="Arial"/>
            </a:endParaRPr>
          </a:p>
        </p:txBody>
      </p:sp>
      <p:cxnSp>
        <p:nvCxnSpPr>
          <p:cNvPr id="218" name="Google Shape;218;p1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19" name="Google Shape;219;p17"/>
          <p:cNvSpPr txBox="1"/>
          <p:nvPr/>
        </p:nvSpPr>
        <p:spPr>
          <a:xfrm>
            <a:off x="460375" y="894908"/>
            <a:ext cx="8151997" cy="40108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600"/>
              <a:buFont typeface="Arial"/>
              <a:buNone/>
            </a:pPr>
            <a:r>
              <a:t/>
            </a:r>
            <a:endParaRPr sz="1600">
              <a:solidFill>
                <a:srgbClr val="FF0000"/>
              </a:solidFill>
              <a:latin typeface="Arial"/>
              <a:ea typeface="Arial"/>
              <a:cs typeface="Arial"/>
              <a:sym typeface="Arial"/>
            </a:endParaRPr>
          </a:p>
        </p:txBody>
      </p:sp>
      <p:sp>
        <p:nvSpPr>
          <p:cNvPr id="220" name="Google Shape;220;p17"/>
          <p:cNvSpPr/>
          <p:nvPr/>
        </p:nvSpPr>
        <p:spPr>
          <a:xfrm>
            <a:off x="269173" y="1752601"/>
            <a:ext cx="8534400"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 Center(</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AnimatedCrossFade(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duration: const Duration(seconds: 3),</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firstChild: const Image(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image: NetworkImage('https://i.pravatar.cc/400?img=1'),</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fit: BoxFit.fitWidth,</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width: 200,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height: 240),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secondChild: const Image(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image: NetworkImage('https://i.pravatar.cc/400?img=15'),</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fit: BoxFit.fitWidth,</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width: 200,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height: 240),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crossFadeState: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_animated ? CrossFadeState.showFirst : CrossFadeState.showSecond,</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p:txBody>
      </p:sp>
      <p:sp>
        <p:nvSpPr>
          <p:cNvPr id="221" name="Google Shape;221;p17"/>
          <p:cNvSpPr/>
          <p:nvPr/>
        </p:nvSpPr>
        <p:spPr>
          <a:xfrm>
            <a:off x="155575" y="576943"/>
            <a:ext cx="8718459"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chemeClr val="dk1"/>
                </a:solidFill>
                <a:latin typeface="Arial"/>
                <a:ea typeface="Arial"/>
                <a:cs typeface="Arial"/>
                <a:sym typeface="Arial"/>
              </a:rPr>
              <a:t>A widget that cross-fades between two given children and animates itself between their sizes. This widget is intended to be used to fade a pair of widgets with the same width. In the case where the two children have different heights, the animation crops overflowing children during the animation by aligning their top edge, which means that the bottom will be clipped.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5" name="Shape 225"/>
        <p:cNvGrpSpPr/>
        <p:nvPr/>
      </p:nvGrpSpPr>
      <p:grpSpPr>
        <a:xfrm>
          <a:off x="0" y="0"/>
          <a:ext cx="0" cy="0"/>
          <a:chOff x="0" y="0"/>
          <a:chExt cx="0" cy="0"/>
        </a:xfrm>
      </p:grpSpPr>
      <p:sp>
        <p:nvSpPr>
          <p:cNvPr id="226" name="Google Shape;226;p18"/>
          <p:cNvSpPr txBox="1"/>
          <p:nvPr>
            <p:ph type="title"/>
          </p:nvPr>
        </p:nvSpPr>
        <p:spPr>
          <a:xfrm>
            <a:off x="3567544" y="1733468"/>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lang="en-ID" sz="5400">
                <a:solidFill>
                  <a:srgbClr val="DAE5F1"/>
                </a:solidFill>
              </a:rPr>
              <a:t>ANIMATED SWITCHER</a:t>
            </a:r>
            <a:endParaRPr b="1" sz="5400">
              <a:solidFill>
                <a:srgbClr val="DAE5F1"/>
              </a:solidFill>
            </a:endParaRPr>
          </a:p>
        </p:txBody>
      </p:sp>
      <p:sp>
        <p:nvSpPr>
          <p:cNvPr id="227" name="Google Shape;227;p18"/>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07</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1" name="Shape 231"/>
        <p:cNvGrpSpPr/>
        <p:nvPr/>
      </p:nvGrpSpPr>
      <p:grpSpPr>
        <a:xfrm>
          <a:off x="0" y="0"/>
          <a:ext cx="0" cy="0"/>
          <a:chOff x="0" y="0"/>
          <a:chExt cx="0" cy="0"/>
        </a:xfrm>
      </p:grpSpPr>
      <p:sp>
        <p:nvSpPr>
          <p:cNvPr descr="Google's Flutter framework spreads its wings and goes multi-platform |  TechCrunch" id="232" name="Google Shape;232;p1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3" name="Google Shape;233;p19"/>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 AnimatedSwitcher</a:t>
            </a:r>
            <a:endParaRPr b="1" sz="3600">
              <a:solidFill>
                <a:srgbClr val="000090"/>
              </a:solidFill>
              <a:latin typeface="Arial"/>
              <a:ea typeface="Arial"/>
              <a:cs typeface="Arial"/>
              <a:sym typeface="Arial"/>
            </a:endParaRPr>
          </a:p>
        </p:txBody>
      </p:sp>
      <p:cxnSp>
        <p:nvCxnSpPr>
          <p:cNvPr id="234" name="Google Shape;234;p1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35" name="Google Shape;235;p19"/>
          <p:cNvSpPr txBox="1"/>
          <p:nvPr/>
        </p:nvSpPr>
        <p:spPr>
          <a:xfrm>
            <a:off x="460375" y="894908"/>
            <a:ext cx="8151997" cy="40108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600"/>
              <a:buFont typeface="Arial"/>
              <a:buNone/>
            </a:pPr>
            <a:r>
              <a:t/>
            </a:r>
            <a:endParaRPr sz="1600">
              <a:solidFill>
                <a:srgbClr val="FF0000"/>
              </a:solidFill>
              <a:latin typeface="Arial"/>
              <a:ea typeface="Arial"/>
              <a:cs typeface="Arial"/>
              <a:sym typeface="Arial"/>
            </a:endParaRPr>
          </a:p>
        </p:txBody>
      </p:sp>
      <p:sp>
        <p:nvSpPr>
          <p:cNvPr id="236" name="Google Shape;236;p19"/>
          <p:cNvSpPr/>
          <p:nvPr/>
        </p:nvSpPr>
        <p:spPr>
          <a:xfrm>
            <a:off x="155575" y="1208109"/>
            <a:ext cx="8521337" cy="36009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Widget widget1()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return ElevatedButton(onPressed: ()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const Text("Click me!",style: TextStyle(fontSize: 30),));}</a:t>
            </a:r>
            <a:endParaRPr/>
          </a:p>
          <a:p>
            <a:pPr indent="0" lvl="0" marL="0" marR="0" rtl="0" algn="l">
              <a:spcBef>
                <a:spcPts val="0"/>
              </a:spcBef>
              <a:spcAft>
                <a:spcPts val="0"/>
              </a:spcAft>
              <a:buNone/>
            </a:pPr>
            <a:r>
              <a:t/>
            </a:r>
            <a:endParaRPr sz="12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Widget widget2()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return TextButton(onPressed: ()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const Text("Click me!",style: TextStyle(fontSize: 30),));}</a:t>
            </a:r>
            <a:endParaRPr/>
          </a:p>
          <a:p>
            <a:pPr indent="0" lvl="0" marL="0" marR="0" rtl="0" algn="l">
              <a:spcBef>
                <a:spcPts val="0"/>
              </a:spcBef>
              <a:spcAft>
                <a:spcPts val="0"/>
              </a:spcAft>
              <a:buNone/>
            </a:pPr>
            <a:r>
              <a:t/>
            </a:r>
            <a:endParaRPr sz="12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a:t>
            </a:r>
            <a:endParaRPr/>
          </a:p>
          <a:p>
            <a:pPr indent="0" lvl="0" marL="0" marR="0" rtl="0" algn="l">
              <a:spcBef>
                <a:spcPts val="0"/>
              </a:spcBef>
              <a:spcAft>
                <a:spcPts val="0"/>
              </a:spcAft>
              <a:buNone/>
            </a:pPr>
            <a:r>
              <a:t/>
            </a:r>
            <a:endParaRPr sz="12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AnimatedSwitcher(</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duration: const Duration(seconds: 2),</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transitionBuilder: (Widget child, Animation&lt;double&gt; animation)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return RotationTransition(turns: animation, child: child);</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//return ScaleTransition(child: child, scale: animation);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_animated ? widget1() : widget2(),</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p:txBody>
      </p:sp>
      <p:sp>
        <p:nvSpPr>
          <p:cNvPr id="237" name="Google Shape;237;p19"/>
          <p:cNvSpPr/>
          <p:nvPr/>
        </p:nvSpPr>
        <p:spPr>
          <a:xfrm>
            <a:off x="155575" y="631710"/>
            <a:ext cx="871845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chemeClr val="dk1"/>
                </a:solidFill>
                <a:latin typeface="Arial"/>
                <a:ea typeface="Arial"/>
                <a:cs typeface="Arial"/>
                <a:sym typeface="Arial"/>
              </a:rPr>
              <a:t>is a widget that can be used for creating animation when switching between two widgets. When a widget is replaced with another, it transitions the new widget in and transitions the previous widget out.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1" name="Shape 241"/>
        <p:cNvGrpSpPr/>
        <p:nvPr/>
      </p:nvGrpSpPr>
      <p:grpSpPr>
        <a:xfrm>
          <a:off x="0" y="0"/>
          <a:ext cx="0" cy="0"/>
          <a:chOff x="0" y="0"/>
          <a:chExt cx="0" cy="0"/>
        </a:xfrm>
      </p:grpSpPr>
      <p:sp>
        <p:nvSpPr>
          <p:cNvPr id="242" name="Google Shape;242;p20"/>
          <p:cNvSpPr txBox="1"/>
          <p:nvPr>
            <p:ph type="title"/>
          </p:nvPr>
        </p:nvSpPr>
        <p:spPr>
          <a:xfrm>
            <a:off x="3567544" y="1427527"/>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lang="en-ID" sz="5400">
                <a:solidFill>
                  <a:srgbClr val="DAE5F1"/>
                </a:solidFill>
              </a:rPr>
              <a:t>COMBINING ANIMATED WIDGET</a:t>
            </a:r>
            <a:endParaRPr b="1" sz="5400">
              <a:solidFill>
                <a:srgbClr val="DAE5F1"/>
              </a:solidFill>
            </a:endParaRPr>
          </a:p>
        </p:txBody>
      </p:sp>
      <p:sp>
        <p:nvSpPr>
          <p:cNvPr id="243" name="Google Shape;243;p20"/>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08</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7" name="Shape 247"/>
        <p:cNvGrpSpPr/>
        <p:nvPr/>
      </p:nvGrpSpPr>
      <p:grpSpPr>
        <a:xfrm>
          <a:off x="0" y="0"/>
          <a:ext cx="0" cy="0"/>
          <a:chOff x="0" y="0"/>
          <a:chExt cx="0" cy="0"/>
        </a:xfrm>
      </p:grpSpPr>
      <p:sp>
        <p:nvSpPr>
          <p:cNvPr descr="Google's Flutter framework spreads its wings and goes multi-platform |  TechCrunch" id="248" name="Google Shape;248;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9" name="Google Shape;249;p21"/>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AnimatedPositioned</a:t>
            </a:r>
            <a:endParaRPr b="1" sz="3600">
              <a:solidFill>
                <a:srgbClr val="000090"/>
              </a:solidFill>
              <a:latin typeface="Arial"/>
              <a:ea typeface="Arial"/>
              <a:cs typeface="Arial"/>
              <a:sym typeface="Arial"/>
            </a:endParaRPr>
          </a:p>
        </p:txBody>
      </p:sp>
      <p:cxnSp>
        <p:nvCxnSpPr>
          <p:cNvPr id="250" name="Google Shape;250;p2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51" name="Google Shape;251;p21"/>
          <p:cNvSpPr txBox="1"/>
          <p:nvPr/>
        </p:nvSpPr>
        <p:spPr>
          <a:xfrm>
            <a:off x="460375" y="894908"/>
            <a:ext cx="8151997" cy="5737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600"/>
              <a:buFont typeface="Arial"/>
              <a:buNone/>
            </a:pPr>
            <a:r>
              <a:rPr lang="en-ID" sz="1600">
                <a:solidFill>
                  <a:schemeClr val="dk1"/>
                </a:solidFill>
                <a:latin typeface="Arial"/>
                <a:ea typeface="Arial"/>
                <a:cs typeface="Arial"/>
                <a:sym typeface="Arial"/>
              </a:rPr>
              <a:t>Different with previous animated which just used 2 states, we will add more than 2 states in the example of AnimatedPosition. </a:t>
            </a:r>
            <a:endParaRPr sz="1400">
              <a:solidFill>
                <a:schemeClr val="dk1"/>
              </a:solidFill>
              <a:latin typeface="Arial"/>
              <a:ea typeface="Arial"/>
              <a:cs typeface="Arial"/>
              <a:sym typeface="Arial"/>
            </a:endParaRPr>
          </a:p>
        </p:txBody>
      </p:sp>
      <p:sp>
        <p:nvSpPr>
          <p:cNvPr id="252" name="Google Shape;252;p21"/>
          <p:cNvSpPr/>
          <p:nvPr/>
        </p:nvSpPr>
        <p:spPr>
          <a:xfrm>
            <a:off x="460375" y="1764561"/>
            <a:ext cx="6626818"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rgbClr val="FF0000"/>
                </a:solidFill>
                <a:latin typeface="Consolas"/>
                <a:ea typeface="Consolas"/>
                <a:cs typeface="Consolas"/>
                <a:sym typeface="Consolas"/>
              </a:rPr>
              <a:t>int _posisi = 1;</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double _left = 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double _top = 0;</a:t>
            </a:r>
            <a:endParaRPr/>
          </a:p>
        </p:txBody>
      </p:sp>
      <p:sp>
        <p:nvSpPr>
          <p:cNvPr id="253" name="Google Shape;253;p21"/>
          <p:cNvSpPr txBox="1"/>
          <p:nvPr/>
        </p:nvSpPr>
        <p:spPr>
          <a:xfrm>
            <a:off x="2943497" y="1480959"/>
            <a:ext cx="5111931" cy="36625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chemeClr val="dk1"/>
                </a:solidFill>
                <a:latin typeface="Arial"/>
                <a:ea typeface="Arial"/>
                <a:cs typeface="Arial"/>
                <a:sym typeface="Arial"/>
              </a:rPr>
              <a:t>in timer:</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_posisi++;</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if (_posisi &gt; 4) _posisi = 1;</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if (_posisi == 1)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_left = 300;_top = 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if (_posisi == 2)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_left = 0;_top = 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if (_posisi == 3)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_left = 0;_top = 200;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if (_posisi == 4)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_left = 300;_top = 200;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7" name="Shape 257"/>
        <p:cNvGrpSpPr/>
        <p:nvPr/>
      </p:nvGrpSpPr>
      <p:grpSpPr>
        <a:xfrm>
          <a:off x="0" y="0"/>
          <a:ext cx="0" cy="0"/>
          <a:chOff x="0" y="0"/>
          <a:chExt cx="0" cy="0"/>
        </a:xfrm>
      </p:grpSpPr>
      <p:sp>
        <p:nvSpPr>
          <p:cNvPr descr="Google's Flutter framework spreads its wings and goes multi-platform |  TechCrunch" id="258" name="Google Shape;258;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9" name="Google Shape;259;p22"/>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AnimatedPositioned (2)</a:t>
            </a:r>
            <a:endParaRPr/>
          </a:p>
        </p:txBody>
      </p:sp>
      <p:cxnSp>
        <p:nvCxnSpPr>
          <p:cNvPr id="260" name="Google Shape;260;p2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61" name="Google Shape;261;p22"/>
          <p:cNvSpPr txBox="1"/>
          <p:nvPr/>
        </p:nvSpPr>
        <p:spPr>
          <a:xfrm>
            <a:off x="460375" y="894908"/>
            <a:ext cx="8151997" cy="5737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600"/>
              <a:buFont typeface="Arial"/>
              <a:buNone/>
            </a:pPr>
            <a:r>
              <a:rPr lang="en-ID" sz="1600">
                <a:solidFill>
                  <a:schemeClr val="dk1"/>
                </a:solidFill>
                <a:latin typeface="Arial"/>
                <a:ea typeface="Arial"/>
                <a:cs typeface="Arial"/>
                <a:sym typeface="Arial"/>
              </a:rPr>
              <a:t>Animated Position is running in stack widget. Therefore, we prepare the stack first. Also, we put a background image for this animation. </a:t>
            </a:r>
            <a:endParaRPr sz="1400">
              <a:solidFill>
                <a:schemeClr val="dk1"/>
              </a:solidFill>
              <a:latin typeface="Arial"/>
              <a:ea typeface="Arial"/>
              <a:cs typeface="Arial"/>
              <a:sym typeface="Arial"/>
            </a:endParaRPr>
          </a:p>
        </p:txBody>
      </p:sp>
      <p:sp>
        <p:nvSpPr>
          <p:cNvPr id="262" name="Google Shape;262;p22"/>
          <p:cNvSpPr txBox="1"/>
          <p:nvPr/>
        </p:nvSpPr>
        <p:spPr>
          <a:xfrm>
            <a:off x="-748936" y="1468675"/>
            <a:ext cx="5860868"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rgbClr val="FF0000"/>
                </a:solidFill>
                <a:latin typeface="Consolas"/>
                <a:ea typeface="Consolas"/>
                <a:cs typeface="Consolas"/>
                <a:sym typeface="Consolas"/>
              </a:rPr>
              <a:t> 	        Container(</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width: 400,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height: 300,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child: Stack(children: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Image.asset(</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"../assets/images/city.jpeg",</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scale: 0.5,</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p:txBody>
      </p:sp>
      <p:sp>
        <p:nvSpPr>
          <p:cNvPr id="263" name="Google Shape;263;p22"/>
          <p:cNvSpPr/>
          <p:nvPr/>
        </p:nvSpPr>
        <p:spPr>
          <a:xfrm>
            <a:off x="4093029" y="1796221"/>
            <a:ext cx="4981859" cy="2123658"/>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AnimatedPositioned(</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duration: const Duration(seconds: 3),</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curve: Curves.fastOutSlowIn,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left: _left,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top: _top,</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Image(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image: AssetImage("../assets/images/ufo.gif"),</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fit: BoxFit.scaleDown,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width: 100,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height: 100),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a:t>
            </a:r>
            <a:endParaRPr sz="1200">
              <a:solidFill>
                <a:srgbClr val="FF0000"/>
              </a:solidFill>
              <a:latin typeface="Consolas"/>
              <a:ea typeface="Consolas"/>
              <a:cs typeface="Consolas"/>
              <a:sym typeface="Consolas"/>
            </a:endParaRPr>
          </a:p>
        </p:txBody>
      </p:sp>
      <p:cxnSp>
        <p:nvCxnSpPr>
          <p:cNvPr id="264" name="Google Shape;264;p22"/>
          <p:cNvCxnSpPr/>
          <p:nvPr/>
        </p:nvCxnSpPr>
        <p:spPr>
          <a:xfrm rot="10800000">
            <a:off x="1097280" y="3335383"/>
            <a:ext cx="3178629" cy="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8" name="Shape 268"/>
        <p:cNvGrpSpPr/>
        <p:nvPr/>
      </p:nvGrpSpPr>
      <p:grpSpPr>
        <a:xfrm>
          <a:off x="0" y="0"/>
          <a:ext cx="0" cy="0"/>
          <a:chOff x="0" y="0"/>
          <a:chExt cx="0" cy="0"/>
        </a:xfrm>
      </p:grpSpPr>
      <p:sp>
        <p:nvSpPr>
          <p:cNvPr descr="Google's Flutter framework spreads its wings and goes multi-platform |  TechCrunch" id="269" name="Google Shape;269;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0" name="Google Shape;270;p23"/>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Combining 2 animated widget </a:t>
            </a:r>
            <a:endParaRPr/>
          </a:p>
        </p:txBody>
      </p:sp>
      <p:cxnSp>
        <p:nvCxnSpPr>
          <p:cNvPr id="271" name="Google Shape;271;p2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72" name="Google Shape;272;p23"/>
          <p:cNvSpPr txBox="1"/>
          <p:nvPr/>
        </p:nvSpPr>
        <p:spPr>
          <a:xfrm>
            <a:off x="460375" y="894908"/>
            <a:ext cx="8151997" cy="5737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600"/>
              <a:buFont typeface="Arial"/>
              <a:buNone/>
            </a:pPr>
            <a:r>
              <a:rPr lang="en-ID" sz="1600">
                <a:solidFill>
                  <a:schemeClr val="dk1"/>
                </a:solidFill>
                <a:latin typeface="Arial"/>
                <a:ea typeface="Arial"/>
                <a:cs typeface="Arial"/>
                <a:sym typeface="Arial"/>
              </a:rPr>
              <a:t>In this example we will resize the ufo.gif, being bigger and smaller, so it seems like go flying to the city and back again.</a:t>
            </a:r>
            <a:endParaRPr/>
          </a:p>
          <a:p>
            <a:pPr indent="0" lvl="0" marL="0" marR="0" rtl="0" algn="l">
              <a:spcBef>
                <a:spcPts val="320"/>
              </a:spcBef>
              <a:spcAft>
                <a:spcPts val="0"/>
              </a:spcAft>
              <a:buClr>
                <a:schemeClr val="dk1"/>
              </a:buClr>
              <a:buSzPts val="1600"/>
              <a:buFont typeface="Arial"/>
              <a:buNone/>
            </a:pPr>
            <a:r>
              <a:rPr lang="en-ID" sz="1600">
                <a:solidFill>
                  <a:schemeClr val="dk1"/>
                </a:solidFill>
                <a:latin typeface="Arial"/>
                <a:ea typeface="Arial"/>
                <a:cs typeface="Arial"/>
                <a:sym typeface="Arial"/>
              </a:rPr>
              <a:t>Change the Image with AnimatedContainer. We need to manage a variable for resizing the container. Put in the timer, a bigger number when container in the top, and smaller when in bottom.</a:t>
            </a:r>
            <a:endParaRPr sz="1400">
              <a:solidFill>
                <a:schemeClr val="dk1"/>
              </a:solidFill>
              <a:latin typeface="Arial"/>
              <a:ea typeface="Arial"/>
              <a:cs typeface="Arial"/>
              <a:sym typeface="Arial"/>
            </a:endParaRPr>
          </a:p>
        </p:txBody>
      </p:sp>
      <p:sp>
        <p:nvSpPr>
          <p:cNvPr id="273" name="Google Shape;273;p23"/>
          <p:cNvSpPr txBox="1"/>
          <p:nvPr/>
        </p:nvSpPr>
        <p:spPr>
          <a:xfrm>
            <a:off x="207335" y="2473029"/>
            <a:ext cx="5644825"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rgbClr val="FF0000"/>
                </a:solidFill>
                <a:latin typeface="Consolas"/>
                <a:ea typeface="Consolas"/>
                <a:cs typeface="Consolas"/>
                <a:sym typeface="Consolas"/>
              </a:rPr>
              <a:t>AnimatedContainer(</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duration: const Duration(seconds: 3),</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width: _wh,</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height: _wh,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child: Image.asset("../assets/images/ufo.gif"),</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a:t>
            </a:r>
            <a:endParaRPr/>
          </a:p>
        </p:txBody>
      </p:sp>
      <p:pic>
        <p:nvPicPr>
          <p:cNvPr id="274" name="Google Shape;274;p23"/>
          <p:cNvPicPr preferRelativeResize="0"/>
          <p:nvPr/>
        </p:nvPicPr>
        <p:blipFill rotWithShape="1">
          <a:blip r:embed="rId4">
            <a:alphaModFix/>
          </a:blip>
          <a:srcRect b="0" l="0" r="0" t="0"/>
          <a:stretch/>
        </p:blipFill>
        <p:spPr>
          <a:xfrm>
            <a:off x="5928904" y="2127613"/>
            <a:ext cx="1847850" cy="1358900"/>
          </a:xfrm>
          <a:prstGeom prst="rect">
            <a:avLst/>
          </a:prstGeom>
          <a:noFill/>
          <a:ln>
            <a:noFill/>
          </a:ln>
        </p:spPr>
      </p:pic>
      <p:pic>
        <p:nvPicPr>
          <p:cNvPr id="275" name="Google Shape;275;p23"/>
          <p:cNvPicPr preferRelativeResize="0"/>
          <p:nvPr/>
        </p:nvPicPr>
        <p:blipFill rotWithShape="1">
          <a:blip r:embed="rId5">
            <a:alphaModFix/>
          </a:blip>
          <a:srcRect b="0" l="0" r="0" t="0"/>
          <a:stretch/>
        </p:blipFill>
        <p:spPr>
          <a:xfrm>
            <a:off x="5928904" y="3534309"/>
            <a:ext cx="1847850" cy="13589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9" name="Shape 279"/>
        <p:cNvGrpSpPr/>
        <p:nvPr/>
      </p:nvGrpSpPr>
      <p:grpSpPr>
        <a:xfrm>
          <a:off x="0" y="0"/>
          <a:ext cx="0" cy="0"/>
          <a:chOff x="0" y="0"/>
          <a:chExt cx="0" cy="0"/>
        </a:xfrm>
      </p:grpSpPr>
      <p:sp>
        <p:nvSpPr>
          <p:cNvPr descr="Google's Flutter framework spreads its wings and goes multi-platform |  TechCrunch" id="280" name="Google Shape;280;p2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1" name="Google Shape;281;p24"/>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Solution</a:t>
            </a:r>
            <a:endParaRPr/>
          </a:p>
        </p:txBody>
      </p:sp>
      <p:cxnSp>
        <p:nvCxnSpPr>
          <p:cNvPr id="282" name="Google Shape;282;p2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83" name="Google Shape;283;p24"/>
          <p:cNvSpPr txBox="1"/>
          <p:nvPr/>
        </p:nvSpPr>
        <p:spPr>
          <a:xfrm>
            <a:off x="460375" y="894908"/>
            <a:ext cx="8151997" cy="5737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sp>
        <p:nvSpPr>
          <p:cNvPr id="284" name="Google Shape;284;p24"/>
          <p:cNvSpPr txBox="1"/>
          <p:nvPr/>
        </p:nvSpPr>
        <p:spPr>
          <a:xfrm>
            <a:off x="307975" y="700966"/>
            <a:ext cx="5209395" cy="41549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double _wh = 40;</a:t>
            </a:r>
            <a:br>
              <a:rPr lang="en-ID" sz="1200">
                <a:solidFill>
                  <a:srgbClr val="FF0000"/>
                </a:solidFill>
                <a:latin typeface="Consolas"/>
                <a:ea typeface="Consolas"/>
                <a:cs typeface="Consolas"/>
                <a:sym typeface="Consolas"/>
              </a:rPr>
            </a:br>
            <a:r>
              <a:rPr lang="en-ID" sz="1200">
                <a:solidFill>
                  <a:srgbClr val="FF0000"/>
                </a:solidFill>
                <a:latin typeface="Consolas"/>
                <a:ea typeface="Consolas"/>
                <a:cs typeface="Consolas"/>
                <a:sym typeface="Consolas"/>
              </a:rPr>
              <a: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if (_posisi == 1)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_left = 300;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_top = 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_wh = 40;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if (_posisi == 2)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_left = 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_top = 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_wh = 40;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if (_posisi == 3)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_left = 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_top = 140;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_wh = 160;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if (_posisi == 4)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_left = 300;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_top = 140;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_wh = 160;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a:t>
            </a:r>
            <a:endParaRPr/>
          </a:p>
        </p:txBody>
      </p:sp>
      <p:sp>
        <p:nvSpPr>
          <p:cNvPr id="285" name="Google Shape;285;p24"/>
          <p:cNvSpPr txBox="1"/>
          <p:nvPr/>
        </p:nvSpPr>
        <p:spPr>
          <a:xfrm>
            <a:off x="2598345" y="1181791"/>
            <a:ext cx="594812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		   AnimatedPositioned(</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duration: const Duration(seconds: 3),</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curve: Curves.fastOutSlowIn,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left: _left,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top: _top,</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AnimatedContainer(</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duration: const Duration(seconds: 3),</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width: _wh,</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height: _wh,</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Image.asset("../assets/images/ufo.gif"),</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9" name="Shape 289"/>
        <p:cNvGrpSpPr/>
        <p:nvPr/>
      </p:nvGrpSpPr>
      <p:grpSpPr>
        <a:xfrm>
          <a:off x="0" y="0"/>
          <a:ext cx="0" cy="0"/>
          <a:chOff x="0" y="0"/>
          <a:chExt cx="0" cy="0"/>
        </a:xfrm>
      </p:grpSpPr>
      <p:sp>
        <p:nvSpPr>
          <p:cNvPr id="290" name="Google Shape;290;p25"/>
          <p:cNvSpPr txBox="1"/>
          <p:nvPr>
            <p:ph type="title"/>
          </p:nvPr>
        </p:nvSpPr>
        <p:spPr>
          <a:xfrm>
            <a:off x="3567544" y="1340064"/>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lang="en-ID" sz="5400">
                <a:solidFill>
                  <a:srgbClr val="DAE5F1"/>
                </a:solidFill>
              </a:rPr>
              <a:t>TWEEN ANIMATION BUILDER</a:t>
            </a:r>
            <a:endParaRPr b="1" sz="5400">
              <a:solidFill>
                <a:srgbClr val="DAE5F1"/>
              </a:solidFill>
            </a:endParaRPr>
          </a:p>
        </p:txBody>
      </p:sp>
      <p:sp>
        <p:nvSpPr>
          <p:cNvPr id="291" name="Google Shape;291;p25"/>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09</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5" name="Shape 295"/>
        <p:cNvGrpSpPr/>
        <p:nvPr/>
      </p:nvGrpSpPr>
      <p:grpSpPr>
        <a:xfrm>
          <a:off x="0" y="0"/>
          <a:ext cx="0" cy="0"/>
          <a:chOff x="0" y="0"/>
          <a:chExt cx="0" cy="0"/>
        </a:xfrm>
      </p:grpSpPr>
      <p:sp>
        <p:nvSpPr>
          <p:cNvPr descr="Google's Flutter framework spreads its wings and goes multi-platform |  TechCrunch" id="296" name="Google Shape;296;p2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7" name="Google Shape;297;p26"/>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 TweenAnimation</a:t>
            </a:r>
            <a:endParaRPr b="1" sz="3600">
              <a:solidFill>
                <a:srgbClr val="000090"/>
              </a:solidFill>
              <a:latin typeface="Arial"/>
              <a:ea typeface="Arial"/>
              <a:cs typeface="Arial"/>
              <a:sym typeface="Arial"/>
            </a:endParaRPr>
          </a:p>
        </p:txBody>
      </p:sp>
      <p:cxnSp>
        <p:nvCxnSpPr>
          <p:cNvPr id="298" name="Google Shape;298;p2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99" name="Google Shape;299;p26"/>
          <p:cNvSpPr txBox="1"/>
          <p:nvPr/>
        </p:nvSpPr>
        <p:spPr>
          <a:xfrm>
            <a:off x="460375" y="894908"/>
            <a:ext cx="8151997" cy="389084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400"/>
              <a:buFont typeface="Arial"/>
              <a:buNone/>
            </a:pPr>
            <a:r>
              <a:rPr lang="en-ID" sz="1400">
                <a:solidFill>
                  <a:schemeClr val="dk1"/>
                </a:solidFill>
                <a:latin typeface="Arial"/>
                <a:ea typeface="Arial"/>
                <a:cs typeface="Arial"/>
                <a:sym typeface="Arial"/>
              </a:rPr>
              <a:t>In simple words, now you can </a:t>
            </a:r>
            <a:r>
              <a:rPr b="1" lang="en-ID" sz="1400">
                <a:solidFill>
                  <a:schemeClr val="dk1"/>
                </a:solidFill>
                <a:latin typeface="Arial"/>
                <a:ea typeface="Arial"/>
                <a:cs typeface="Arial"/>
                <a:sym typeface="Arial"/>
              </a:rPr>
              <a:t>create your own Custom Implicit Animations with </a:t>
            </a:r>
            <a:r>
              <a:rPr b="1" lang="en-ID" sz="1400" u="sng">
                <a:solidFill>
                  <a:schemeClr val="dk1"/>
                </a:solidFill>
                <a:latin typeface="Arial"/>
                <a:ea typeface="Arial"/>
                <a:cs typeface="Arial"/>
                <a:sym typeface="Arial"/>
                <a:hlinkClick r:id="rId4">
                  <a:extLst>
                    <a:ext uri="{A12FA001-AC4F-418D-AE19-62706E023703}">
                      <ahyp:hlinkClr val="tx"/>
                    </a:ext>
                  </a:extLst>
                </a:hlinkClick>
              </a:rPr>
              <a:t>Tween Animation Builder</a:t>
            </a:r>
            <a:r>
              <a:rPr lang="en-ID" sz="1400">
                <a:solidFill>
                  <a:schemeClr val="dk1"/>
                </a:solidFill>
                <a:latin typeface="Arial"/>
                <a:ea typeface="Arial"/>
                <a:cs typeface="Arial"/>
                <a:sym typeface="Arial"/>
              </a:rPr>
              <a:t>…</a:t>
            </a:r>
            <a:endParaRPr/>
          </a:p>
          <a:p>
            <a:pPr indent="0" lvl="0" marL="0" marR="0" rtl="0" algn="l">
              <a:spcBef>
                <a:spcPts val="280"/>
              </a:spcBef>
              <a:spcAft>
                <a:spcPts val="0"/>
              </a:spcAft>
              <a:buClr>
                <a:schemeClr val="dk1"/>
              </a:buClr>
              <a:buSzPts val="1400"/>
              <a:buFont typeface="Arial"/>
              <a:buNone/>
            </a:pPr>
            <a:r>
              <a:rPr lang="en-ID" sz="1400">
                <a:solidFill>
                  <a:schemeClr val="dk1"/>
                </a:solidFill>
                <a:latin typeface="Arial"/>
                <a:ea typeface="Arial"/>
                <a:cs typeface="Arial"/>
                <a:sym typeface="Arial"/>
              </a:rPr>
              <a:t>Tween Animation Builder is A widget builder that animates the property of a Widget to a target value.</a:t>
            </a:r>
            <a:endParaRPr/>
          </a:p>
          <a:p>
            <a:pPr indent="0" lvl="0" marL="0" marR="0" rtl="0" algn="l">
              <a:spcBef>
                <a:spcPts val="280"/>
              </a:spcBef>
              <a:spcAft>
                <a:spcPts val="0"/>
              </a:spcAft>
              <a:buClr>
                <a:schemeClr val="dk1"/>
              </a:buClr>
              <a:buSzPts val="1400"/>
              <a:buFont typeface="Arial"/>
              <a:buNone/>
            </a:pPr>
            <a:r>
              <a:rPr lang="en-ID" sz="1400">
                <a:solidFill>
                  <a:schemeClr val="dk1"/>
                </a:solidFill>
                <a:latin typeface="Arial"/>
                <a:ea typeface="Arial"/>
                <a:cs typeface="Arial"/>
                <a:sym typeface="Arial"/>
              </a:rPr>
              <a:t>Use TweenAnimation when :</a:t>
            </a:r>
            <a:endParaRPr/>
          </a:p>
          <a:p>
            <a:pPr indent="-342900" lvl="0" marL="342900" marR="0" rtl="0" algn="l">
              <a:spcBef>
                <a:spcPts val="280"/>
              </a:spcBef>
              <a:spcAft>
                <a:spcPts val="0"/>
              </a:spcAft>
              <a:buClr>
                <a:schemeClr val="dk1"/>
              </a:buClr>
              <a:buSzPts val="1400"/>
              <a:buFont typeface="Arial"/>
              <a:buChar char="-"/>
            </a:pPr>
            <a:r>
              <a:rPr lang="en-ID" sz="1400">
                <a:solidFill>
                  <a:schemeClr val="dk1"/>
                </a:solidFill>
                <a:latin typeface="Arial"/>
                <a:ea typeface="Arial"/>
                <a:cs typeface="Arial"/>
                <a:sym typeface="Arial"/>
              </a:rPr>
              <a:t>There is no animationfoo can handle</a:t>
            </a:r>
            <a:endParaRPr/>
          </a:p>
          <a:p>
            <a:pPr indent="-342900" lvl="0" marL="342900" marR="0" rtl="0" algn="l">
              <a:spcBef>
                <a:spcPts val="280"/>
              </a:spcBef>
              <a:spcAft>
                <a:spcPts val="0"/>
              </a:spcAft>
              <a:buClr>
                <a:schemeClr val="dk1"/>
              </a:buClr>
              <a:buSzPts val="1400"/>
              <a:buFont typeface="Arial"/>
              <a:buChar char="-"/>
            </a:pPr>
            <a:r>
              <a:rPr lang="en-ID" sz="1400">
                <a:solidFill>
                  <a:schemeClr val="dk1"/>
                </a:solidFill>
                <a:latin typeface="Arial"/>
                <a:ea typeface="Arial"/>
                <a:cs typeface="Arial"/>
                <a:sym typeface="Arial"/>
              </a:rPr>
              <a:t>Not need a setState. Can be used in a stateless widget</a:t>
            </a:r>
            <a:endParaRPr/>
          </a:p>
          <a:p>
            <a:pPr indent="0" lvl="0" marL="0" marR="0" rtl="0" algn="l">
              <a:spcBef>
                <a:spcPts val="28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a:p>
            <a:pPr indent="0" lvl="0" marL="0" marR="0" rtl="0" algn="l">
              <a:spcBef>
                <a:spcPts val="320"/>
              </a:spcBef>
              <a:spcAft>
                <a:spcPts val="0"/>
              </a:spcAft>
              <a:buClr>
                <a:schemeClr val="dk1"/>
              </a:buClr>
              <a:buSzPts val="1600"/>
              <a:buFont typeface="Arial"/>
              <a:buNone/>
            </a:pPr>
            <a:r>
              <a:t/>
            </a:r>
            <a:endParaRPr sz="1600">
              <a:solidFill>
                <a:srgbClr val="FF0000"/>
              </a:solidFill>
              <a:latin typeface="Arial"/>
              <a:ea typeface="Arial"/>
              <a:cs typeface="Arial"/>
              <a:sym typeface="Arial"/>
            </a:endParaRPr>
          </a:p>
        </p:txBody>
      </p:sp>
      <p:pic>
        <p:nvPicPr>
          <p:cNvPr id="300" name="Google Shape;300;p26"/>
          <p:cNvPicPr preferRelativeResize="0"/>
          <p:nvPr/>
        </p:nvPicPr>
        <p:blipFill rotWithShape="1">
          <a:blip r:embed="rId5">
            <a:alphaModFix/>
          </a:blip>
          <a:srcRect b="0" l="0" r="0" t="0"/>
          <a:stretch/>
        </p:blipFill>
        <p:spPr>
          <a:xfrm>
            <a:off x="460375" y="2695108"/>
            <a:ext cx="3488327" cy="209064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4" name="Shape 304"/>
        <p:cNvGrpSpPr/>
        <p:nvPr/>
      </p:nvGrpSpPr>
      <p:grpSpPr>
        <a:xfrm>
          <a:off x="0" y="0"/>
          <a:ext cx="0" cy="0"/>
          <a:chOff x="0" y="0"/>
          <a:chExt cx="0" cy="0"/>
        </a:xfrm>
      </p:grpSpPr>
      <p:sp>
        <p:nvSpPr>
          <p:cNvPr descr="Google's Flutter framework spreads its wings and goes multi-platform |  TechCrunch" id="305" name="Google Shape;305;p2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6" name="Google Shape;306;p27"/>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 Rotate and changing color</a:t>
            </a:r>
            <a:endParaRPr/>
          </a:p>
        </p:txBody>
      </p:sp>
      <p:cxnSp>
        <p:nvCxnSpPr>
          <p:cNvPr id="307" name="Google Shape;307;p2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308" name="Google Shape;308;p27"/>
          <p:cNvSpPr txBox="1"/>
          <p:nvPr/>
        </p:nvSpPr>
        <p:spPr>
          <a:xfrm>
            <a:off x="460375" y="894908"/>
            <a:ext cx="8151997" cy="389084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a:p>
            <a:pPr indent="0" lvl="0" marL="0" marR="0" rtl="0" algn="l">
              <a:spcBef>
                <a:spcPts val="320"/>
              </a:spcBef>
              <a:spcAft>
                <a:spcPts val="0"/>
              </a:spcAft>
              <a:buClr>
                <a:schemeClr val="dk1"/>
              </a:buClr>
              <a:buSzPts val="1600"/>
              <a:buFont typeface="Arial"/>
              <a:buNone/>
            </a:pPr>
            <a:r>
              <a:t/>
            </a:r>
            <a:endParaRPr sz="1600">
              <a:solidFill>
                <a:srgbClr val="FF0000"/>
              </a:solidFill>
              <a:latin typeface="Arial"/>
              <a:ea typeface="Arial"/>
              <a:cs typeface="Arial"/>
              <a:sym typeface="Arial"/>
            </a:endParaRPr>
          </a:p>
        </p:txBody>
      </p:sp>
      <p:sp>
        <p:nvSpPr>
          <p:cNvPr id="309" name="Google Shape;309;p27"/>
          <p:cNvSpPr/>
          <p:nvPr/>
        </p:nvSpPr>
        <p:spPr>
          <a:xfrm>
            <a:off x="289711" y="721406"/>
            <a:ext cx="6083393"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 TweenAnimationBuilder(</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duration: const Duration(seconds: 20),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tween: Tween&lt;double&gt;(begin: 0, end: 5 * math.pi),</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builder: (_, double angle, __)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return Transform.rotate(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angle: angle,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Image.asset('../assets/images/earth.png'),</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sz="1200">
              <a:solidFill>
                <a:srgbClr val="FF0000"/>
              </a:solidFill>
              <a:latin typeface="Consolas"/>
              <a:ea typeface="Consolas"/>
              <a:cs typeface="Consolas"/>
              <a:sym typeface="Consolas"/>
            </a:endParaRPr>
          </a:p>
        </p:txBody>
      </p:sp>
      <p:sp>
        <p:nvSpPr>
          <p:cNvPr id="310" name="Google Shape;310;p27"/>
          <p:cNvSpPr/>
          <p:nvPr/>
        </p:nvSpPr>
        <p:spPr>
          <a:xfrm>
            <a:off x="380246" y="2660398"/>
            <a:ext cx="6771870" cy="21236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TweenAnimationBuilder(</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Image.asset('../assets/images/earth.png'),</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duration: const Duration(seconds: 10),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tween: ColorTween(begin: Colors.blue, end: Colors.red),</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builder: (_, Color? color, Widget? child)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return ColorFiltered(</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colorFilter: ColorFilter.mode(color!, BlendMode.modulate),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child,</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p:txBody>
      </p:sp>
      <p:pic>
        <p:nvPicPr>
          <p:cNvPr id="311" name="Google Shape;311;p27"/>
          <p:cNvPicPr preferRelativeResize="0"/>
          <p:nvPr/>
        </p:nvPicPr>
        <p:blipFill rotWithShape="1">
          <a:blip r:embed="rId4">
            <a:alphaModFix/>
          </a:blip>
          <a:srcRect b="0" l="0" r="0" t="0"/>
          <a:stretch/>
        </p:blipFill>
        <p:spPr>
          <a:xfrm>
            <a:off x="7228709" y="721406"/>
            <a:ext cx="1728968" cy="3514997"/>
          </a:xfrm>
          <a:prstGeom prst="rect">
            <a:avLst/>
          </a:prstGeom>
          <a:noFill/>
          <a:ln>
            <a:noFill/>
          </a:ln>
        </p:spPr>
      </p:pic>
      <p:sp>
        <p:nvSpPr>
          <p:cNvPr id="312" name="Google Shape;312;p27"/>
          <p:cNvSpPr txBox="1"/>
          <p:nvPr/>
        </p:nvSpPr>
        <p:spPr>
          <a:xfrm>
            <a:off x="4098355" y="839659"/>
            <a:ext cx="279435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chemeClr val="dk1"/>
                </a:solidFill>
                <a:latin typeface="Arial"/>
                <a:ea typeface="Arial"/>
                <a:cs typeface="Arial"/>
                <a:sym typeface="Arial"/>
              </a:rPr>
              <a:t>Add </a:t>
            </a:r>
            <a:r>
              <a:rPr lang="en-ID" sz="1200">
                <a:solidFill>
                  <a:schemeClr val="dk1"/>
                </a:solidFill>
                <a:latin typeface="Consolas"/>
                <a:ea typeface="Consolas"/>
                <a:cs typeface="Consolas"/>
                <a:sym typeface="Consolas"/>
              </a:rPr>
              <a:t>import 'dart:math' as math;</a:t>
            </a:r>
            <a:endParaRPr sz="1200">
              <a:solidFill>
                <a:schemeClr val="dk1"/>
              </a:solidFill>
              <a:latin typeface="Consolas"/>
              <a:ea typeface="Consolas"/>
              <a:cs typeface="Consolas"/>
              <a:sym typeface="Consolas"/>
            </a:endParaRPr>
          </a:p>
        </p:txBody>
      </p:sp>
      <p:sp>
        <p:nvSpPr>
          <p:cNvPr id="313" name="Google Shape;313;p27"/>
          <p:cNvSpPr/>
          <p:nvPr/>
        </p:nvSpPr>
        <p:spPr>
          <a:xfrm>
            <a:off x="4029740" y="3801140"/>
            <a:ext cx="175437" cy="228600"/>
          </a:xfrm>
          <a:prstGeom prst="rect">
            <a:avLst/>
          </a:prstGeom>
          <a:noFill/>
          <a:ln cap="flat" cmpd="sng" w="9525">
            <a:solidFill>
              <a:schemeClr val="dk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4" name="Google Shape;314;p27"/>
          <p:cNvSpPr txBox="1"/>
          <p:nvPr/>
        </p:nvSpPr>
        <p:spPr>
          <a:xfrm>
            <a:off x="3334415" y="4084989"/>
            <a:ext cx="350874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chemeClr val="dk1"/>
                </a:solidFill>
                <a:latin typeface="Arial"/>
                <a:ea typeface="Arial"/>
                <a:cs typeface="Arial"/>
                <a:sym typeface="Arial"/>
              </a:rPr>
              <a:t>This is called “bang” operator</a:t>
            </a:r>
            <a:endParaRPr sz="120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8" name="Shape 318"/>
        <p:cNvGrpSpPr/>
        <p:nvPr/>
      </p:nvGrpSpPr>
      <p:grpSpPr>
        <a:xfrm>
          <a:off x="0" y="0"/>
          <a:ext cx="0" cy="0"/>
          <a:chOff x="0" y="0"/>
          <a:chExt cx="0" cy="0"/>
        </a:xfrm>
      </p:grpSpPr>
      <p:sp>
        <p:nvSpPr>
          <p:cNvPr descr="Google's Flutter framework spreads its wings and goes multi-platform |  TechCrunch" id="319" name="Google Shape;319;g38617f301d9_0_6"/>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0" name="Google Shape;320;g38617f301d9_0_6"/>
          <p:cNvSpPr txBox="1"/>
          <p:nvPr/>
        </p:nvSpPr>
        <p:spPr>
          <a:xfrm>
            <a:off x="0" y="0"/>
            <a:ext cx="8229600" cy="576900"/>
          </a:xfrm>
          <a:prstGeom prst="rect">
            <a:avLst/>
          </a:prstGeom>
          <a:noFill/>
          <a:ln>
            <a:noFill/>
          </a:ln>
        </p:spPr>
        <p:txBody>
          <a:bodyPr anchorCtr="0" anchor="ctr" bIns="45700" lIns="91425" spcFirstLastPara="1" rIns="91425" wrap="square" tIns="45700">
            <a:normAutofit lnSpcReduction="20000"/>
          </a:bodyPr>
          <a:lstStyle/>
          <a:p>
            <a:pPr indent="0" lvl="0" marL="0" marR="0" rtl="0" algn="l">
              <a:spcBef>
                <a:spcPts val="0"/>
              </a:spcBef>
              <a:spcAft>
                <a:spcPts val="0"/>
              </a:spcAft>
              <a:buClr>
                <a:srgbClr val="000090"/>
              </a:buClr>
              <a:buSzPts val="3600"/>
              <a:buFont typeface="Arial"/>
              <a:buNone/>
            </a:pPr>
            <a:r>
              <a:rPr b="1" lang="en-ID" sz="3600">
                <a:solidFill>
                  <a:srgbClr val="000090"/>
                </a:solidFill>
              </a:rPr>
              <a:t>Bang operator (!)</a:t>
            </a:r>
            <a:endParaRPr/>
          </a:p>
        </p:txBody>
      </p:sp>
      <p:cxnSp>
        <p:nvCxnSpPr>
          <p:cNvPr id="321" name="Google Shape;321;g38617f301d9_0_6"/>
          <p:cNvCxnSpPr/>
          <p:nvPr/>
        </p:nvCxnSpPr>
        <p:spPr>
          <a:xfrm>
            <a:off x="0" y="576943"/>
            <a:ext cx="7337100" cy="15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50"/>
              </a:srgbClr>
            </a:outerShdw>
          </a:effectLst>
        </p:spPr>
      </p:cxnSp>
      <p:sp>
        <p:nvSpPr>
          <p:cNvPr id="322" name="Google Shape;322;g38617f301d9_0_6"/>
          <p:cNvSpPr txBox="1"/>
          <p:nvPr/>
        </p:nvSpPr>
        <p:spPr>
          <a:xfrm>
            <a:off x="460375" y="894908"/>
            <a:ext cx="8151900" cy="3890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a:p>
            <a:pPr indent="0" lvl="0" marL="0" marR="0" rtl="0" algn="l">
              <a:spcBef>
                <a:spcPts val="320"/>
              </a:spcBef>
              <a:spcAft>
                <a:spcPts val="0"/>
              </a:spcAft>
              <a:buClr>
                <a:schemeClr val="dk1"/>
              </a:buClr>
              <a:buSzPts val="1600"/>
              <a:buFont typeface="Arial"/>
              <a:buNone/>
            </a:pPr>
            <a:r>
              <a:t/>
            </a:r>
            <a:endParaRPr sz="1600">
              <a:solidFill>
                <a:srgbClr val="FF0000"/>
              </a:solidFill>
              <a:latin typeface="Arial"/>
              <a:ea typeface="Arial"/>
              <a:cs typeface="Arial"/>
              <a:sym typeface="Arial"/>
            </a:endParaRPr>
          </a:p>
        </p:txBody>
      </p:sp>
      <p:sp>
        <p:nvSpPr>
          <p:cNvPr id="323" name="Google Shape;323;g38617f301d9_0_6"/>
          <p:cNvSpPr/>
          <p:nvPr/>
        </p:nvSpPr>
        <p:spPr>
          <a:xfrm>
            <a:off x="289700" y="721400"/>
            <a:ext cx="7791900" cy="31086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SzPts val="1100"/>
              <a:buNone/>
            </a:pPr>
            <a:r>
              <a:rPr lang="en-ID" sz="1600">
                <a:solidFill>
                  <a:schemeClr val="dk1"/>
                </a:solidFill>
              </a:rPr>
              <a:t>In Dart language, the </a:t>
            </a:r>
            <a:r>
              <a:rPr b="1" lang="en-ID" sz="1600">
                <a:solidFill>
                  <a:schemeClr val="dk1"/>
                </a:solidFill>
              </a:rPr>
              <a:t>bang operator (</a:t>
            </a:r>
            <a:r>
              <a:rPr b="1" lang="en-ID" sz="1600">
                <a:solidFill>
                  <a:schemeClr val="dk1"/>
                </a:solidFill>
                <a:latin typeface="Roboto Mono"/>
                <a:ea typeface="Roboto Mono"/>
                <a:cs typeface="Roboto Mono"/>
                <a:sym typeface="Roboto Mono"/>
              </a:rPr>
              <a:t>!</a:t>
            </a:r>
            <a:r>
              <a:rPr b="1" lang="en-ID" sz="1600">
                <a:solidFill>
                  <a:schemeClr val="dk1"/>
                </a:solidFill>
              </a:rPr>
              <a:t>)</a:t>
            </a:r>
            <a:r>
              <a:rPr lang="en-ID" sz="1600">
                <a:solidFill>
                  <a:schemeClr val="dk1"/>
                </a:solidFill>
              </a:rPr>
              <a:t> is also known as the </a:t>
            </a:r>
            <a:r>
              <a:rPr b="1" lang="en-ID" sz="1600">
                <a:solidFill>
                  <a:schemeClr val="dk1"/>
                </a:solidFill>
              </a:rPr>
              <a:t>null assertion operator</a:t>
            </a:r>
            <a:r>
              <a:rPr lang="en-ID" sz="1600">
                <a:solidFill>
                  <a:schemeClr val="dk1"/>
                </a:solidFill>
              </a:rPr>
              <a:t>. It is used to indicate that a value is </a:t>
            </a:r>
            <a:r>
              <a:rPr b="1" lang="en-ID" sz="1600">
                <a:solidFill>
                  <a:schemeClr val="dk1"/>
                </a:solidFill>
              </a:rPr>
              <a:t>guaranteed not to be null</a:t>
            </a:r>
            <a:r>
              <a:rPr lang="en-ID" sz="1600">
                <a:solidFill>
                  <a:schemeClr val="dk1"/>
                </a:solidFill>
              </a:rPr>
              <a:t>, even if its type is nullable. </a:t>
            </a:r>
            <a:endParaRPr sz="1600">
              <a:solidFill>
                <a:schemeClr val="dk1"/>
              </a:solidFill>
            </a:endParaRPr>
          </a:p>
          <a:p>
            <a:pPr indent="0" lvl="0" marL="0" rtl="0" algn="just">
              <a:lnSpc>
                <a:spcPct val="115000"/>
              </a:lnSpc>
              <a:spcBef>
                <a:spcPts val="1200"/>
              </a:spcBef>
              <a:spcAft>
                <a:spcPts val="0"/>
              </a:spcAft>
              <a:buSzPts val="1100"/>
              <a:buNone/>
            </a:pPr>
            <a:r>
              <a:rPr lang="en-ID" sz="1600">
                <a:solidFill>
                  <a:schemeClr val="dk1"/>
                </a:solidFill>
              </a:rPr>
              <a:t>By adding “</a:t>
            </a:r>
            <a:r>
              <a:rPr lang="en-ID" sz="1600">
                <a:solidFill>
                  <a:schemeClr val="dk1"/>
                </a:solidFill>
                <a:latin typeface="Roboto Mono"/>
                <a:ea typeface="Roboto Mono"/>
                <a:cs typeface="Roboto Mono"/>
                <a:sym typeface="Roboto Mono"/>
              </a:rPr>
              <a:t>!”</a:t>
            </a:r>
            <a:r>
              <a:rPr lang="en-ID" sz="1600">
                <a:solidFill>
                  <a:schemeClr val="dk1"/>
                </a:solidFill>
              </a:rPr>
              <a:t> after a variable, we force Dart to treat that value as non-nullable. However, if the value actually turns out to be </a:t>
            </a:r>
            <a:r>
              <a:rPr lang="en-ID" sz="1600">
                <a:solidFill>
                  <a:schemeClr val="dk1"/>
                </a:solidFill>
                <a:latin typeface="Roboto Mono"/>
                <a:ea typeface="Roboto Mono"/>
                <a:cs typeface="Roboto Mono"/>
                <a:sym typeface="Roboto Mono"/>
              </a:rPr>
              <a:t>null</a:t>
            </a:r>
            <a:r>
              <a:rPr lang="en-ID" sz="1600">
                <a:solidFill>
                  <a:schemeClr val="dk1"/>
                </a:solidFill>
              </a:rPr>
              <a:t> when running, a </a:t>
            </a:r>
            <a:r>
              <a:rPr b="1" lang="en-ID" sz="1600">
                <a:solidFill>
                  <a:schemeClr val="dk1"/>
                </a:solidFill>
              </a:rPr>
              <a:t>runtime error</a:t>
            </a:r>
            <a:r>
              <a:rPr lang="en-ID" sz="1600">
                <a:solidFill>
                  <a:schemeClr val="dk1"/>
                </a:solidFill>
              </a:rPr>
              <a:t> will occur (“Null check operator used on a null value”). </a:t>
            </a:r>
            <a:endParaRPr sz="1600">
              <a:solidFill>
                <a:schemeClr val="dk1"/>
              </a:solidFill>
            </a:endParaRPr>
          </a:p>
          <a:p>
            <a:pPr indent="0" lvl="0" marL="0" rtl="0" algn="just">
              <a:lnSpc>
                <a:spcPct val="115000"/>
              </a:lnSpc>
              <a:spcBef>
                <a:spcPts val="1200"/>
              </a:spcBef>
              <a:spcAft>
                <a:spcPts val="1200"/>
              </a:spcAft>
              <a:buSzPts val="1100"/>
              <a:buNone/>
            </a:pPr>
            <a:r>
              <a:rPr lang="en-ID" sz="1600">
                <a:solidFill>
                  <a:schemeClr val="dk1"/>
                </a:solidFill>
              </a:rPr>
              <a:t>Therefore, the bang operator should only be used when you are absolutely sure that the value has been initialized or can never be null.</a:t>
            </a:r>
            <a:endParaRPr sz="1700">
              <a:solidFill>
                <a:schemeClr val="dk1"/>
              </a:solidFill>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7" name="Shape 327"/>
        <p:cNvGrpSpPr/>
        <p:nvPr/>
      </p:nvGrpSpPr>
      <p:grpSpPr>
        <a:xfrm>
          <a:off x="0" y="0"/>
          <a:ext cx="0" cy="0"/>
          <a:chOff x="0" y="0"/>
          <a:chExt cx="0" cy="0"/>
        </a:xfrm>
      </p:grpSpPr>
      <p:sp>
        <p:nvSpPr>
          <p:cNvPr descr="Google's Flutter framework spreads its wings and goes multi-platform |  TechCrunch" id="328" name="Google Shape;328;g38617f301d9_0_26"/>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9" name="Google Shape;329;g38617f301d9_0_26"/>
          <p:cNvSpPr txBox="1"/>
          <p:nvPr/>
        </p:nvSpPr>
        <p:spPr>
          <a:xfrm>
            <a:off x="0" y="0"/>
            <a:ext cx="8229600" cy="576900"/>
          </a:xfrm>
          <a:prstGeom prst="rect">
            <a:avLst/>
          </a:prstGeom>
          <a:noFill/>
          <a:ln>
            <a:noFill/>
          </a:ln>
        </p:spPr>
        <p:txBody>
          <a:bodyPr anchorCtr="0" anchor="ctr" bIns="45700" lIns="91425" spcFirstLastPara="1" rIns="91425" wrap="square" tIns="45700">
            <a:normAutofit lnSpcReduction="20000"/>
          </a:bodyPr>
          <a:lstStyle/>
          <a:p>
            <a:pPr indent="0" lvl="0" marL="0" marR="0" rtl="0" algn="l">
              <a:spcBef>
                <a:spcPts val="0"/>
              </a:spcBef>
              <a:spcAft>
                <a:spcPts val="0"/>
              </a:spcAft>
              <a:buClr>
                <a:srgbClr val="000090"/>
              </a:buClr>
              <a:buSzPts val="3600"/>
              <a:buFont typeface="Arial"/>
              <a:buNone/>
            </a:pPr>
            <a:r>
              <a:rPr b="1" lang="en-ID" sz="3600">
                <a:solidFill>
                  <a:srgbClr val="000090"/>
                </a:solidFill>
              </a:rPr>
              <a:t>Assignment</a:t>
            </a:r>
            <a:endParaRPr/>
          </a:p>
        </p:txBody>
      </p:sp>
      <p:cxnSp>
        <p:nvCxnSpPr>
          <p:cNvPr id="330" name="Google Shape;330;g38617f301d9_0_26"/>
          <p:cNvCxnSpPr/>
          <p:nvPr/>
        </p:nvCxnSpPr>
        <p:spPr>
          <a:xfrm>
            <a:off x="0" y="576943"/>
            <a:ext cx="7337100" cy="15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50"/>
              </a:srgbClr>
            </a:outerShdw>
          </a:effectLst>
        </p:spPr>
      </p:cxnSp>
      <p:sp>
        <p:nvSpPr>
          <p:cNvPr id="331" name="Google Shape;331;g38617f301d9_0_26"/>
          <p:cNvSpPr txBox="1"/>
          <p:nvPr/>
        </p:nvSpPr>
        <p:spPr>
          <a:xfrm>
            <a:off x="460375" y="894908"/>
            <a:ext cx="8151900" cy="3890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a:p>
            <a:pPr indent="0" lvl="0" marL="0" marR="0" rtl="0" algn="l">
              <a:spcBef>
                <a:spcPts val="320"/>
              </a:spcBef>
              <a:spcAft>
                <a:spcPts val="0"/>
              </a:spcAft>
              <a:buClr>
                <a:schemeClr val="dk1"/>
              </a:buClr>
              <a:buSzPts val="1600"/>
              <a:buFont typeface="Arial"/>
              <a:buNone/>
            </a:pPr>
            <a:r>
              <a:t/>
            </a:r>
            <a:endParaRPr sz="1600">
              <a:solidFill>
                <a:srgbClr val="FF0000"/>
              </a:solidFill>
              <a:latin typeface="Arial"/>
              <a:ea typeface="Arial"/>
              <a:cs typeface="Arial"/>
              <a:sym typeface="Arial"/>
            </a:endParaRPr>
          </a:p>
        </p:txBody>
      </p:sp>
      <p:sp>
        <p:nvSpPr>
          <p:cNvPr id="332" name="Google Shape;332;g38617f301d9_0_26"/>
          <p:cNvSpPr/>
          <p:nvPr/>
        </p:nvSpPr>
        <p:spPr>
          <a:xfrm>
            <a:off x="289700" y="721400"/>
            <a:ext cx="7791900" cy="3108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ID" sz="1600">
                <a:solidFill>
                  <a:schemeClr val="dk1"/>
                </a:solidFill>
              </a:rPr>
              <a:t>Upload your class progress(from Week 1 until Week 7) to ULS. Submit only the </a:t>
            </a:r>
            <a:r>
              <a:rPr b="1" lang="en-ID" sz="1600">
                <a:solidFill>
                  <a:schemeClr val="dk1"/>
                </a:solidFill>
              </a:rPr>
              <a:t>lib</a:t>
            </a:r>
            <a:r>
              <a:rPr lang="en-ID" sz="1600">
                <a:solidFill>
                  <a:schemeClr val="dk1"/>
                </a:solidFill>
              </a:rPr>
              <a:t> folder, compressed into a </a:t>
            </a:r>
            <a:r>
              <a:rPr b="1" lang="en-ID" sz="1600">
                <a:solidFill>
                  <a:schemeClr val="dk1"/>
                </a:solidFill>
              </a:rPr>
              <a:t>.zip</a:t>
            </a:r>
            <a:r>
              <a:rPr lang="en-ID" sz="1600">
                <a:solidFill>
                  <a:schemeClr val="dk1"/>
                </a:solidFill>
              </a:rPr>
              <a:t> file. Make sure to submit it </a:t>
            </a:r>
            <a:r>
              <a:rPr b="1" lang="en-ID" sz="1600">
                <a:solidFill>
                  <a:schemeClr val="dk1"/>
                </a:solidFill>
              </a:rPr>
              <a:t>before the deadline</a:t>
            </a:r>
            <a:r>
              <a:rPr lang="en-ID" sz="1600">
                <a:solidFill>
                  <a:schemeClr val="dk1"/>
                </a:solidFill>
              </a:rPr>
              <a:t>.</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D" sz="1600">
                <a:solidFill>
                  <a:schemeClr val="dk1"/>
                </a:solidFill>
              </a:rPr>
              <a:t>Deadline:</a:t>
            </a:r>
            <a:r>
              <a:rPr lang="en-ID" sz="1600">
                <a:solidFill>
                  <a:schemeClr val="dk1"/>
                </a:solidFill>
              </a:rPr>
              <a:t> Saturday, October 18, 2025, at 23.59 </a:t>
            </a:r>
            <a:endParaRPr sz="1600">
              <a:solidFill>
                <a:schemeClr val="dk1"/>
              </a:solidFill>
            </a:endParaRPr>
          </a:p>
          <a:p>
            <a:pPr indent="0" lvl="0" marL="0" rtl="0" algn="just">
              <a:lnSpc>
                <a:spcPct val="115000"/>
              </a:lnSpc>
              <a:spcBef>
                <a:spcPts val="1200"/>
              </a:spcBef>
              <a:spcAft>
                <a:spcPts val="1200"/>
              </a:spcAft>
              <a:buSzPts val="1100"/>
              <a:buNone/>
            </a:pPr>
            <a:r>
              <a:t/>
            </a:r>
            <a:endParaRPr sz="21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6" name="Shape 336"/>
        <p:cNvGrpSpPr/>
        <p:nvPr/>
      </p:nvGrpSpPr>
      <p:grpSpPr>
        <a:xfrm>
          <a:off x="0" y="0"/>
          <a:ext cx="0" cy="0"/>
          <a:chOff x="0" y="0"/>
          <a:chExt cx="0" cy="0"/>
        </a:xfrm>
      </p:grpSpPr>
      <p:sp>
        <p:nvSpPr>
          <p:cNvPr id="337" name="Google Shape;337;p30"/>
          <p:cNvSpPr txBox="1"/>
          <p:nvPr/>
        </p:nvSpPr>
        <p:spPr>
          <a:xfrm>
            <a:off x="4862945" y="778274"/>
            <a:ext cx="3946237" cy="407081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400"/>
              <a:buFont typeface="Arial"/>
              <a:buNone/>
            </a:pPr>
            <a:r>
              <a:t/>
            </a:r>
            <a:endParaRPr sz="1400">
              <a:solidFill>
                <a:schemeClr val="lt1"/>
              </a:solidFill>
              <a:latin typeface="Arial"/>
              <a:ea typeface="Arial"/>
              <a:cs typeface="Arial"/>
              <a:sym typeface="Arial"/>
            </a:endParaRPr>
          </a:p>
        </p:txBody>
      </p:sp>
      <p:pic>
        <p:nvPicPr>
          <p:cNvPr descr="Blue-man-Questions-Comments" id="338" name="Google Shape;338;p30"/>
          <p:cNvPicPr preferRelativeResize="0"/>
          <p:nvPr/>
        </p:nvPicPr>
        <p:blipFill rotWithShape="1">
          <a:blip r:embed="rId4">
            <a:alphaModFix/>
          </a:blip>
          <a:srcRect b="0" l="0" r="0" t="0"/>
          <a:stretch/>
        </p:blipFill>
        <p:spPr>
          <a:xfrm>
            <a:off x="388657" y="547551"/>
            <a:ext cx="4474288" cy="46242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formatik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2010-04-12T23:12:02Z</dcterms:created>
  <dc:creator>Diana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