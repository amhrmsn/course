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Helvetica Neue"/>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5" roundtripDataSignature="AMtx7mhtcH/PkgpiLWjFq0KygItT7L3s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30"/>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p:nvPr>
            <p:ph idx="2" type="pic"/>
          </p:nvPr>
        </p:nvSpPr>
        <p:spPr>
          <a:xfrm>
            <a:off x="1792288" y="459581"/>
            <a:ext cx="5486400" cy="3086100"/>
          </a:xfrm>
          <a:prstGeom prst="rect">
            <a:avLst/>
          </a:prstGeom>
          <a:noFill/>
          <a:ln>
            <a:noFill/>
          </a:ln>
        </p:spPr>
      </p:sp>
      <p:sp>
        <p:nvSpPr>
          <p:cNvPr id="36" name="Google Shape;36;p30"/>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3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1"/>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2"/>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2"/>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2"/>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2"/>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5"/>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35"/>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6"/>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7"/>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hyperlink" Target="http://jsonviewer.stack.hu/" TargetMode="Externa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jp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jp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jpg"/><Relationship Id="rId4" Type="http://schemas.openxmlformats.org/officeDocument/2006/relationships/hyperlink" Target="https://docs.flutter.dev/development/data-and-backend/json#use-code-generation-for-medium-to-large-project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0.jp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685799" y="1597819"/>
            <a:ext cx="8162926" cy="12729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Arial"/>
              <a:buNone/>
            </a:pPr>
            <a:r>
              <a:rPr b="1" lang="en-ID" sz="3600">
                <a:solidFill>
                  <a:schemeClr val="lt1"/>
                </a:solidFill>
              </a:rPr>
              <a:t>Web Service and Database Handling</a:t>
            </a:r>
            <a:br>
              <a:rPr b="1" lang="en-ID" sz="3600">
                <a:solidFill>
                  <a:schemeClr val="lt1"/>
                </a:solidFill>
              </a:rPr>
            </a:br>
            <a:r>
              <a:rPr b="1" lang="en-ID" sz="3600">
                <a:solidFill>
                  <a:schemeClr val="lt1"/>
                </a:solidFill>
              </a:rPr>
              <a:t>part 1 : SELECT</a:t>
            </a:r>
            <a:endParaRPr/>
          </a:p>
        </p:txBody>
      </p:sp>
      <p:sp>
        <p:nvSpPr>
          <p:cNvPr id="89" name="Google Shape;89;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8</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0" name="Google Shape;90;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2400"/>
              <a:buFont typeface="Arial"/>
              <a:buNone/>
            </a:pPr>
            <a:r>
              <a:rPr b="0" i="0" lang="en-ID" sz="24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Frontend + Webservice</a:t>
            </a:r>
            <a:endParaRPr/>
          </a:p>
        </p:txBody>
      </p:sp>
      <p:cxnSp>
        <p:nvCxnSpPr>
          <p:cNvPr id="96" name="Google Shape;96;p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97" name="Google Shape;97;p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ovide mobile webservice or php rest api in json format by Harshadkakadiya  | Fiverr" id="98" name="Google Shape;98;p2"/>
          <p:cNvPicPr preferRelativeResize="0"/>
          <p:nvPr/>
        </p:nvPicPr>
        <p:blipFill rotWithShape="1">
          <a:blip r:embed="rId3">
            <a:alphaModFix/>
          </a:blip>
          <a:srcRect b="0" l="0" r="0" t="0"/>
          <a:stretch/>
        </p:blipFill>
        <p:spPr>
          <a:xfrm>
            <a:off x="460375" y="737281"/>
            <a:ext cx="7853680" cy="42733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 name="Shape 102"/>
        <p:cNvGrpSpPr/>
        <p:nvPr/>
      </p:nvGrpSpPr>
      <p:grpSpPr>
        <a:xfrm>
          <a:off x="0" y="0"/>
          <a:ext cx="0" cy="0"/>
          <a:chOff x="0" y="0"/>
          <a:chExt cx="0" cy="0"/>
        </a:xfrm>
      </p:grpSpPr>
      <p:sp>
        <p:nvSpPr>
          <p:cNvPr id="103" name="Google Shape;103;p3"/>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400"/>
              <a:buFont typeface="Arial"/>
              <a:buNone/>
            </a:pPr>
            <a:r>
              <a:rPr b="1" lang="en-ID" sz="4400">
                <a:solidFill>
                  <a:srgbClr val="DAE5F1"/>
                </a:solidFill>
              </a:rPr>
              <a:t>ONLINING API</a:t>
            </a:r>
            <a:endParaRPr/>
          </a:p>
        </p:txBody>
      </p:sp>
      <p:sp>
        <p:nvSpPr>
          <p:cNvPr id="104" name="Google Shape;104;p3"/>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Onlining API</a:t>
            </a:r>
            <a:endParaRPr/>
          </a:p>
        </p:txBody>
      </p:sp>
      <p:cxnSp>
        <p:nvCxnSpPr>
          <p:cNvPr id="110" name="Google Shape;110;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11" name="Google Shape;111;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4"/>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100"/>
              <a:buNone/>
            </a:pPr>
            <a:r>
              <a:rPr lang="en-ID" sz="2000"/>
              <a:t>In this chapter and for next several chapters, we will use a webservice. </a:t>
            </a:r>
            <a:endParaRPr/>
          </a:p>
          <a:p>
            <a:pPr indent="0" lvl="0" marL="0" rtl="0" algn="l">
              <a:lnSpc>
                <a:spcPct val="90000"/>
              </a:lnSpc>
              <a:spcBef>
                <a:spcPts val="1000"/>
              </a:spcBef>
              <a:spcAft>
                <a:spcPts val="0"/>
              </a:spcAft>
              <a:buClr>
                <a:schemeClr val="dk1"/>
              </a:buClr>
              <a:buSzPts val="1100"/>
              <a:buNone/>
            </a:pPr>
            <a:r>
              <a:rPr lang="en-ID" sz="2000"/>
              <a:t>We can use our computer/laptop as web service provider (localhost), but we will encounter some difficulties.</a:t>
            </a:r>
            <a:endParaRPr/>
          </a:p>
          <a:p>
            <a:pPr indent="0" lvl="0" marL="0" rtl="0" algn="l">
              <a:lnSpc>
                <a:spcPct val="90000"/>
              </a:lnSpc>
              <a:spcBef>
                <a:spcPts val="1000"/>
              </a:spcBef>
              <a:spcAft>
                <a:spcPts val="0"/>
              </a:spcAft>
              <a:buClr>
                <a:schemeClr val="dk1"/>
              </a:buClr>
              <a:buSzPts val="1100"/>
              <a:buNone/>
            </a:pPr>
            <a:r>
              <a:rPr lang="en-ID" sz="2000"/>
              <a:t>If we use emulator, we have to change the IP by 10.0.2.2. </a:t>
            </a:r>
            <a:endParaRPr/>
          </a:p>
          <a:p>
            <a:pPr indent="0" lvl="0" marL="0" rtl="0" algn="l">
              <a:lnSpc>
                <a:spcPct val="90000"/>
              </a:lnSpc>
              <a:spcBef>
                <a:spcPts val="1000"/>
              </a:spcBef>
              <a:spcAft>
                <a:spcPts val="0"/>
              </a:spcAft>
              <a:buClr>
                <a:schemeClr val="dk1"/>
              </a:buClr>
              <a:buSzPts val="1100"/>
              <a:buNone/>
            </a:pPr>
            <a:r>
              <a:rPr lang="en-ID" sz="2000"/>
              <a:t>When we use a device, we have to connect device and our computer in the same network (for example in the same wifi access) and we have to know the computer IP and change the address to that IP.</a:t>
            </a:r>
            <a:endParaRPr/>
          </a:p>
          <a:p>
            <a:pPr indent="0" lvl="0" marL="0" rtl="0" algn="l">
              <a:lnSpc>
                <a:spcPct val="90000"/>
              </a:lnSpc>
              <a:spcBef>
                <a:spcPts val="1000"/>
              </a:spcBef>
              <a:spcAft>
                <a:spcPts val="0"/>
              </a:spcAft>
              <a:buClr>
                <a:schemeClr val="dk1"/>
              </a:buClr>
              <a:buSzPts val="1100"/>
              <a:buNone/>
            </a:pPr>
            <a:r>
              <a:rPr lang="en-ID" sz="2000"/>
              <a:t>A way to make it more comfortable, is by put the web service on the internet. If the web service address is an internet address, we do not need to change our source code while running it in device or in emulator.</a:t>
            </a:r>
            <a:endParaRPr sz="2000">
              <a:latin typeface="Calibri"/>
              <a:ea typeface="Calibri"/>
              <a:cs typeface="Calibri"/>
              <a:sym typeface="Calibri"/>
            </a:endParaRPr>
          </a:p>
          <a:p>
            <a:pPr indent="0" lvl="0" marL="0" rtl="0" algn="l">
              <a:spcBef>
                <a:spcPts val="533"/>
              </a:spcBef>
              <a:spcAft>
                <a:spcPts val="0"/>
              </a:spcAft>
              <a:buClr>
                <a:schemeClr val="dk1"/>
              </a:buClr>
              <a:buSzPts val="2667"/>
              <a:buNone/>
            </a:pPr>
            <a:r>
              <a:t/>
            </a:r>
            <a:endParaRPr sz="1400">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457200" y="99832"/>
            <a:ext cx="8229600" cy="6207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3600"/>
              <a:buFont typeface="Arial"/>
              <a:buNone/>
            </a:pPr>
            <a:r>
              <a:rPr lang="en-ID"/>
              <a:t>Yippii Free Hosting..!</a:t>
            </a:r>
            <a:endParaRPr/>
          </a:p>
        </p:txBody>
      </p:sp>
      <p:sp>
        <p:nvSpPr>
          <p:cNvPr id="118" name="Google Shape;118;p5"/>
          <p:cNvSpPr txBox="1"/>
          <p:nvPr>
            <p:ph idx="1" type="body"/>
          </p:nvPr>
        </p:nvSpPr>
        <p:spPr>
          <a:xfrm>
            <a:off x="373283" y="957082"/>
            <a:ext cx="8594100" cy="3797798"/>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Clr>
                <a:schemeClr val="dk1"/>
              </a:buClr>
              <a:buSzPts val="800"/>
              <a:buNone/>
            </a:pPr>
            <a:r>
              <a:rPr lang="en-ID" sz="1500"/>
              <a:t>We  provide a free hosting for native class and project. Each student have his/her own space and internet address to put API  and mysql database to put the application data.</a:t>
            </a:r>
            <a:endParaRPr/>
          </a:p>
          <a:p>
            <a:pPr indent="0" lvl="0" marL="0" rtl="0" algn="l">
              <a:lnSpc>
                <a:spcPct val="90000"/>
              </a:lnSpc>
              <a:spcBef>
                <a:spcPts val="800"/>
              </a:spcBef>
              <a:spcAft>
                <a:spcPts val="0"/>
              </a:spcAft>
              <a:buClr>
                <a:schemeClr val="dk1"/>
              </a:buClr>
              <a:buSzPts val="800"/>
              <a:buNone/>
            </a:pPr>
            <a:r>
              <a:rPr lang="en-ID" sz="1500"/>
              <a:t>Each student have a space in </a:t>
            </a:r>
            <a:r>
              <a:rPr b="1" lang="en-ID" sz="1500">
                <a:solidFill>
                  <a:srgbClr val="FF0000"/>
                </a:solidFill>
              </a:rPr>
              <a:t>ubaya.cloud</a:t>
            </a:r>
            <a:r>
              <a:rPr lang="en-ID" sz="1500"/>
              <a:t> domain. Source code can be uploaded using SCP/SSH application for example </a:t>
            </a:r>
            <a:r>
              <a:rPr b="1" lang="en-ID" sz="1500"/>
              <a:t>winscp</a:t>
            </a:r>
            <a:r>
              <a:rPr lang="en-ID" sz="1500"/>
              <a:t> or </a:t>
            </a:r>
            <a:r>
              <a:rPr b="1" lang="en-ID" sz="1500"/>
              <a:t>filezilla</a:t>
            </a:r>
            <a:r>
              <a:rPr lang="en-ID" sz="1500"/>
              <a:t> with host </a:t>
            </a:r>
            <a:r>
              <a:rPr b="1" lang="en-ID" sz="1400">
                <a:solidFill>
                  <a:srgbClr val="FF0000"/>
                </a:solidFill>
                <a:latin typeface="Helvetica Neue"/>
                <a:ea typeface="Helvetica Neue"/>
                <a:cs typeface="Helvetica Neue"/>
                <a:sym typeface="Helvetica Neue"/>
              </a:rPr>
              <a:t>103.16.116.155</a:t>
            </a:r>
            <a:r>
              <a:rPr b="1" lang="en-ID" sz="1500">
                <a:solidFill>
                  <a:srgbClr val="FF0000"/>
                </a:solidFill>
              </a:rPr>
              <a:t> </a:t>
            </a:r>
            <a:r>
              <a:rPr lang="en-ID" sz="1500"/>
              <a:t> port </a:t>
            </a:r>
            <a:r>
              <a:rPr b="1" lang="en-ID" sz="1500">
                <a:solidFill>
                  <a:srgbClr val="FF0000"/>
                </a:solidFill>
              </a:rPr>
              <a:t>22</a:t>
            </a:r>
            <a:r>
              <a:rPr lang="en-ID" sz="1500"/>
              <a:t> and username = </a:t>
            </a:r>
            <a:r>
              <a:rPr b="1" lang="en-ID" sz="1500">
                <a:solidFill>
                  <a:srgbClr val="FF0000"/>
                </a:solidFill>
              </a:rPr>
              <a:t>flutter_[NRP]</a:t>
            </a:r>
            <a:r>
              <a:rPr lang="en-ID" sz="1500"/>
              <a:t>, ex=</a:t>
            </a:r>
            <a:r>
              <a:rPr b="1" lang="en-ID" sz="1500">
                <a:solidFill>
                  <a:srgbClr val="FF0000"/>
                </a:solidFill>
              </a:rPr>
              <a:t> flutter_160921011</a:t>
            </a:r>
            <a:r>
              <a:rPr lang="en-ID" sz="1500"/>
              <a:t> password = </a:t>
            </a:r>
            <a:r>
              <a:rPr b="1" lang="en-ID" sz="1500">
                <a:solidFill>
                  <a:srgbClr val="FF0000"/>
                </a:solidFill>
              </a:rPr>
              <a:t>ubaya</a:t>
            </a:r>
            <a:r>
              <a:rPr lang="en-ID" sz="1500"/>
              <a:t> </a:t>
            </a:r>
            <a:endParaRPr/>
          </a:p>
          <a:p>
            <a:pPr indent="0" lvl="0" marL="0" rtl="0" algn="l">
              <a:lnSpc>
                <a:spcPct val="90000"/>
              </a:lnSpc>
              <a:spcBef>
                <a:spcPts val="800"/>
              </a:spcBef>
              <a:spcAft>
                <a:spcPts val="0"/>
              </a:spcAft>
              <a:buClr>
                <a:schemeClr val="dk1"/>
              </a:buClr>
              <a:buSzPts val="800"/>
              <a:buNone/>
            </a:pPr>
            <a:r>
              <a:rPr lang="en-ID" sz="1500"/>
              <a:t>Your physical directory is : </a:t>
            </a:r>
            <a:r>
              <a:rPr b="1" lang="en-ID" sz="1500">
                <a:solidFill>
                  <a:srgbClr val="FF0000"/>
                </a:solidFill>
              </a:rPr>
              <a:t>/var/www/html/flutter/[NRP]</a:t>
            </a:r>
            <a:r>
              <a:rPr lang="en-ID" sz="1500"/>
              <a:t> </a:t>
            </a:r>
            <a:br>
              <a:rPr lang="en-ID" sz="1500"/>
            </a:br>
            <a:r>
              <a:rPr lang="en-ID" sz="1500"/>
              <a:t>ex: </a:t>
            </a:r>
            <a:r>
              <a:rPr b="1" lang="en-ID" sz="1500"/>
              <a:t>/var/www/html/flutter/160921011 .</a:t>
            </a:r>
            <a:r>
              <a:rPr lang="en-ID" sz="1500"/>
              <a:t> If you create, for example, products.php in this directory, you can access it in browser with : </a:t>
            </a:r>
            <a:r>
              <a:rPr b="1" lang="en-ID" sz="1500"/>
              <a:t>https://ubaya.cloud/flutter/[NRP]/products.php </a:t>
            </a:r>
            <a:br>
              <a:rPr lang="en-ID" sz="1500"/>
            </a:br>
            <a:r>
              <a:rPr lang="en-ID" sz="1500"/>
              <a:t>ex: </a:t>
            </a:r>
            <a:r>
              <a:rPr b="1" lang="en-ID" sz="1500">
                <a:solidFill>
                  <a:srgbClr val="FF0000"/>
                </a:solidFill>
              </a:rPr>
              <a:t>https://ubaya.cloud/flutter/160921011/products.php</a:t>
            </a:r>
            <a:r>
              <a:rPr b="1" lang="en-ID" sz="1500"/>
              <a:t>.</a:t>
            </a:r>
            <a:endParaRPr/>
          </a:p>
          <a:p>
            <a:pPr indent="0" lvl="0" marL="0" rtl="0" algn="l">
              <a:lnSpc>
                <a:spcPct val="90000"/>
              </a:lnSpc>
              <a:spcBef>
                <a:spcPts val="800"/>
              </a:spcBef>
              <a:spcAft>
                <a:spcPts val="0"/>
              </a:spcAft>
              <a:buClr>
                <a:schemeClr val="dk1"/>
              </a:buClr>
              <a:buSzPts val="800"/>
              <a:buNone/>
            </a:pPr>
            <a:r>
              <a:rPr lang="en-ID" sz="1500"/>
              <a:t>For the Database, every student have 1 database with name </a:t>
            </a:r>
            <a:r>
              <a:rPr b="1" lang="en-ID" sz="1500">
                <a:solidFill>
                  <a:srgbClr val="FF0000"/>
                </a:solidFill>
              </a:rPr>
              <a:t>flutter_[NRP]</a:t>
            </a:r>
            <a:r>
              <a:rPr lang="en-ID" sz="1500"/>
              <a:t>, ex </a:t>
            </a:r>
            <a:r>
              <a:rPr b="1" lang="en-ID" sz="1500"/>
              <a:t>flutter_160921011</a:t>
            </a:r>
            <a:r>
              <a:rPr lang="en-ID" sz="1500"/>
              <a:t>, user can not create any new database, just can create tables inside the provided one. </a:t>
            </a:r>
            <a:endParaRPr/>
          </a:p>
          <a:p>
            <a:pPr indent="0" lvl="0" marL="0" rtl="0" algn="l">
              <a:lnSpc>
                <a:spcPct val="90000"/>
              </a:lnSpc>
              <a:spcBef>
                <a:spcPts val="800"/>
              </a:spcBef>
              <a:spcAft>
                <a:spcPts val="0"/>
              </a:spcAft>
              <a:buClr>
                <a:schemeClr val="dk1"/>
              </a:buClr>
              <a:buSzPts val="800"/>
              <a:buNone/>
            </a:pPr>
            <a:r>
              <a:rPr lang="en-ID" sz="1500"/>
              <a:t>For manage the database you can access: </a:t>
            </a:r>
            <a:r>
              <a:rPr b="1" lang="en-ID" sz="1500">
                <a:solidFill>
                  <a:srgbClr val="FF0000"/>
                </a:solidFill>
              </a:rPr>
              <a:t>https://ubaya.cloud/phpmyadmin</a:t>
            </a:r>
            <a:r>
              <a:rPr lang="en-ID" sz="1500"/>
              <a:t> username = </a:t>
            </a:r>
            <a:r>
              <a:rPr b="1" lang="en-ID" sz="1500">
                <a:solidFill>
                  <a:srgbClr val="FF0000"/>
                </a:solidFill>
              </a:rPr>
              <a:t>flutter_[NRP]</a:t>
            </a:r>
            <a:r>
              <a:rPr lang="en-ID" sz="1500"/>
              <a:t> , ex= flutter_160921011 password = </a:t>
            </a:r>
            <a:r>
              <a:rPr b="1" lang="en-ID" sz="1500"/>
              <a:t>ubaya</a:t>
            </a:r>
            <a:r>
              <a:rPr lang="en-ID" sz="1500"/>
              <a:t>. Therefore when your php want to connect to your database, it should use this syntax</a:t>
            </a:r>
            <a:endParaRPr/>
          </a:p>
          <a:p>
            <a:pPr indent="0" lvl="0" marL="0" rtl="0" algn="l">
              <a:lnSpc>
                <a:spcPct val="90000"/>
              </a:lnSpc>
              <a:spcBef>
                <a:spcPts val="800"/>
              </a:spcBef>
              <a:spcAft>
                <a:spcPts val="0"/>
              </a:spcAft>
              <a:buClr>
                <a:schemeClr val="dk1"/>
              </a:buClr>
              <a:buSzPts val="800"/>
              <a:buNone/>
            </a:pPr>
            <a:r>
              <a:rPr b="1" lang="en-ID" sz="1500"/>
              <a:t>$con = new mysqli("localhost", ”flutter_160921011","ubaya",”flutter_160921011");</a:t>
            </a:r>
            <a:endParaRPr b="1" sz="1500">
              <a:solidFill>
                <a:srgbClr val="FF0000"/>
              </a:solidFill>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6"/>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JSON</a:t>
            </a:r>
            <a:endParaRPr/>
          </a:p>
        </p:txBody>
      </p:sp>
      <p:sp>
        <p:nvSpPr>
          <p:cNvPr id="124" name="Google Shape;124;p6"/>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cxnSp>
        <p:nvCxnSpPr>
          <p:cNvPr id="129" name="Google Shape;129;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30" name="Google Shape;130;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7"/>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What is JSON</a:t>
            </a:r>
            <a:endParaRPr b="1" sz="3600">
              <a:solidFill>
                <a:srgbClr val="000090"/>
              </a:solidFill>
              <a:latin typeface="Arial"/>
              <a:ea typeface="Arial"/>
              <a:cs typeface="Arial"/>
              <a:sym typeface="Arial"/>
            </a:endParaRPr>
          </a:p>
        </p:txBody>
      </p:sp>
      <p:cxnSp>
        <p:nvCxnSpPr>
          <p:cNvPr id="132" name="Google Shape;132;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33" name="Google Shape;133;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7"/>
          <p:cNvSpPr/>
          <p:nvPr/>
        </p:nvSpPr>
        <p:spPr>
          <a:xfrm>
            <a:off x="307975" y="993548"/>
            <a:ext cx="8229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JSON stands for </a:t>
            </a:r>
            <a:r>
              <a:rPr b="1" lang="en-ID" sz="1800">
                <a:solidFill>
                  <a:schemeClr val="dk1"/>
                </a:solidFill>
                <a:latin typeface="Arial"/>
                <a:ea typeface="Arial"/>
                <a:cs typeface="Arial"/>
                <a:sym typeface="Arial"/>
              </a:rPr>
              <a:t>J</a:t>
            </a:r>
            <a:r>
              <a:rPr lang="en-ID" sz="1800">
                <a:solidFill>
                  <a:schemeClr val="dk1"/>
                </a:solidFill>
                <a:latin typeface="Arial"/>
                <a:ea typeface="Arial"/>
                <a:cs typeface="Arial"/>
                <a:sym typeface="Arial"/>
              </a:rPr>
              <a:t>ava</a:t>
            </a:r>
            <a:r>
              <a:rPr b="1" lang="en-ID" sz="1800">
                <a:solidFill>
                  <a:schemeClr val="dk1"/>
                </a:solidFill>
                <a:latin typeface="Arial"/>
                <a:ea typeface="Arial"/>
                <a:cs typeface="Arial"/>
                <a:sym typeface="Arial"/>
              </a:rPr>
              <a:t>S</a:t>
            </a:r>
            <a:r>
              <a:rPr lang="en-ID" sz="1800">
                <a:solidFill>
                  <a:schemeClr val="dk1"/>
                </a:solidFill>
                <a:latin typeface="Arial"/>
                <a:ea typeface="Arial"/>
                <a:cs typeface="Arial"/>
                <a:sym typeface="Arial"/>
              </a:rPr>
              <a:t>cript </a:t>
            </a:r>
            <a:r>
              <a:rPr b="1" lang="en-ID" sz="1800">
                <a:solidFill>
                  <a:schemeClr val="dk1"/>
                </a:solidFill>
                <a:latin typeface="Arial"/>
                <a:ea typeface="Arial"/>
                <a:cs typeface="Arial"/>
                <a:sym typeface="Arial"/>
              </a:rPr>
              <a:t>O</a:t>
            </a:r>
            <a:r>
              <a:rPr lang="en-ID" sz="1800">
                <a:solidFill>
                  <a:schemeClr val="dk1"/>
                </a:solidFill>
                <a:latin typeface="Arial"/>
                <a:ea typeface="Arial"/>
                <a:cs typeface="Arial"/>
                <a:sym typeface="Arial"/>
              </a:rPr>
              <a:t>bject </a:t>
            </a:r>
            <a:r>
              <a:rPr b="1" lang="en-ID" sz="1800">
                <a:solidFill>
                  <a:schemeClr val="dk1"/>
                </a:solidFill>
                <a:latin typeface="Arial"/>
                <a:ea typeface="Arial"/>
                <a:cs typeface="Arial"/>
                <a:sym typeface="Arial"/>
              </a:rPr>
              <a:t>N</a:t>
            </a:r>
            <a:r>
              <a:rPr lang="en-ID" sz="1800">
                <a:solidFill>
                  <a:schemeClr val="dk1"/>
                </a:solidFill>
                <a:latin typeface="Arial"/>
                <a:ea typeface="Arial"/>
                <a:cs typeface="Arial"/>
                <a:sym typeface="Arial"/>
              </a:rPr>
              <a:t>otation</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JSON is a lightweight format for storing and transporting data</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JSON is often used when data is sent from a server to a web page or app</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JSON is "self-describing" and easy to understand</a:t>
            </a:r>
            <a:endParaRPr/>
          </a:p>
        </p:txBody>
      </p:sp>
      <p:sp>
        <p:nvSpPr>
          <p:cNvPr id="135" name="Google Shape;135;p7"/>
          <p:cNvSpPr/>
          <p:nvPr/>
        </p:nvSpPr>
        <p:spPr>
          <a:xfrm>
            <a:off x="603849" y="2672624"/>
            <a:ext cx="7280694"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rgbClr val="A52A2A"/>
                </a:solidFill>
                <a:latin typeface="Consolas"/>
                <a:ea typeface="Consolas"/>
                <a:cs typeface="Consolas"/>
                <a:sym typeface="Consolas"/>
              </a:rPr>
              <a:t>"employees"</a:t>
            </a:r>
            <a:r>
              <a:rPr lang="en-ID" sz="1800">
                <a:solidFill>
                  <a:srgbClr val="000000"/>
                </a:solidFill>
                <a:latin typeface="Consolas"/>
                <a:ea typeface="Consolas"/>
                <a:cs typeface="Consolas"/>
                <a:sym typeface="Consolas"/>
              </a:rPr>
              <a:t>:[</a:t>
            </a:r>
            <a:br>
              <a:rPr lang="en-ID" sz="1800">
                <a:solidFill>
                  <a:schemeClr val="dk1"/>
                </a:solidFill>
                <a:latin typeface="Arial"/>
                <a:ea typeface="Arial"/>
                <a:cs typeface="Arial"/>
                <a:sym typeface="Arial"/>
              </a:rPr>
            </a:br>
            <a:r>
              <a:rPr lang="en-ID" sz="1800">
                <a:solidFill>
                  <a:srgbClr val="000000"/>
                </a:solidFill>
                <a:latin typeface="Consolas"/>
                <a:ea typeface="Consolas"/>
                <a:cs typeface="Consolas"/>
                <a:sym typeface="Consolas"/>
              </a:rPr>
              <a:t>   </a:t>
            </a:r>
            <a:r>
              <a:rPr lang="en-ID" sz="1800">
                <a:solidFill>
                  <a:srgbClr val="FF0000"/>
                </a:solidFill>
                <a:latin typeface="Consolas"/>
                <a:ea typeface="Consolas"/>
                <a:cs typeface="Consolas"/>
                <a:sym typeface="Consolas"/>
              </a:rPr>
              <a:t> </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"firstName"</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"John"</a:t>
            </a:r>
            <a:r>
              <a:rPr lang="en-ID" sz="1800">
                <a:solidFill>
                  <a:srgbClr val="000000"/>
                </a:solidFill>
                <a:latin typeface="Consolas"/>
                <a:ea typeface="Consolas"/>
                <a:cs typeface="Consolas"/>
                <a:sym typeface="Consolas"/>
              </a:rPr>
              <a:t>, </a:t>
            </a:r>
            <a:r>
              <a:rPr lang="en-ID" sz="1800">
                <a:solidFill>
                  <a:srgbClr val="A52A2A"/>
                </a:solidFill>
                <a:latin typeface="Consolas"/>
                <a:ea typeface="Consolas"/>
                <a:cs typeface="Consolas"/>
                <a:sym typeface="Consolas"/>
              </a:rPr>
              <a:t>"lastName"</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"Doe"</a:t>
            </a:r>
            <a:r>
              <a:rPr lang="en-ID" sz="1800">
                <a:solidFill>
                  <a:srgbClr val="000000"/>
                </a:solidFill>
                <a:latin typeface="Consolas"/>
                <a:ea typeface="Consolas"/>
                <a:cs typeface="Consolas"/>
                <a:sym typeface="Consolas"/>
              </a:rPr>
              <a:t>}, </a:t>
            </a:r>
            <a:br>
              <a:rPr lang="en-ID" sz="1800">
                <a:solidFill>
                  <a:schemeClr val="dk1"/>
                </a:solidFill>
                <a:latin typeface="Arial"/>
                <a:ea typeface="Arial"/>
                <a:cs typeface="Arial"/>
                <a:sym typeface="Arial"/>
              </a:rPr>
            </a:br>
            <a:r>
              <a:rPr lang="en-ID" sz="1800">
                <a:solidFill>
                  <a:srgbClr val="000000"/>
                </a:solidFill>
                <a:latin typeface="Consolas"/>
                <a:ea typeface="Consolas"/>
                <a:cs typeface="Consolas"/>
                <a:sym typeface="Consolas"/>
              </a:rPr>
              <a:t>   </a:t>
            </a:r>
            <a:r>
              <a:rPr lang="en-ID" sz="1800">
                <a:solidFill>
                  <a:srgbClr val="FF0000"/>
                </a:solidFill>
                <a:latin typeface="Consolas"/>
                <a:ea typeface="Consolas"/>
                <a:cs typeface="Consolas"/>
                <a:sym typeface="Consolas"/>
              </a:rPr>
              <a:t> </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"firstName"</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"Anna"</a:t>
            </a:r>
            <a:r>
              <a:rPr lang="en-ID" sz="1800">
                <a:solidFill>
                  <a:srgbClr val="000000"/>
                </a:solidFill>
                <a:latin typeface="Consolas"/>
                <a:ea typeface="Consolas"/>
                <a:cs typeface="Consolas"/>
                <a:sym typeface="Consolas"/>
              </a:rPr>
              <a:t>, </a:t>
            </a:r>
            <a:r>
              <a:rPr lang="en-ID" sz="1800">
                <a:solidFill>
                  <a:srgbClr val="A52A2A"/>
                </a:solidFill>
                <a:latin typeface="Consolas"/>
                <a:ea typeface="Consolas"/>
                <a:cs typeface="Consolas"/>
                <a:sym typeface="Consolas"/>
              </a:rPr>
              <a:t>"lastName"</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"Smith"</a:t>
            </a:r>
            <a:r>
              <a:rPr lang="en-ID" sz="1800">
                <a:solidFill>
                  <a:srgbClr val="000000"/>
                </a:solidFill>
                <a:latin typeface="Consolas"/>
                <a:ea typeface="Consolas"/>
                <a:cs typeface="Consolas"/>
                <a:sym typeface="Consolas"/>
              </a:rPr>
              <a:t>}, </a:t>
            </a:r>
            <a:br>
              <a:rPr lang="en-ID" sz="1800">
                <a:solidFill>
                  <a:schemeClr val="dk1"/>
                </a:solidFill>
                <a:latin typeface="Arial"/>
                <a:ea typeface="Arial"/>
                <a:cs typeface="Arial"/>
                <a:sym typeface="Arial"/>
              </a:rPr>
            </a:br>
            <a:r>
              <a:rPr lang="en-ID" sz="1800">
                <a:solidFill>
                  <a:srgbClr val="000000"/>
                </a:solidFill>
                <a:latin typeface="Consolas"/>
                <a:ea typeface="Consolas"/>
                <a:cs typeface="Consolas"/>
                <a:sym typeface="Consolas"/>
              </a:rPr>
              <a:t>   </a:t>
            </a:r>
            <a:r>
              <a:rPr lang="en-ID" sz="1800">
                <a:solidFill>
                  <a:srgbClr val="FF0000"/>
                </a:solidFill>
                <a:latin typeface="Consolas"/>
                <a:ea typeface="Consolas"/>
                <a:cs typeface="Consolas"/>
                <a:sym typeface="Consolas"/>
              </a:rPr>
              <a:t> </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"firstName"</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"Peter"</a:t>
            </a:r>
            <a:r>
              <a:rPr lang="en-ID" sz="1800">
                <a:solidFill>
                  <a:srgbClr val="000000"/>
                </a:solidFill>
                <a:latin typeface="Consolas"/>
                <a:ea typeface="Consolas"/>
                <a:cs typeface="Consolas"/>
                <a:sym typeface="Consolas"/>
              </a:rPr>
              <a:t>, </a:t>
            </a:r>
            <a:r>
              <a:rPr lang="en-ID" sz="1800">
                <a:solidFill>
                  <a:srgbClr val="A52A2A"/>
                </a:solidFill>
                <a:latin typeface="Consolas"/>
                <a:ea typeface="Consolas"/>
                <a:cs typeface="Consolas"/>
                <a:sym typeface="Consolas"/>
              </a:rPr>
              <a:t>"lastName"</a:t>
            </a:r>
            <a:r>
              <a:rPr lang="en-ID" sz="1800">
                <a:solidFill>
                  <a:srgbClr val="000000"/>
                </a:solidFill>
                <a:latin typeface="Consolas"/>
                <a:ea typeface="Consolas"/>
                <a:cs typeface="Consolas"/>
                <a:sym typeface="Consolas"/>
              </a:rPr>
              <a:t>:</a:t>
            </a:r>
            <a:r>
              <a:rPr lang="en-ID" sz="1800">
                <a:solidFill>
                  <a:srgbClr val="A52A2A"/>
                </a:solidFill>
                <a:latin typeface="Consolas"/>
                <a:ea typeface="Consolas"/>
                <a:cs typeface="Consolas"/>
                <a:sym typeface="Consolas"/>
              </a:rPr>
              <a:t>"Jones"</a:t>
            </a:r>
            <a:r>
              <a:rPr lang="en-ID" sz="1800">
                <a:solidFill>
                  <a:srgbClr val="000000"/>
                </a:solidFill>
                <a:latin typeface="Consolas"/>
                <a:ea typeface="Consolas"/>
                <a:cs typeface="Consolas"/>
                <a:sym typeface="Consolas"/>
              </a:rPr>
              <a:t>}</a:t>
            </a:r>
            <a:br>
              <a:rPr lang="en-ID" sz="1800">
                <a:solidFill>
                  <a:schemeClr val="dk1"/>
                </a:solidFill>
                <a:latin typeface="Arial"/>
                <a:ea typeface="Arial"/>
                <a:cs typeface="Arial"/>
                <a:sym typeface="Arial"/>
              </a:rPr>
            </a:br>
            <a:r>
              <a:rPr lang="en-ID" sz="1800">
                <a:solidFill>
                  <a:srgbClr val="000000"/>
                </a:solidFill>
                <a:latin typeface="Consolas"/>
                <a:ea typeface="Consolas"/>
                <a:cs typeface="Consolas"/>
                <a:sym typeface="Consolas"/>
              </a:rPr>
              <a:t>]</a:t>
            </a:r>
            <a:endParaRPr sz="1800">
              <a:solidFill>
                <a:schemeClr val="dk1"/>
              </a:solidFill>
              <a:latin typeface="Arial"/>
              <a:ea typeface="Arial"/>
              <a:cs typeface="Arial"/>
              <a:sym typeface="Arial"/>
            </a:endParaRPr>
          </a:p>
        </p:txBody>
      </p:sp>
      <p:sp>
        <p:nvSpPr>
          <p:cNvPr id="136" name="Google Shape;136;p7"/>
          <p:cNvSpPr txBox="1"/>
          <p:nvPr/>
        </p:nvSpPr>
        <p:spPr>
          <a:xfrm>
            <a:off x="5633049" y="2355011"/>
            <a:ext cx="17039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JSON data</a:t>
            </a:r>
            <a:endParaRPr/>
          </a:p>
        </p:txBody>
      </p:sp>
      <p:cxnSp>
        <p:nvCxnSpPr>
          <p:cNvPr id="137" name="Google Shape;137;p7"/>
          <p:cNvCxnSpPr/>
          <p:nvPr/>
        </p:nvCxnSpPr>
        <p:spPr>
          <a:xfrm flipH="1" rot="10800000">
            <a:off x="5085477" y="2719777"/>
            <a:ext cx="707366" cy="30352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38" name="Google Shape;138;p7"/>
          <p:cNvSpPr txBox="1"/>
          <p:nvPr/>
        </p:nvSpPr>
        <p:spPr>
          <a:xfrm>
            <a:off x="3007127" y="2336647"/>
            <a:ext cx="17039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JSON array</a:t>
            </a:r>
            <a:endParaRPr/>
          </a:p>
        </p:txBody>
      </p:sp>
      <p:cxnSp>
        <p:nvCxnSpPr>
          <p:cNvPr id="139" name="Google Shape;139;p7"/>
          <p:cNvCxnSpPr/>
          <p:nvPr/>
        </p:nvCxnSpPr>
        <p:spPr>
          <a:xfrm flipH="1" rot="10800000">
            <a:off x="2325435" y="2571750"/>
            <a:ext cx="707366" cy="30352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cxnSp>
        <p:nvCxnSpPr>
          <p:cNvPr id="140" name="Google Shape;140;p7"/>
          <p:cNvCxnSpPr/>
          <p:nvPr/>
        </p:nvCxnSpPr>
        <p:spPr>
          <a:xfrm rot="10800000">
            <a:off x="1345722" y="3873260"/>
            <a:ext cx="655606" cy="27669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41" name="Google Shape;141;p7"/>
          <p:cNvSpPr txBox="1"/>
          <p:nvPr/>
        </p:nvSpPr>
        <p:spPr>
          <a:xfrm>
            <a:off x="1973395" y="4010551"/>
            <a:ext cx="17039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JSON Object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cxnSp>
        <p:nvCxnSpPr>
          <p:cNvPr id="146" name="Google Shape;146;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47" name="Google Shape;147;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 name="Google Shape;148;p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Data Preparation</a:t>
            </a:r>
            <a:endParaRPr/>
          </a:p>
        </p:txBody>
      </p:sp>
      <p:cxnSp>
        <p:nvCxnSpPr>
          <p:cNvPr id="149" name="Google Shape;149;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50" name="Google Shape;150;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8"/>
          <p:cNvSpPr/>
          <p:nvPr/>
        </p:nvSpPr>
        <p:spPr>
          <a:xfrm>
            <a:off x="307975" y="863752"/>
            <a:ext cx="82296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rgbClr val="000000"/>
                </a:solidFill>
                <a:latin typeface="Arial"/>
                <a:ea typeface="Arial"/>
                <a:cs typeface="Arial"/>
                <a:sym typeface="Arial"/>
              </a:rPr>
              <a:t>Restore data movie.sql (download from ULS)</a:t>
            </a:r>
            <a:endParaRPr/>
          </a:p>
          <a:p>
            <a:pPr indent="0" lvl="0" marL="0" marR="0" rtl="0" algn="l">
              <a:spcBef>
                <a:spcPts val="0"/>
              </a:spcBef>
              <a:spcAft>
                <a:spcPts val="0"/>
              </a:spcAft>
              <a:buNone/>
            </a:pPr>
            <a:r>
              <a:t/>
            </a:r>
            <a:endParaRPr sz="1800">
              <a:solidFill>
                <a:srgbClr val="000000"/>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52" name="Google Shape;152;p8"/>
          <p:cNvPicPr preferRelativeResize="0"/>
          <p:nvPr/>
        </p:nvPicPr>
        <p:blipFill rotWithShape="1">
          <a:blip r:embed="rId4">
            <a:alphaModFix/>
          </a:blip>
          <a:srcRect b="0" l="0" r="0" t="0"/>
          <a:stretch/>
        </p:blipFill>
        <p:spPr>
          <a:xfrm>
            <a:off x="1397133" y="1327005"/>
            <a:ext cx="5435333" cy="34120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cxnSp>
        <p:nvCxnSpPr>
          <p:cNvPr id="157" name="Google Shape;157;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58" name="Google Shape;158;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PHP</a:t>
            </a:r>
            <a:endParaRPr/>
          </a:p>
        </p:txBody>
      </p:sp>
      <p:cxnSp>
        <p:nvCxnSpPr>
          <p:cNvPr id="160" name="Google Shape;160;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61" name="Google Shape;161;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9"/>
          <p:cNvSpPr/>
          <p:nvPr/>
        </p:nvSpPr>
        <p:spPr>
          <a:xfrm>
            <a:off x="307976" y="863752"/>
            <a:ext cx="2626814"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rgbClr val="000000"/>
                </a:solidFill>
                <a:latin typeface="Arial"/>
                <a:ea typeface="Arial"/>
                <a:cs typeface="Arial"/>
                <a:sym typeface="Arial"/>
              </a:rPr>
              <a:t>Write php code that read movie table and shows the content in JSON format.</a:t>
            </a:r>
            <a:endParaRPr/>
          </a:p>
          <a:p>
            <a:pPr indent="0" lvl="0" marL="0" marR="0" rtl="0" algn="l">
              <a:spcBef>
                <a:spcPts val="0"/>
              </a:spcBef>
              <a:spcAft>
                <a:spcPts val="0"/>
              </a:spcAft>
              <a:buNone/>
            </a:pPr>
            <a:r>
              <a:rPr lang="en-ID" sz="1800">
                <a:solidFill>
                  <a:srgbClr val="000000"/>
                </a:solidFill>
                <a:latin typeface="Arial"/>
                <a:ea typeface="Arial"/>
                <a:cs typeface="Arial"/>
                <a:sym typeface="Arial"/>
              </a:rPr>
              <a:t>we name it movielist.php</a:t>
            </a:r>
            <a:endParaRPr sz="1800">
              <a:solidFill>
                <a:srgbClr val="000000"/>
              </a:solidFill>
              <a:latin typeface="Arial"/>
              <a:ea typeface="Arial"/>
              <a:cs typeface="Arial"/>
              <a:sym typeface="Arial"/>
            </a:endParaRPr>
          </a:p>
        </p:txBody>
      </p:sp>
      <p:sp>
        <p:nvSpPr>
          <p:cNvPr id="163" name="Google Shape;163;p9"/>
          <p:cNvSpPr txBox="1"/>
          <p:nvPr/>
        </p:nvSpPr>
        <p:spPr>
          <a:xfrm>
            <a:off x="3291840" y="160338"/>
            <a:ext cx="5852100" cy="4894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&lt;?php</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header("Access-Control-Allow-Origin: *");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$arr=null;</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$conn = new mysqli("localhost", "[</a:t>
            </a:r>
            <a:r>
              <a:rPr lang="en-ID" sz="1200">
                <a:solidFill>
                  <a:srgbClr val="0000FF"/>
                </a:solidFill>
                <a:latin typeface="Consolas"/>
                <a:ea typeface="Consolas"/>
                <a:cs typeface="Consolas"/>
                <a:sym typeface="Consolas"/>
              </a:rPr>
              <a:t>yourlogin</a:t>
            </a:r>
            <a:r>
              <a:rPr lang="en-ID" sz="1200">
                <a:solidFill>
                  <a:srgbClr val="FF0000"/>
                </a:solidFill>
                <a:latin typeface="Consolas"/>
                <a:ea typeface="Consolas"/>
                <a:cs typeface="Consolas"/>
                <a:sym typeface="Consolas"/>
              </a:rPr>
              <a:t>]","[</a:t>
            </a:r>
            <a:r>
              <a:rPr lang="en-ID" sz="1200">
                <a:solidFill>
                  <a:srgbClr val="0000FF"/>
                </a:solidFill>
                <a:latin typeface="Consolas"/>
                <a:ea typeface="Consolas"/>
                <a:cs typeface="Consolas"/>
                <a:sym typeface="Consolas"/>
              </a:rPr>
              <a:t>yourpassword</a:t>
            </a:r>
            <a:r>
              <a:rPr lang="en-ID" sz="1200">
                <a:solidFill>
                  <a:srgbClr val="FF0000"/>
                </a:solidFill>
                <a:latin typeface="Consolas"/>
                <a:ea typeface="Consolas"/>
                <a:cs typeface="Consolas"/>
                <a:sym typeface="Consolas"/>
              </a:rPr>
              <a:t>]","[</a:t>
            </a:r>
            <a:r>
              <a:rPr lang="en-ID" sz="1200">
                <a:solidFill>
                  <a:srgbClr val="0000FF"/>
                </a:solidFill>
                <a:latin typeface="Consolas"/>
                <a:ea typeface="Consolas"/>
                <a:cs typeface="Consolas"/>
                <a:sym typeface="Consolas"/>
              </a:rPr>
              <a:t>yourdatabase</a:t>
            </a:r>
            <a:r>
              <a:rPr lang="en-ID" sz="1200">
                <a:solidFill>
                  <a:srgbClr val="FF0000"/>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if($conn-&gt;connect_error)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$arr= ["result"=&gt;"error","message"=&gt;"unable to connect"];</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$sql = "SELECT * FROM movie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$stmt = $conn-&gt;prepare($sql);</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$stmt-&gt;execute();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$result = $stmt-&gt;get_result();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$data=[];</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 ($result-&gt;num_rows &gt; 0)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while($r=mysqli_fetch_assoc($result))</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array_push($data,$r);</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$arr=["result"=&gt;"success","data"=&gt;$data];</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 else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$arr= ["result"=&gt;"error","message"=&gt;"sql error: $sql"];</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echo json_encode($arr);</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$stmt-&gt;close();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$conn-&gt;close();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?&gt;</a:t>
            </a:r>
            <a:endParaRPr>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cxnSp>
        <p:nvCxnSpPr>
          <p:cNvPr id="168" name="Google Shape;168;p1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69" name="Google Shape;169;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 name="Google Shape;170;p1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Check result</a:t>
            </a:r>
            <a:endParaRPr/>
          </a:p>
        </p:txBody>
      </p:sp>
      <p:cxnSp>
        <p:nvCxnSpPr>
          <p:cNvPr id="171" name="Google Shape;171;p1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72" name="Google Shape;172;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10"/>
          <p:cNvSpPr/>
          <p:nvPr/>
        </p:nvSpPr>
        <p:spPr>
          <a:xfrm>
            <a:off x="307975" y="863752"/>
            <a:ext cx="2748734"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Check your php in browser.</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You can see JSON in better appearance in JSON Viewer application such as</a:t>
            </a:r>
            <a:br>
              <a:rPr lang="en-ID" sz="1800">
                <a:solidFill>
                  <a:schemeClr val="dk1"/>
                </a:solidFill>
                <a:latin typeface="Arial"/>
                <a:ea typeface="Arial"/>
                <a:cs typeface="Arial"/>
                <a:sym typeface="Arial"/>
              </a:rPr>
            </a:br>
            <a:r>
              <a:rPr lang="en-ID" sz="1800" u="sng">
                <a:solidFill>
                  <a:schemeClr val="dk1"/>
                </a:solidFill>
                <a:latin typeface="Arial"/>
                <a:ea typeface="Arial"/>
                <a:cs typeface="Arial"/>
                <a:sym typeface="Arial"/>
                <a:hlinkClick r:id="rId4">
                  <a:extLst>
                    <a:ext uri="{A12FA001-AC4F-418D-AE19-62706E023703}">
                      <ahyp:hlinkClr val="tx"/>
                    </a:ext>
                  </a:extLst>
                </a:hlinkClick>
              </a:rPr>
              <a:t>http://jsonviewer.stack.hu</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74" name="Google Shape;174;p10"/>
          <p:cNvPicPr preferRelativeResize="0"/>
          <p:nvPr/>
        </p:nvPicPr>
        <p:blipFill rotWithShape="1">
          <a:blip r:embed="rId5">
            <a:alphaModFix/>
          </a:blip>
          <a:srcRect b="0" l="0" r="0" t="0"/>
          <a:stretch/>
        </p:blipFill>
        <p:spPr>
          <a:xfrm>
            <a:off x="3299721" y="863752"/>
            <a:ext cx="4929879" cy="3986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11"/>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000"/>
              <a:buFont typeface="Arial"/>
              <a:buNone/>
            </a:pPr>
            <a:r>
              <a:rPr b="1" lang="en-ID">
                <a:solidFill>
                  <a:srgbClr val="DAE5F1"/>
                </a:solidFill>
              </a:rPr>
              <a:t>READ WEB SERVICE</a:t>
            </a:r>
            <a:endParaRPr/>
          </a:p>
        </p:txBody>
      </p:sp>
      <p:sp>
        <p:nvSpPr>
          <p:cNvPr id="180" name="Google Shape;180;p11"/>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sp>
        <p:nvSpPr>
          <p:cNvPr id="185" name="Google Shape;185;p1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Preparation</a:t>
            </a:r>
            <a:endParaRPr/>
          </a:p>
        </p:txBody>
      </p:sp>
      <p:cxnSp>
        <p:nvCxnSpPr>
          <p:cNvPr id="186" name="Google Shape;186;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87" name="Google Shape;187;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12"/>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D" sz="1600" u="none" cap="none" strike="noStrike">
                <a:solidFill>
                  <a:schemeClr val="dk1"/>
                </a:solidFill>
                <a:latin typeface="Arial"/>
                <a:ea typeface="Arial"/>
                <a:cs typeface="Arial"/>
                <a:sym typeface="Arial"/>
              </a:rPr>
              <a:t>JSON Movie data from previous will be displayed in a new page. Prepare this page with name PopularMovie page. </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import 'package:flutter/material.dart';</a:t>
            </a:r>
            <a:endParaRPr/>
          </a:p>
          <a:p>
            <a:pPr indent="0" lvl="0" marL="0" marR="0" rtl="0" algn="l">
              <a:spcBef>
                <a:spcPts val="0"/>
              </a:spcBef>
              <a:spcAft>
                <a:spcPts val="0"/>
              </a:spcAft>
              <a:buNone/>
            </a:pPr>
            <a:r>
              <a:t/>
            </a:r>
            <a:endParaRPr sz="11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class PopularMovie extends StatefulWidget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const PopularMovie({super.key});</a:t>
            </a:r>
            <a:endParaRPr/>
          </a:p>
          <a:p>
            <a:pPr indent="0" lvl="0" marL="0" marR="0" rtl="0" algn="l">
              <a:spcBef>
                <a:spcPts val="0"/>
              </a:spcBef>
              <a:spcAft>
                <a:spcPts val="0"/>
              </a:spcAft>
              <a:buNone/>
            </a:pPr>
            <a:r>
              <a:t/>
            </a:r>
            <a:endParaRPr sz="11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@override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State&lt;StatefulWidget&gt; createState()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return _PopularMovieState();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class _PopularMovieState extends State&lt;PopularMovie&gt;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@override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Widget build(BuildContext context)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return Scaffold(</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appBar: AppBar(</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title: const Text('Popular Movie')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body: ListView(children:  &lt;Widget&gt;[]));</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a:t>
            </a:r>
            <a:endParaRPr/>
          </a:p>
          <a:p>
            <a:pPr indent="0" lvl="0" marL="0" marR="0" rtl="0" algn="l">
              <a:spcBef>
                <a:spcPts val="0"/>
              </a:spcBef>
              <a:spcAft>
                <a:spcPts val="0"/>
              </a:spcAft>
              <a:buNone/>
            </a:pPr>
            <a:br>
              <a:rPr lang="en-ID" sz="1100">
                <a:solidFill>
                  <a:srgbClr val="FF0000"/>
                </a:solidFill>
                <a:latin typeface="Arial"/>
                <a:ea typeface="Arial"/>
                <a:cs typeface="Arial"/>
                <a:sym typeface="Arial"/>
              </a:rPr>
            </a:br>
            <a:endParaRPr sz="1100">
              <a:solidFill>
                <a:srgbClr val="FF0000"/>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descr="blob:https://web.whatsapp.com/4be9237d-cfc1-462e-ba51-978e9348df04" id="189" name="Google Shape;189;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1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http package</a:t>
            </a:r>
            <a:endParaRPr/>
          </a:p>
        </p:txBody>
      </p:sp>
      <p:cxnSp>
        <p:nvCxnSpPr>
          <p:cNvPr id="195" name="Google Shape;195;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6" name="Google Shape;196;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7" name="Google Shape;197;p13"/>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Fetching data from the internet is necessary for most apps. Luckily, Dart and Flutter provide tools, such as the http package, for this type of work.</a:t>
            </a:r>
            <a:endParaRPr/>
          </a:p>
          <a:p>
            <a:pPr indent="0" lvl="0" marL="0" marR="0" rtl="0" algn="l">
              <a:spcBef>
                <a:spcPts val="0"/>
              </a:spcBef>
              <a:spcAft>
                <a:spcPts val="0"/>
              </a:spcAft>
              <a:buNone/>
            </a:pPr>
            <a:r>
              <a:rPr lang="en-ID" sz="1400">
                <a:solidFill>
                  <a:schemeClr val="dk1"/>
                </a:solidFill>
                <a:latin typeface="Arial"/>
                <a:ea typeface="Arial"/>
                <a:cs typeface="Arial"/>
                <a:sym typeface="Arial"/>
              </a:rPr>
              <a:t>This recipe uses the following steps:</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 Add the http package.</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 Make a network request using the http package.</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 Convert the response into a custom Dart object.</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 Fetch and display the data with Flutter.</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600">
                <a:solidFill>
                  <a:schemeClr val="dk1"/>
                </a:solidFill>
                <a:latin typeface="Arial"/>
                <a:ea typeface="Arial"/>
                <a:cs typeface="Arial"/>
                <a:sym typeface="Arial"/>
              </a:rPr>
              <a:t>in pubspec.yaml :</a:t>
            </a:r>
            <a:endParaRPr/>
          </a:p>
          <a:p>
            <a:pPr indent="0" lvl="0" marL="0" marR="0" rtl="0" algn="l">
              <a:spcBef>
                <a:spcPts val="0"/>
              </a:spcBef>
              <a:spcAft>
                <a:spcPts val="0"/>
              </a:spcAft>
              <a:buNone/>
            </a:pPr>
            <a:r>
              <a:rPr lang="en-ID" sz="1600">
                <a:solidFill>
                  <a:srgbClr val="FF0000"/>
                </a:solidFill>
                <a:latin typeface="Arial"/>
                <a:ea typeface="Arial"/>
                <a:cs typeface="Arial"/>
                <a:sym typeface="Arial"/>
              </a:rPr>
              <a:t>  </a:t>
            </a:r>
            <a:r>
              <a:rPr lang="en-ID" sz="1600">
                <a:solidFill>
                  <a:srgbClr val="FF0000"/>
                </a:solidFill>
                <a:latin typeface="Consolas"/>
                <a:ea typeface="Consolas"/>
                <a:cs typeface="Consolas"/>
                <a:sym typeface="Consolas"/>
              </a:rPr>
              <a:t>http: ^1</a:t>
            </a:r>
            <a:r>
              <a:rPr lang="en-ID" sz="1800">
                <a:solidFill>
                  <a:srgbClr val="FF0000"/>
                </a:solidFill>
                <a:latin typeface="Consolas"/>
                <a:ea typeface="Consolas"/>
                <a:cs typeface="Consolas"/>
                <a:sym typeface="Consolas"/>
              </a:rPr>
              <a:t>.5.0</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600">
                <a:solidFill>
                  <a:schemeClr val="dk1"/>
                </a:solidFill>
                <a:latin typeface="Arial"/>
                <a:ea typeface="Arial"/>
                <a:cs typeface="Arial"/>
                <a:sym typeface="Arial"/>
              </a:rPr>
              <a:t>in page:</a:t>
            </a:r>
            <a:endParaRPr sz="1600">
              <a:solidFill>
                <a:srgbClr val="FF0000"/>
              </a:solidFill>
              <a:latin typeface="Arial"/>
              <a:ea typeface="Arial"/>
              <a:cs typeface="Arial"/>
              <a:sym typeface="Arial"/>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import</a:t>
            </a:r>
            <a:r>
              <a:rPr lang="en-ID" sz="1600">
                <a:solidFill>
                  <a:srgbClr val="FF0000"/>
                </a:solidFill>
                <a:latin typeface="Consolas"/>
                <a:ea typeface="Consolas"/>
                <a:cs typeface="Consolas"/>
                <a:sym typeface="Consolas"/>
              </a:rPr>
              <a:t> </a:t>
            </a:r>
            <a:r>
              <a:rPr lang="en-ID" sz="1800">
                <a:solidFill>
                  <a:srgbClr val="FF0000"/>
                </a:solidFill>
                <a:latin typeface="Consolas"/>
                <a:ea typeface="Consolas"/>
                <a:cs typeface="Consolas"/>
                <a:sym typeface="Consolas"/>
              </a:rPr>
              <a:t>'package:http/http.dart'</a:t>
            </a:r>
            <a:r>
              <a:rPr lang="en-ID" sz="1600">
                <a:solidFill>
                  <a:srgbClr val="FF0000"/>
                </a:solidFill>
                <a:latin typeface="Consolas"/>
                <a:ea typeface="Consolas"/>
                <a:cs typeface="Consolas"/>
                <a:sym typeface="Consolas"/>
              </a:rPr>
              <a:t> </a:t>
            </a:r>
            <a:r>
              <a:rPr lang="en-ID" sz="1800">
                <a:solidFill>
                  <a:srgbClr val="FF0000"/>
                </a:solidFill>
                <a:latin typeface="Consolas"/>
                <a:ea typeface="Consolas"/>
                <a:cs typeface="Consolas"/>
                <a:sym typeface="Consolas"/>
              </a:rPr>
              <a:t>as</a:t>
            </a:r>
            <a:r>
              <a:rPr lang="en-ID" sz="1600">
                <a:solidFill>
                  <a:srgbClr val="FF0000"/>
                </a:solidFill>
                <a:latin typeface="Consolas"/>
                <a:ea typeface="Consolas"/>
                <a:cs typeface="Consolas"/>
                <a:sym typeface="Consolas"/>
              </a:rPr>
              <a:t> </a:t>
            </a:r>
            <a:r>
              <a:rPr lang="en-ID" sz="1800">
                <a:solidFill>
                  <a:srgbClr val="FF0000"/>
                </a:solidFill>
                <a:latin typeface="Consolas"/>
                <a:ea typeface="Consolas"/>
                <a:cs typeface="Consolas"/>
                <a:sym typeface="Consolas"/>
              </a:rPr>
              <a:t>http;</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600">
                <a:solidFill>
                  <a:schemeClr val="dk1"/>
                </a:solidFill>
                <a:latin typeface="Arial"/>
                <a:ea typeface="Arial"/>
                <a:cs typeface="Arial"/>
                <a:sym typeface="Arial"/>
              </a:rPr>
              <a:t>in android/app/src/main/AndroidManifest.xml</a:t>
            </a:r>
            <a:endParaRPr sz="1600">
              <a:solidFill>
                <a:srgbClr val="FF0000"/>
              </a:solidFill>
              <a:latin typeface="Arial"/>
              <a:ea typeface="Arial"/>
              <a:cs typeface="Arial"/>
              <a:sym typeface="Arial"/>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&lt;uses-permission </a:t>
            </a:r>
            <a:r>
              <a:rPr lang="en-ID" sz="1800">
                <a:solidFill>
                  <a:srgbClr val="FF0000"/>
                </a:solidFill>
                <a:latin typeface="Consolas"/>
                <a:ea typeface="Consolas"/>
                <a:cs typeface="Consolas"/>
                <a:sym typeface="Consolas"/>
              </a:rPr>
              <a:t>android:name="android.permission.INTERNET"</a:t>
            </a:r>
            <a:r>
              <a:rPr lang="en-ID" sz="1600">
                <a:solidFill>
                  <a:srgbClr val="FF0000"/>
                </a:solidFill>
                <a:latin typeface="Consolas"/>
                <a:ea typeface="Consolas"/>
                <a:cs typeface="Consolas"/>
                <a:sym typeface="Consolas"/>
              </a:rPr>
              <a:t> /&gt;</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br>
              <a:rPr lang="en-ID" sz="1600">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p:txBody>
      </p:sp>
      <p:sp>
        <p:nvSpPr>
          <p:cNvPr descr="blob:https://web.whatsapp.com/4be9237d-cfc1-462e-ba51-978e9348df04" id="198" name="Google Shape;198;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1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Fetching data</a:t>
            </a:r>
            <a:endParaRPr/>
          </a:p>
        </p:txBody>
      </p:sp>
      <p:cxnSp>
        <p:nvCxnSpPr>
          <p:cNvPr id="204" name="Google Shape;204;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05" name="Google Shape;205;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14"/>
          <p:cNvSpPr txBox="1"/>
          <p:nvPr/>
        </p:nvSpPr>
        <p:spPr>
          <a:xfrm>
            <a:off x="287383" y="771898"/>
            <a:ext cx="8856617"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600">
                <a:solidFill>
                  <a:schemeClr val="dk1"/>
                </a:solidFill>
                <a:latin typeface="Arial"/>
                <a:ea typeface="Arial"/>
                <a:cs typeface="Arial"/>
                <a:sym typeface="Arial"/>
              </a:rPr>
              <a:t>For simplifying, first,	 JSON data will be read as String and just show it in the page.	</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700">
                <a:solidFill>
                  <a:srgbClr val="FF0000"/>
                </a:solidFill>
                <a:latin typeface="Consolas"/>
                <a:ea typeface="Consolas"/>
                <a:cs typeface="Consolas"/>
                <a:sym typeface="Consolas"/>
              </a:rPr>
              <a:t>String _temp = 'waiting API respond…';</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Future&lt;String&gt; fetchData() async {</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final response = await http</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.get(Uri.parse("https://ubaya.cloud/flutter/[nrp]/movielist.php"));</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if (response.statusCode == 200) {</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return response.body;</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 else {</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throw Exception('Failed to read API');</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a:t>
            </a:r>
            <a:endParaRPr sz="1300"/>
          </a:p>
          <a:p>
            <a:pPr indent="0" lvl="0" marL="0" marR="0" rtl="0" algn="l">
              <a:spcBef>
                <a:spcPts val="0"/>
              </a:spcBef>
              <a:spcAft>
                <a:spcPts val="0"/>
              </a:spcAft>
              <a:buNone/>
            </a:pPr>
            <a:r>
              <a:rPr lang="en-ID" sz="1700">
                <a:solidFill>
                  <a:srgbClr val="FF0000"/>
                </a:solidFill>
                <a:latin typeface="Consolas"/>
                <a:ea typeface="Consolas"/>
                <a:cs typeface="Consolas"/>
                <a:sym typeface="Consolas"/>
              </a:rPr>
              <a:t> }</a:t>
            </a:r>
            <a:endParaRPr sz="1300"/>
          </a:p>
          <a:p>
            <a:pPr indent="0" lvl="0" marL="0" marR="0" rtl="0" algn="l">
              <a:spcBef>
                <a:spcPts val="0"/>
              </a:spcBef>
              <a:spcAft>
                <a:spcPts val="0"/>
              </a:spcAft>
              <a:buNone/>
            </a:pPr>
            <a:r>
              <a:t/>
            </a:r>
            <a:endParaRPr sz="18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descr="blob:https://web.whatsapp.com/4be9237d-cfc1-462e-ba51-978e9348df04" id="207" name="Google Shape;207;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8" name="Google Shape;208;p14"/>
          <p:cNvCxnSpPr/>
          <p:nvPr/>
        </p:nvCxnSpPr>
        <p:spPr>
          <a:xfrm>
            <a:off x="5503817" y="1480232"/>
            <a:ext cx="1086683"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
        <p:nvSpPr>
          <p:cNvPr id="209" name="Google Shape;209;p14"/>
          <p:cNvSpPr txBox="1"/>
          <p:nvPr/>
        </p:nvSpPr>
        <p:spPr>
          <a:xfrm>
            <a:off x="6590500" y="1225897"/>
            <a:ext cx="19581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Show at a Text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1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Call fetchdata and do setState</a:t>
            </a:r>
            <a:endParaRPr b="1" sz="3600">
              <a:solidFill>
                <a:srgbClr val="000090"/>
              </a:solidFill>
            </a:endParaRPr>
          </a:p>
        </p:txBody>
      </p:sp>
      <p:cxnSp>
        <p:nvCxnSpPr>
          <p:cNvPr id="215" name="Google Shape;215;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16" name="Google Shape;216;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 name="Google Shape;217;p15"/>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600">
                <a:solidFill>
                  <a:schemeClr val="dk1"/>
                </a:solidFill>
                <a:latin typeface="Arial"/>
                <a:ea typeface="Arial"/>
                <a:cs typeface="Arial"/>
                <a:sym typeface="Arial"/>
              </a:rPr>
              <a:t>Call fetchData function and if the response came,</a:t>
            </a:r>
            <a:endParaRPr/>
          </a:p>
          <a:p>
            <a:pPr indent="0" lvl="0" marL="0" marR="0" rtl="0" algn="l">
              <a:spcBef>
                <a:spcPts val="0"/>
              </a:spcBef>
              <a:spcAft>
                <a:spcPts val="0"/>
              </a:spcAft>
              <a:buNone/>
            </a:pPr>
            <a:r>
              <a:rPr lang="en-ID" sz="1600">
                <a:solidFill>
                  <a:schemeClr val="dk1"/>
                </a:solidFill>
                <a:latin typeface="Arial"/>
                <a:ea typeface="Arial"/>
                <a:cs typeface="Arial"/>
                <a:sym typeface="Arial"/>
              </a:rPr>
              <a:t>Do setState and update the String variable.</a:t>
            </a:r>
            <a:endParaRPr/>
          </a:p>
          <a:p>
            <a:pPr indent="0" lvl="0" marL="0" marR="0" rtl="0" algn="l">
              <a:spcBef>
                <a:spcPts val="0"/>
              </a:spcBef>
              <a:spcAft>
                <a:spcPts val="0"/>
              </a:spcAft>
              <a:buNone/>
            </a:pPr>
            <a:br>
              <a:rPr lang="en-ID" sz="1600">
                <a:solidFill>
                  <a:schemeClr val="dk1"/>
                </a:solidFill>
                <a:latin typeface="Arial"/>
                <a:ea typeface="Arial"/>
                <a:cs typeface="Arial"/>
                <a:sym typeface="Arial"/>
              </a:rPr>
            </a:br>
            <a:r>
              <a:rPr lang="en-ID" sz="1400">
                <a:solidFill>
                  <a:srgbClr val="FF0000"/>
                </a:solidFill>
                <a:latin typeface="Consolas"/>
                <a:ea typeface="Consolas"/>
                <a:cs typeface="Consolas"/>
                <a:sym typeface="Consolas"/>
              </a:rPr>
              <a:t>bacaData()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Future&lt;String&gt; data = fetchData();</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data.then((value)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_temp = value;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t/>
            </a:r>
            <a:endParaRPr sz="14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@override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void initState()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super.initState();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bacaData();</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br>
              <a:rPr lang="en-ID"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descr="blob:https://web.whatsapp.com/4be9237d-cfc1-462e-ba51-978e9348df04" id="218" name="Google Shape;218;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19" name="Google Shape;219;p15"/>
          <p:cNvPicPr preferRelativeResize="0"/>
          <p:nvPr/>
        </p:nvPicPr>
        <p:blipFill rotWithShape="1">
          <a:blip r:embed="rId4">
            <a:alphaModFix/>
          </a:blip>
          <a:srcRect b="0" l="0" r="0" t="0"/>
          <a:stretch/>
        </p:blipFill>
        <p:spPr>
          <a:xfrm>
            <a:off x="7202621" y="1075508"/>
            <a:ext cx="1941379" cy="400548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16"/>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400"/>
              <a:buFont typeface="Arial"/>
              <a:buNone/>
            </a:pPr>
            <a:r>
              <a:rPr b="1" lang="en-ID" sz="4400">
                <a:solidFill>
                  <a:srgbClr val="DAE5F1"/>
                </a:solidFill>
              </a:rPr>
              <a:t>CONVERTING JSON</a:t>
            </a:r>
            <a:endParaRPr/>
          </a:p>
        </p:txBody>
      </p:sp>
      <p:sp>
        <p:nvSpPr>
          <p:cNvPr id="225" name="Google Shape;225;p16"/>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9" name="Shape 229"/>
        <p:cNvGrpSpPr/>
        <p:nvPr/>
      </p:nvGrpSpPr>
      <p:grpSpPr>
        <a:xfrm>
          <a:off x="0" y="0"/>
          <a:ext cx="0" cy="0"/>
          <a:chOff x="0" y="0"/>
          <a:chExt cx="0" cy="0"/>
        </a:xfrm>
      </p:grpSpPr>
      <p:sp>
        <p:nvSpPr>
          <p:cNvPr id="230" name="Google Shape;230;p1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Convert JSON</a:t>
            </a:r>
            <a:endParaRPr/>
          </a:p>
        </p:txBody>
      </p:sp>
      <p:cxnSp>
        <p:nvCxnSpPr>
          <p:cNvPr id="231" name="Google Shape;231;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32" name="Google Shape;232;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3" name="Google Shape;233;p17"/>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600">
                <a:solidFill>
                  <a:schemeClr val="dk1"/>
                </a:solidFill>
                <a:latin typeface="Arial"/>
                <a:ea typeface="Arial"/>
                <a:cs typeface="Arial"/>
                <a:sym typeface="Arial"/>
              </a:rPr>
              <a:t>In order to make JSON data easier to handle, it is suggested to convert it into array of object.</a:t>
            </a:r>
            <a:endParaRPr/>
          </a:p>
          <a:p>
            <a:pPr indent="0" lvl="0" marL="0" marR="0" rtl="0" algn="l">
              <a:spcBef>
                <a:spcPts val="0"/>
              </a:spcBef>
              <a:spcAft>
                <a:spcPts val="0"/>
              </a:spcAft>
              <a:buNone/>
            </a:pPr>
            <a:r>
              <a:rPr b="0" i="0" lang="en-ID" sz="1600" u="none" cap="none" strike="noStrike">
                <a:solidFill>
                  <a:schemeClr val="dk1"/>
                </a:solidFill>
                <a:latin typeface="Arial"/>
                <a:ea typeface="Arial"/>
                <a:cs typeface="Arial"/>
                <a:sym typeface="Arial"/>
              </a:rPr>
              <a:t>Create a file that define the class. ex: /class/popmovie.dart</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class PopMovie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int id;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String title;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String overview;</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String voteAverage;</a:t>
            </a:r>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PopMovie({required this.id, required this.title, required this.overview, required this.voteAverage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factory PopMovie.fromJson(Map&lt;String, dynamic&gt; json)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return PopMovie(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id: json['movie_id'] as int,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title: json['title'] as String,</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overview: json['overview'] as String,</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r>
              <a:rPr b="0" lang="en-ID" sz="1200">
                <a:solidFill>
                  <a:srgbClr val="FF0000"/>
                </a:solidFill>
                <a:latin typeface="Arial"/>
                <a:ea typeface="Arial"/>
                <a:cs typeface="Arial"/>
                <a:sym typeface="Arial"/>
              </a:rPr>
              <a:t>voteAverage: json['voteAverage'] != null ? json['voteAverage'].toString() : '0.0',</a:t>
            </a:r>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a:p>
          <a:p>
            <a:pPr indent="0" lvl="0" marL="0" marR="0" rtl="0" algn="l">
              <a:spcBef>
                <a:spcPts val="0"/>
              </a:spcBef>
              <a:spcAft>
                <a:spcPts val="0"/>
              </a:spcAft>
              <a:buNone/>
            </a:pPr>
            <a:r>
              <a:t/>
            </a:r>
            <a:endParaRPr b="0" i="0" sz="1600" u="none" cap="none" strike="noStrike">
              <a:solidFill>
                <a:schemeClr val="dk1"/>
              </a:solidFill>
              <a:latin typeface="Arial"/>
              <a:ea typeface="Arial"/>
              <a:cs typeface="Arial"/>
              <a:sym typeface="Arial"/>
            </a:endParaRPr>
          </a:p>
        </p:txBody>
      </p:sp>
      <p:sp>
        <p:nvSpPr>
          <p:cNvPr descr="blob:https://web.whatsapp.com/4be9237d-cfc1-462e-ba51-978e9348df04" id="234" name="Google Shape;234;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17"/>
          <p:cNvSpPr txBox="1"/>
          <p:nvPr/>
        </p:nvSpPr>
        <p:spPr>
          <a:xfrm>
            <a:off x="4319451" y="4243391"/>
            <a:ext cx="340069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Also prepare the array:</a:t>
            </a:r>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List&lt;PopMovie&gt; PMs =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1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Modify bacadata</a:t>
            </a:r>
            <a:endParaRPr b="1" sz="3600">
              <a:solidFill>
                <a:srgbClr val="000090"/>
              </a:solidFill>
            </a:endParaRPr>
          </a:p>
        </p:txBody>
      </p:sp>
      <p:cxnSp>
        <p:nvCxnSpPr>
          <p:cNvPr id="241" name="Google Shape;241;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2" name="Google Shape;242;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 name="Google Shape;243;p18"/>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D" sz="1600" u="none" cap="none" strike="noStrike">
                <a:solidFill>
                  <a:schemeClr val="dk1"/>
                </a:solidFill>
                <a:latin typeface="Arial"/>
                <a:ea typeface="Arial"/>
                <a:cs typeface="Arial"/>
                <a:sym typeface="Arial"/>
              </a:rPr>
              <a:t>	</a:t>
            </a:r>
            <a:endParaRPr/>
          </a:p>
        </p:txBody>
      </p:sp>
      <p:sp>
        <p:nvSpPr>
          <p:cNvPr descr="blob:https://web.whatsapp.com/4be9237d-cfc1-462e-ba51-978e9348df04" id="244" name="Google Shape;244;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18"/>
          <p:cNvSpPr txBox="1"/>
          <p:nvPr/>
        </p:nvSpPr>
        <p:spPr>
          <a:xfrm>
            <a:off x="307975" y="770310"/>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600">
                <a:solidFill>
                  <a:srgbClr val="FF0000"/>
                </a:solidFill>
                <a:latin typeface="Consolas"/>
                <a:ea typeface="Consolas"/>
                <a:cs typeface="Consolas"/>
                <a:sym typeface="Consolas"/>
              </a:rPr>
              <a:t>bacaData()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Future&lt;String&gt; data = fetchData();</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data.then((value)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Map json = jsonDecode(value);</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for (var mov in json['data'])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PopMovie pm = PopMovie.fromJson(mov);</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PMs.add(pm);</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_temp = PMs[2].overview;</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800">
                <a:solidFill>
                  <a:schemeClr val="dk1"/>
                </a:solidFill>
                <a:latin typeface="Arial"/>
                <a:ea typeface="Arial"/>
                <a:cs typeface="Arial"/>
                <a:sym typeface="Arial"/>
              </a:rPr>
              <a:t>this proves that we already got the movie records, and can pick the field value</a:t>
            </a:r>
            <a:endParaRPr/>
          </a:p>
          <a:p>
            <a:pPr indent="0" lvl="0" marL="0" marR="0" rtl="0" algn="l">
              <a:spcBef>
                <a:spcPts val="0"/>
              </a:spcBef>
              <a:spcAft>
                <a:spcPts val="0"/>
              </a:spcAft>
              <a:buNone/>
            </a:pPr>
            <a:br>
              <a:rPr lang="en-ID" sz="1800">
                <a:solidFill>
                  <a:srgbClr val="FF0000"/>
                </a:solidFill>
                <a:latin typeface="Arial"/>
                <a:ea typeface="Arial"/>
                <a:cs typeface="Arial"/>
                <a:sym typeface="Arial"/>
              </a:rPr>
            </a:br>
            <a:endParaRPr sz="1800">
              <a:solidFill>
                <a:srgbClr val="FF0000"/>
              </a:solidFill>
              <a:latin typeface="Arial"/>
              <a:ea typeface="Arial"/>
              <a:cs typeface="Arial"/>
              <a:sym typeface="Arial"/>
            </a:endParaRPr>
          </a:p>
          <a:p>
            <a:pPr indent="0" lvl="0" marL="0" marR="0" rtl="0" algn="l">
              <a:spcBef>
                <a:spcPts val="0"/>
              </a:spcBef>
              <a:spcAft>
                <a:spcPts val="0"/>
              </a:spcAft>
              <a:buNone/>
            </a:pPr>
            <a:r>
              <a:t/>
            </a:r>
            <a:endParaRPr b="0" i="0" sz="1600" u="none" cap="none" strike="noStrike">
              <a:solidFill>
                <a:srgbClr val="FF0000"/>
              </a:solidFill>
              <a:latin typeface="Arial"/>
              <a:ea typeface="Arial"/>
              <a:cs typeface="Arial"/>
              <a:sym typeface="Arial"/>
            </a:endParaRPr>
          </a:p>
        </p:txBody>
      </p:sp>
      <p:pic>
        <p:nvPicPr>
          <p:cNvPr id="246" name="Google Shape;246;p18"/>
          <p:cNvPicPr preferRelativeResize="0"/>
          <p:nvPr/>
        </p:nvPicPr>
        <p:blipFill rotWithShape="1">
          <a:blip r:embed="rId4">
            <a:alphaModFix/>
          </a:blip>
          <a:srcRect b="0" l="0" r="0" t="0"/>
          <a:stretch/>
        </p:blipFill>
        <p:spPr>
          <a:xfrm>
            <a:off x="5717875" y="1686228"/>
            <a:ext cx="2511725" cy="191266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0" name="Shape 250"/>
        <p:cNvGrpSpPr/>
        <p:nvPr/>
      </p:nvGrpSpPr>
      <p:grpSpPr>
        <a:xfrm>
          <a:off x="0" y="0"/>
          <a:ext cx="0" cy="0"/>
          <a:chOff x="0" y="0"/>
          <a:chExt cx="0" cy="0"/>
        </a:xfrm>
      </p:grpSpPr>
      <p:sp>
        <p:nvSpPr>
          <p:cNvPr id="251" name="Google Shape;251;p1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Create Widget Builder</a:t>
            </a:r>
            <a:endParaRPr/>
          </a:p>
        </p:txBody>
      </p:sp>
      <p:cxnSp>
        <p:nvCxnSpPr>
          <p:cNvPr id="252" name="Google Shape;252;p1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53" name="Google Shape;253;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254" name="Google Shape;254;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5" name="Google Shape;255;p19"/>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D" sz="1600" u="none" cap="none" strike="noStrike">
                <a:solidFill>
                  <a:schemeClr val="dk1"/>
                </a:solidFill>
                <a:latin typeface="Arial"/>
                <a:ea typeface="Arial"/>
                <a:cs typeface="Arial"/>
                <a:sym typeface="Arial"/>
              </a:rPr>
              <a:t>Array of object can be used in widgets which have builder on it such as ListBuilder. </a:t>
            </a:r>
            <a:endParaRPr/>
          </a:p>
          <a:p>
            <a:pPr indent="0" lvl="0" marL="0" marR="0" rtl="0" algn="l">
              <a:spcBef>
                <a:spcPts val="0"/>
              </a:spcBef>
              <a:spcAft>
                <a:spcPts val="0"/>
              </a:spcAft>
              <a:buNone/>
            </a:pPr>
            <a:r>
              <a:rPr b="0" i="0" lang="en-ID" sz="1600" u="none" cap="none" strike="noStrike">
                <a:solidFill>
                  <a:schemeClr val="dk1"/>
                </a:solidFill>
                <a:latin typeface="Arial"/>
                <a:ea typeface="Arial"/>
                <a:cs typeface="Arial"/>
                <a:sym typeface="Arial"/>
              </a:rPr>
              <a:t>For start, we just put a simple text first. </a:t>
            </a:r>
            <a:endParaRPr/>
          </a:p>
          <a:p>
            <a:pPr indent="0" lvl="0" marL="0" marR="0" rtl="0" algn="l">
              <a:spcBef>
                <a:spcPts val="0"/>
              </a:spcBef>
              <a:spcAft>
                <a:spcPts val="0"/>
              </a:spcAft>
              <a:buNone/>
            </a:pPr>
            <a:r>
              <a:t/>
            </a:r>
            <a:endParaRPr sz="1600">
              <a:solidFill>
                <a:srgbClr val="FF0000"/>
              </a:solidFill>
              <a:latin typeface="Arial"/>
              <a:ea typeface="Arial"/>
              <a:cs typeface="Arial"/>
              <a:sym typeface="Arial"/>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Widget DaftarPopMovie(PopMovs)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if (PopMovs != null)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return ListView.builder(</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itemCount: PopMovs.length,</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itemBuilder: (BuildContext ctxt, int index)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return Text(PopMovs[index].title.toString());</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 else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return const CircularProgressIndicator();</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endParaRPr/>
          </a:p>
          <a:p>
            <a:pPr indent="0" lvl="0" marL="0" marR="0" rtl="0" algn="l">
              <a:spcBef>
                <a:spcPts val="0"/>
              </a:spcBef>
              <a:spcAft>
                <a:spcPts val="0"/>
              </a:spcAft>
              <a:buNone/>
            </a:pPr>
            <a:br>
              <a:rPr lang="en-ID"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indent="0" lvl="0" marL="0" marR="0" rtl="0" algn="l">
              <a:spcBef>
                <a:spcPts val="0"/>
              </a:spcBef>
              <a:spcAft>
                <a:spcPts val="0"/>
              </a:spcAft>
              <a:buNone/>
            </a:pPr>
            <a:br>
              <a:rPr lang="en-ID"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cxnSp>
        <p:nvCxnSpPr>
          <p:cNvPr id="256" name="Google Shape;256;p19"/>
          <p:cNvCxnSpPr/>
          <p:nvPr/>
        </p:nvCxnSpPr>
        <p:spPr>
          <a:xfrm>
            <a:off x="2864386" y="3855904"/>
            <a:ext cx="0" cy="515698"/>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
        <p:nvSpPr>
          <p:cNvPr id="257" name="Google Shape;257;p19"/>
          <p:cNvSpPr txBox="1"/>
          <p:nvPr/>
        </p:nvSpPr>
        <p:spPr>
          <a:xfrm>
            <a:off x="2107477" y="4416725"/>
            <a:ext cx="39275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Can also be replaced with loading gif</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1" name="Shape 261"/>
        <p:cNvGrpSpPr/>
        <p:nvPr/>
      </p:nvGrpSpPr>
      <p:grpSpPr>
        <a:xfrm>
          <a:off x="0" y="0"/>
          <a:ext cx="0" cy="0"/>
          <a:chOff x="0" y="0"/>
          <a:chExt cx="0" cy="0"/>
        </a:xfrm>
      </p:grpSpPr>
      <p:sp>
        <p:nvSpPr>
          <p:cNvPr id="262" name="Google Shape;262;p2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Calling the Widget</a:t>
            </a:r>
            <a:endParaRPr/>
          </a:p>
        </p:txBody>
      </p:sp>
      <p:cxnSp>
        <p:nvCxnSpPr>
          <p:cNvPr id="263" name="Google Shape;263;p2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4" name="Google Shape;264;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265" name="Google Shape;265;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 name="Google Shape;266;p20"/>
          <p:cNvSpPr/>
          <p:nvPr/>
        </p:nvSpPr>
        <p:spPr>
          <a:xfrm>
            <a:off x="-160537" y="993548"/>
            <a:ext cx="7593432"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r>
              <a:rPr lang="en-ID" sz="1600">
                <a:solidFill>
                  <a:schemeClr val="dk1"/>
                </a:solidFill>
                <a:latin typeface="Consolas"/>
                <a:ea typeface="Consolas"/>
                <a:cs typeface="Consolas"/>
                <a:sym typeface="Consolas"/>
              </a:rPr>
              <a:t>return Scaffold(</a:t>
            </a:r>
            <a:endParaRPr/>
          </a:p>
          <a:p>
            <a:pPr indent="0" lvl="0" marL="0" marR="0" rtl="0" algn="l">
              <a:spcBef>
                <a:spcPts val="0"/>
              </a:spcBef>
              <a:spcAft>
                <a:spcPts val="0"/>
              </a:spcAft>
              <a:buNone/>
            </a:pPr>
            <a:r>
              <a:rPr lang="en-ID" sz="1600">
                <a:solidFill>
                  <a:schemeClr val="dk1"/>
                </a:solidFill>
                <a:latin typeface="Consolas"/>
                <a:ea typeface="Consolas"/>
                <a:cs typeface="Consolas"/>
                <a:sym typeface="Consolas"/>
              </a:rPr>
              <a:t>        appBar: AppBar(</a:t>
            </a:r>
            <a:endParaRPr/>
          </a:p>
          <a:p>
            <a:pPr indent="0" lvl="0" marL="0" marR="0" rtl="0" algn="l">
              <a:spcBef>
                <a:spcPts val="0"/>
              </a:spcBef>
              <a:spcAft>
                <a:spcPts val="0"/>
              </a:spcAft>
              <a:buNone/>
            </a:pPr>
            <a:r>
              <a:rPr lang="en-ID" sz="1600">
                <a:solidFill>
                  <a:schemeClr val="dk1"/>
                </a:solidFill>
                <a:latin typeface="Consolas"/>
                <a:ea typeface="Consolas"/>
                <a:cs typeface="Consolas"/>
                <a:sym typeface="Consolas"/>
              </a:rPr>
              <a:t>          title: const Text('Popular Movie'),</a:t>
            </a:r>
            <a:endParaRPr/>
          </a:p>
          <a:p>
            <a:pPr indent="0" lvl="0" marL="0" marR="0" rtl="0" algn="l">
              <a:spcBef>
                <a:spcPts val="0"/>
              </a:spcBef>
              <a:spcAft>
                <a:spcPts val="0"/>
              </a:spcAft>
              <a:buNone/>
            </a:pPr>
            <a:r>
              <a:rPr lang="en-ID" sz="16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lang="en-ID" sz="1600">
                <a:solidFill>
                  <a:schemeClr val="dk1"/>
                </a:solidFill>
                <a:latin typeface="Consolas"/>
                <a:ea typeface="Consolas"/>
                <a:cs typeface="Consolas"/>
                <a:sym typeface="Consolas"/>
              </a:rPr>
              <a:t>        body: ListView(children: &lt;Widget&gt;[</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Container(</a:t>
            </a:r>
            <a:endParaRPr/>
          </a:p>
          <a:p>
            <a:pPr indent="0" lvl="2" marL="914400" marR="0" rtl="0" algn="l">
              <a:spcBef>
                <a:spcPts val="0"/>
              </a:spcBef>
              <a:spcAft>
                <a:spcPts val="0"/>
              </a:spcAft>
              <a:buNone/>
            </a:pPr>
            <a:r>
              <a:rPr b="0" i="0" lang="en-ID" sz="1600" u="none" cap="none" strike="noStrike">
                <a:solidFill>
                  <a:srgbClr val="FF0000"/>
                </a:solidFill>
                <a:latin typeface="Consolas"/>
                <a:ea typeface="Consolas"/>
                <a:cs typeface="Consolas"/>
                <a:sym typeface="Consolas"/>
              </a:rPr>
              <a:t>      height: MediaQuery.of(context).size.height-200,</a:t>
            </a:r>
            <a:endParaRPr/>
          </a:p>
          <a:p>
            <a:pPr indent="0" lvl="2" marL="914400" marR="0" rtl="0" algn="l">
              <a:spcBef>
                <a:spcPts val="0"/>
              </a:spcBef>
              <a:spcAft>
                <a:spcPts val="0"/>
              </a:spcAft>
              <a:buNone/>
            </a:pPr>
            <a:r>
              <a:rPr b="0" i="0" lang="en-ID" sz="1600" u="none" cap="none" strike="noStrike">
                <a:solidFill>
                  <a:srgbClr val="FF0000"/>
                </a:solidFill>
                <a:latin typeface="Consolas"/>
                <a:ea typeface="Consolas"/>
                <a:cs typeface="Consolas"/>
                <a:sym typeface="Consolas"/>
              </a:rPr>
              <a:t>      child: DaftarPopMovie(PMs),</a:t>
            </a:r>
            <a:endParaRPr/>
          </a:p>
          <a:p>
            <a:pPr indent="0" lvl="2" marL="914400" marR="0" rtl="0" algn="l">
              <a:spcBef>
                <a:spcPts val="0"/>
              </a:spcBef>
              <a:spcAft>
                <a:spcPts val="0"/>
              </a:spcAft>
              <a:buNone/>
            </a:pPr>
            <a:r>
              <a:rPr b="0" i="0" lang="en-ID" sz="1600" u="none" cap="none" strike="noStrike">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r>
              <a:rPr lang="en-ID"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p:txBody>
      </p:sp>
      <p:pic>
        <p:nvPicPr>
          <p:cNvPr id="267" name="Google Shape;267;p20"/>
          <p:cNvPicPr preferRelativeResize="0"/>
          <p:nvPr/>
        </p:nvPicPr>
        <p:blipFill rotWithShape="1">
          <a:blip r:embed="rId4">
            <a:alphaModFix/>
          </a:blip>
          <a:srcRect b="0" l="0" r="0" t="0"/>
          <a:stretch/>
        </p:blipFill>
        <p:spPr>
          <a:xfrm>
            <a:off x="6815604" y="202721"/>
            <a:ext cx="2268011" cy="473805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1" name="Shape 271"/>
        <p:cNvGrpSpPr/>
        <p:nvPr/>
      </p:nvGrpSpPr>
      <p:grpSpPr>
        <a:xfrm>
          <a:off x="0" y="0"/>
          <a:ext cx="0" cy="0"/>
          <a:chOff x="0" y="0"/>
          <a:chExt cx="0" cy="0"/>
        </a:xfrm>
      </p:grpSpPr>
      <p:sp>
        <p:nvSpPr>
          <p:cNvPr id="272" name="Google Shape;272;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Modifying widget</a:t>
            </a:r>
            <a:endParaRPr/>
          </a:p>
        </p:txBody>
      </p:sp>
      <p:cxnSp>
        <p:nvCxnSpPr>
          <p:cNvPr id="273" name="Google Shape;273;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74" name="Google Shape;274;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275" name="Google Shape;275;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 name="Google Shape;276;p21"/>
          <p:cNvSpPr txBox="1"/>
          <p:nvPr/>
        </p:nvSpPr>
        <p:spPr>
          <a:xfrm>
            <a:off x="226423" y="576943"/>
            <a:ext cx="6278879"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D" sz="1600" u="none" cap="none" strike="noStrike">
                <a:solidFill>
                  <a:schemeClr val="dk1"/>
                </a:solidFill>
                <a:latin typeface="Arial"/>
                <a:ea typeface="Arial"/>
                <a:cs typeface="Arial"/>
                <a:sym typeface="Arial"/>
              </a:rPr>
              <a:t>After running well, we can modify the appearance of the widget. For example, with a card.</a:t>
            </a:r>
            <a:endParaRPr/>
          </a:p>
          <a:p>
            <a:pPr indent="0" lvl="0" marL="0" marR="0" rtl="0" algn="l">
              <a:spcBef>
                <a:spcPts val="0"/>
              </a:spcBef>
              <a:spcAft>
                <a:spcPts val="0"/>
              </a:spcAft>
              <a:buNone/>
            </a:pPr>
            <a:r>
              <a:t/>
            </a:r>
            <a:endParaRPr sz="1600">
              <a:solidFill>
                <a:srgbClr val="FF0000"/>
              </a:solidFill>
              <a:latin typeface="Arial"/>
              <a:ea typeface="Arial"/>
              <a:cs typeface="Arial"/>
              <a:sym typeface="Arial"/>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 </a:t>
            </a:r>
            <a:r>
              <a:rPr lang="en-ID" sz="1400">
                <a:solidFill>
                  <a:srgbClr val="FF0000"/>
                </a:solidFill>
                <a:latin typeface="Consolas"/>
                <a:ea typeface="Consolas"/>
                <a:cs typeface="Consolas"/>
                <a:sym typeface="Consolas"/>
              </a:rPr>
              <a:t>        return Card(</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Column(</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mainAxisSize: MainAxisSize.min,</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children: &lt;Widget&gt;[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ListTile(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leading: const Icon(Icons.movie, size: 30),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title: Text(PopMovs[index].title),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subtitle: Text(PopMovs[index].overview),</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br>
              <a:rPr lang="en-ID"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indent="0" lvl="0" marL="0" marR="0" rtl="0" algn="l">
              <a:spcBef>
                <a:spcPts val="0"/>
              </a:spcBef>
              <a:spcAft>
                <a:spcPts val="0"/>
              </a:spcAft>
              <a:buNone/>
            </a:pPr>
            <a:br>
              <a:rPr lang="en-ID"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en-ID" sz="1200" u="none" cap="none" strike="noStrike">
                <a:solidFill>
                  <a:srgbClr val="538CD5"/>
                </a:solidFill>
                <a:latin typeface="Arial"/>
                <a:ea typeface="Arial"/>
                <a:cs typeface="Arial"/>
                <a:sym typeface="Arial"/>
              </a:rPr>
              <a:t>Can you add url field in movie table ,fill in image url of the movie poster (for now, just  2 or 3 movies), and then change the icons.movie with this url image when the url is not empty?</a:t>
            </a:r>
            <a:endParaRPr/>
          </a:p>
        </p:txBody>
      </p:sp>
      <p:pic>
        <p:nvPicPr>
          <p:cNvPr id="277" name="Google Shape;277;p21"/>
          <p:cNvPicPr preferRelativeResize="0"/>
          <p:nvPr/>
        </p:nvPicPr>
        <p:blipFill rotWithShape="1">
          <a:blip r:embed="rId4">
            <a:alphaModFix/>
          </a:blip>
          <a:srcRect b="0" l="0" r="0" t="0"/>
          <a:stretch/>
        </p:blipFill>
        <p:spPr>
          <a:xfrm>
            <a:off x="6582504" y="347606"/>
            <a:ext cx="2196269" cy="458818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sp>
        <p:nvSpPr>
          <p:cNvPr id="282" name="Google Shape;282;p2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EXERCISE</a:t>
            </a:r>
            <a:endParaRPr/>
          </a:p>
        </p:txBody>
      </p:sp>
      <p:sp>
        <p:nvSpPr>
          <p:cNvPr id="283" name="Google Shape;283;p2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05</a:t>
            </a:r>
            <a:endParaRPr b="1" sz="8000" cap="none">
              <a:solidFill>
                <a:srgbClr val="538CD5"/>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7" name="Shape 287"/>
        <p:cNvGrpSpPr/>
        <p:nvPr/>
      </p:nvGrpSpPr>
      <p:grpSpPr>
        <a:xfrm>
          <a:off x="0" y="0"/>
          <a:ext cx="0" cy="0"/>
          <a:chOff x="0" y="0"/>
          <a:chExt cx="0" cy="0"/>
        </a:xfrm>
      </p:grpSpPr>
      <p:sp>
        <p:nvSpPr>
          <p:cNvPr id="288" name="Google Shape;288;p2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Exercise</a:t>
            </a:r>
            <a:endParaRPr/>
          </a:p>
        </p:txBody>
      </p:sp>
      <p:cxnSp>
        <p:nvCxnSpPr>
          <p:cNvPr id="289" name="Google Shape;289;p2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90" name="Google Shape;290;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291" name="Google Shape;291;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2" name="Google Shape;292;p23"/>
          <p:cNvSpPr/>
          <p:nvPr/>
        </p:nvSpPr>
        <p:spPr>
          <a:xfrm>
            <a:off x="460375" y="831273"/>
            <a:ext cx="8374867" cy="2154436"/>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ID" sz="2000" u="none" cap="none" strike="noStrike">
                <a:solidFill>
                  <a:schemeClr val="dk1"/>
                </a:solidFill>
                <a:latin typeface="Arial"/>
                <a:ea typeface="Arial"/>
                <a:cs typeface="Arial"/>
                <a:sym typeface="Arial"/>
              </a:rPr>
              <a:t>Using the same way in previous chapters, Create new screen ( called PopularActor) for showing Actor-Actress name from person table. </a:t>
            </a:r>
            <a:endParaRPr/>
          </a:p>
          <a:p>
            <a:pPr indent="0" lvl="1" marL="45720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p2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More Reading</a:t>
            </a:r>
            <a:endParaRPr/>
          </a:p>
        </p:txBody>
      </p:sp>
      <p:cxnSp>
        <p:nvCxnSpPr>
          <p:cNvPr id="298" name="Google Shape;298;p2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99" name="Google Shape;299;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300" name="Google Shape;300;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1" name="Google Shape;301;p24"/>
          <p:cNvSpPr/>
          <p:nvPr/>
        </p:nvSpPr>
        <p:spPr>
          <a:xfrm>
            <a:off x="460375" y="831273"/>
            <a:ext cx="8374867"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When your project is getting larger, it’s a good idea not to manually decode JSONs to our classes</a:t>
            </a:r>
            <a:endParaRPr/>
          </a:p>
          <a:p>
            <a:pPr indent="0" lvl="0" marL="0" marR="0" rtl="0" algn="l">
              <a:spcBef>
                <a:spcPts val="0"/>
              </a:spcBef>
              <a:spcAft>
                <a:spcPts val="0"/>
              </a:spcAft>
              <a:buNone/>
            </a:pPr>
            <a:r>
              <a:rPr lang="en-ID" sz="1400">
                <a:solidFill>
                  <a:schemeClr val="dk1"/>
                </a:solidFill>
                <a:latin typeface="Arial"/>
                <a:ea typeface="Arial"/>
                <a:cs typeface="Arial"/>
                <a:sym typeface="Arial"/>
              </a:rPr>
              <a:t>Even a slight typo on JSON field name may cause hard-to-track bugs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ID" sz="1400">
                <a:solidFill>
                  <a:schemeClr val="dk1"/>
                </a:solidFill>
                <a:latin typeface="Arial"/>
                <a:ea typeface="Arial"/>
                <a:cs typeface="Arial"/>
                <a:sym typeface="Arial"/>
              </a:rPr>
              <a:t>For bigger projects, use code generations</a:t>
            </a:r>
            <a:endParaRPr/>
          </a:p>
          <a:p>
            <a:pPr indent="0" lvl="0" marL="0" marR="0" rtl="0" algn="l">
              <a:spcBef>
                <a:spcPts val="0"/>
              </a:spcBef>
              <a:spcAft>
                <a:spcPts val="0"/>
              </a:spcAft>
              <a:buNone/>
            </a:pPr>
            <a:r>
              <a:rPr lang="en-ID" sz="1400">
                <a:solidFill>
                  <a:schemeClr val="dk1"/>
                </a:solidFill>
                <a:latin typeface="Arial"/>
                <a:ea typeface="Arial"/>
                <a:cs typeface="Arial"/>
                <a:sym typeface="Arial"/>
              </a:rPr>
              <a:t>Read more here: </a:t>
            </a:r>
            <a:r>
              <a:rPr lang="en-ID" sz="1400" u="sng">
                <a:solidFill>
                  <a:schemeClr val="dk1"/>
                </a:solidFill>
                <a:latin typeface="Arial"/>
                <a:ea typeface="Arial"/>
                <a:cs typeface="Arial"/>
                <a:sym typeface="Arial"/>
                <a:hlinkClick r:id="rId4">
                  <a:extLst>
                    <a:ext uri="{A12FA001-AC4F-418D-AE19-62706E023703}">
                      <ahyp:hlinkClr val="tx"/>
                    </a:ext>
                  </a:extLst>
                </a:hlinkClick>
              </a:rPr>
              <a:t>https://docs.flutter.dev/development/data-and-backend/json#use-code-generation-for-medium-to-large-projects</a:t>
            </a:r>
            <a:r>
              <a:rPr lang="en-ID" sz="1400">
                <a:solidFill>
                  <a:schemeClr val="dk1"/>
                </a:solidFill>
                <a:latin typeface="Arial"/>
                <a:ea typeface="Arial"/>
                <a:cs typeface="Arial"/>
                <a:sym typeface="Arial"/>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5" name="Shape 305"/>
        <p:cNvGrpSpPr/>
        <p:nvPr/>
      </p:nvGrpSpPr>
      <p:grpSpPr>
        <a:xfrm>
          <a:off x="0" y="0"/>
          <a:ext cx="0" cy="0"/>
          <a:chOff x="0" y="0"/>
          <a:chExt cx="0" cy="0"/>
        </a:xfrm>
      </p:grpSpPr>
      <p:sp>
        <p:nvSpPr>
          <p:cNvPr id="306" name="Google Shape;306;p25"/>
          <p:cNvSpPr txBox="1"/>
          <p:nvPr/>
        </p:nvSpPr>
        <p:spPr>
          <a:xfrm>
            <a:off x="4862945" y="778274"/>
            <a:ext cx="3946237" cy="407081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pic>
        <p:nvPicPr>
          <p:cNvPr descr="Blue-man-Questions-Comments" id="307" name="Google Shape;307;p25"/>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0x0101004CDBB0EA5517DF4B873B215CB2C55DE6</vt:lpwstr>
  </property>
</Properties>
</file>