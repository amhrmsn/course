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5143500" cx="9144000"/>
  <p:notesSz cx="6858000" cy="9144000"/>
  <p:embeddedFontLst>
    <p:embeddedFont>
      <p:font typeface="Helvetica Neue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2" roundtripDataSignature="AMtx7mgvmE18oLXnPz8y8iMDHAFkWavT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HelveticaNeue-italic.fntdata"/><Relationship Id="rId20" Type="http://schemas.openxmlformats.org/officeDocument/2006/relationships/slide" Target="slides/slide15.xml"/><Relationship Id="rId42" Type="http://customschemas.google.com/relationships/presentationmetadata" Target="metadata"/><Relationship Id="rId41" Type="http://schemas.openxmlformats.org/officeDocument/2006/relationships/font" Target="fonts/HelveticaNeue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HelveticaNeue-bold.fntdata"/><Relationship Id="rId16" Type="http://schemas.openxmlformats.org/officeDocument/2006/relationships/slide" Target="slides/slide11.xml"/><Relationship Id="rId38" Type="http://schemas.openxmlformats.org/officeDocument/2006/relationships/font" Target="fonts/HelveticaNeue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D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d00f13b7e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ad00f13b7e_1_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d00f13b7e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ad00f13b7e_1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ad00f13b7e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g3ad00f13b7e_1_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1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1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2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2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3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3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3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3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4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4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34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37" name="Google Shape;37;p3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5"/>
          <p:cNvSpPr txBox="1"/>
          <p:nvPr>
            <p:ph idx="1" type="body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3" name="Google Shape;43;p35"/>
          <p:cNvSpPr txBox="1"/>
          <p:nvPr>
            <p:ph idx="2" type="body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4" name="Google Shape;44;p3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6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6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36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1" name="Google Shape;51;p36"/>
          <p:cNvSpPr txBox="1"/>
          <p:nvPr>
            <p:ph idx="3" type="body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36"/>
          <p:cNvSpPr txBox="1"/>
          <p:nvPr>
            <p:ph idx="4" type="body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3" name="Google Shape;53;p3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7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9"/>
          <p:cNvSpPr txBox="1"/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9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8" name="Google Shape;68;p39"/>
          <p:cNvSpPr txBox="1"/>
          <p:nvPr>
            <p:ph idx="2" type="body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3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>
              <a:solidFill>
                <a:srgbClr val="88A44E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0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0"/>
          <p:cNvSpPr txBox="1"/>
          <p:nvPr>
            <p:ph idx="1" type="body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4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1"/>
          <p:cNvSpPr txBox="1"/>
          <p:nvPr>
            <p:ph type="title"/>
          </p:nvPr>
        </p:nvSpPr>
        <p:spPr>
          <a:xfrm rot="5400000">
            <a:off x="5463778" y="1371601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1"/>
          <p:cNvSpPr txBox="1"/>
          <p:nvPr>
            <p:ph idx="1" type="body"/>
          </p:nvPr>
        </p:nvSpPr>
        <p:spPr>
          <a:xfrm rot="5400000">
            <a:off x="1272778" y="-609599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0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0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3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3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Relationship Id="rId4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jp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jpg"/><Relationship Id="rId4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jpg"/><Relationship Id="rId4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jpg"/><Relationship Id="rId4" Type="http://schemas.openxmlformats.org/officeDocument/2006/relationships/image" Target="../media/image10.png"/><Relationship Id="rId5" Type="http://schemas.openxmlformats.org/officeDocument/2006/relationships/image" Target="../media/image1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5.jp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685799" y="1597819"/>
            <a:ext cx="8266612" cy="12729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b="1" lang="en-ID" sz="3600">
                <a:solidFill>
                  <a:schemeClr val="lt1"/>
                </a:solidFill>
              </a:rPr>
              <a:t>Web Service and Database Handling</a:t>
            </a:r>
            <a:br>
              <a:rPr b="1" lang="en-ID" sz="3600">
                <a:solidFill>
                  <a:schemeClr val="lt1"/>
                </a:solidFill>
              </a:rPr>
            </a:br>
            <a:r>
              <a:rPr b="1" lang="en-ID" sz="3600">
                <a:solidFill>
                  <a:schemeClr val="lt1"/>
                </a:solidFill>
              </a:rPr>
              <a:t>part 4  Editing and Adding Child data </a:t>
            </a:r>
            <a:endParaRPr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4685145" y="3468832"/>
            <a:ext cx="3962400" cy="1103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</a:pPr>
            <a:r>
              <a:rPr lang="en-ID" sz="1600">
                <a:solidFill>
                  <a:srgbClr val="FFFFFF"/>
                </a:solidFill>
              </a:rPr>
              <a:t>Week 11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rgbClr val="C6D9F1"/>
              </a:buClr>
              <a:buSzPts val="1600"/>
              <a:buNone/>
            </a:pPr>
            <a:r>
              <a:rPr lang="en-ID" sz="1600">
                <a:solidFill>
                  <a:srgbClr val="C6D9F1"/>
                </a:solidFill>
              </a:rPr>
              <a:t>Program Studi Teknik Informatika</a:t>
            </a:r>
            <a:endParaRPr sz="1600">
              <a:solidFill>
                <a:srgbClr val="C6D9F1"/>
              </a:solidFill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rgbClr val="C6D9F1"/>
              </a:buClr>
              <a:buSzPts val="1600"/>
              <a:buNone/>
            </a:pPr>
            <a:r>
              <a:rPr lang="en-ID" sz="1600">
                <a:solidFill>
                  <a:srgbClr val="C6D9F1"/>
                </a:solidFill>
              </a:rPr>
              <a:t>Fakultas Teknik – Universitas Surabaya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685799" y="1166090"/>
            <a:ext cx="5721927" cy="4616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0" i="0" lang="en-ID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Emerging Technology : Flutter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3567544" y="2180036"/>
            <a:ext cx="5424055" cy="7525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AE5F1"/>
              </a:buClr>
              <a:buSzPts val="6000"/>
              <a:buFont typeface="Arial"/>
              <a:buNone/>
            </a:pPr>
            <a:r>
              <a:rPr b="1" lang="en-ID" sz="6000">
                <a:solidFill>
                  <a:srgbClr val="DAE5F1"/>
                </a:solidFill>
              </a:rPr>
              <a:t>EDITING FORM</a:t>
            </a:r>
            <a:endParaRPr b="1" sz="6000">
              <a:solidFill>
                <a:srgbClr val="DAE5F1"/>
              </a:solidFill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1627907" y="2012758"/>
            <a:ext cx="1789545" cy="1391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38CD5"/>
              </a:buClr>
              <a:buSzPts val="8000"/>
              <a:buFont typeface="Arial"/>
              <a:buNone/>
            </a:pPr>
            <a:r>
              <a:rPr b="1" i="0" lang="en-ID" sz="8000" u="none" cap="none" strike="noStrike">
                <a:solidFill>
                  <a:srgbClr val="538CD5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d00f13b7e_1_4"/>
          <p:cNvSpPr txBox="1"/>
          <p:nvPr>
            <p:ph type="title"/>
          </p:nvPr>
        </p:nvSpPr>
        <p:spPr>
          <a:xfrm>
            <a:off x="0" y="0"/>
            <a:ext cx="8229600" cy="5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ct val="100000"/>
              <a:buFont typeface="Arial"/>
              <a:buNone/>
            </a:pPr>
            <a:r>
              <a:rPr b="1" lang="en-ID" sz="3600">
                <a:solidFill>
                  <a:srgbClr val="000090"/>
                </a:solidFill>
              </a:rPr>
              <a:t>Before Continue</a:t>
            </a:r>
            <a:endParaRPr/>
          </a:p>
        </p:txBody>
      </p:sp>
      <p:cxnSp>
        <p:nvCxnSpPr>
          <p:cNvPr id="102" name="Google Shape;102;g3ad00f13b7e_1_4"/>
          <p:cNvCxnSpPr/>
          <p:nvPr/>
        </p:nvCxnSpPr>
        <p:spPr>
          <a:xfrm>
            <a:off x="0" y="576943"/>
            <a:ext cx="7337100" cy="15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</p:cxnSp>
      <p:sp>
        <p:nvSpPr>
          <p:cNvPr descr="Google's Flutter framework spreads its wings and goes multi-platform |  TechCrunch" id="103" name="Google Shape;103;g3ad00f13b7e_1_4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ad00f13b7e_1_4"/>
          <p:cNvSpPr txBox="1"/>
          <p:nvPr>
            <p:ph idx="1" type="body"/>
          </p:nvPr>
        </p:nvSpPr>
        <p:spPr>
          <a:xfrm>
            <a:off x="457200" y="783771"/>
            <a:ext cx="8229600" cy="38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None/>
            </a:pPr>
            <a:r>
              <a:rPr lang="en-ID" sz="1150">
                <a:latin typeface="Consolas"/>
                <a:ea typeface="Consolas"/>
                <a:cs typeface="Consolas"/>
                <a:sym typeface="Consolas"/>
              </a:rPr>
              <a:t>class PopMovie {</a:t>
            </a:r>
            <a:endParaRPr sz="11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None/>
            </a:pPr>
            <a:r>
              <a:rPr lang="en-ID" sz="1150">
                <a:latin typeface="Consolas"/>
                <a:ea typeface="Consolas"/>
                <a:cs typeface="Consolas"/>
                <a:sym typeface="Consolas"/>
              </a:rPr>
              <a:t>  int id;</a:t>
            </a:r>
            <a:endParaRPr sz="11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None/>
            </a:pPr>
            <a:r>
              <a:rPr lang="en-ID" sz="1150">
                <a:latin typeface="Consolas"/>
                <a:ea typeface="Consolas"/>
                <a:cs typeface="Consolas"/>
                <a:sym typeface="Consolas"/>
              </a:rPr>
              <a:t>  String title;</a:t>
            </a:r>
            <a:endParaRPr sz="11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None/>
            </a:pPr>
            <a:r>
              <a:rPr lang="en-ID" sz="1150">
                <a:latin typeface="Consolas"/>
                <a:ea typeface="Consolas"/>
                <a:cs typeface="Consolas"/>
                <a:sym typeface="Consolas"/>
              </a:rPr>
              <a:t>  String overview;</a:t>
            </a:r>
            <a:endParaRPr sz="11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None/>
            </a:pPr>
            <a:r>
              <a:rPr lang="en-ID" sz="1150">
                <a:latin typeface="Consolas"/>
                <a:ea typeface="Consolas"/>
                <a:cs typeface="Consolas"/>
                <a:sym typeface="Consolas"/>
              </a:rPr>
              <a:t>  String voteAverage;</a:t>
            </a:r>
            <a:endParaRPr sz="11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None/>
            </a:pPr>
            <a:r>
              <a:rPr lang="en-ID" sz="115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-ID" sz="1150">
                <a:latin typeface="Consolas"/>
                <a:ea typeface="Consolas"/>
                <a:cs typeface="Consolas"/>
                <a:sym typeface="Consolas"/>
              </a:rPr>
              <a:t>String homepage;</a:t>
            </a:r>
            <a:endParaRPr b="1" sz="11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None/>
            </a:pPr>
            <a:r>
              <a:rPr b="1" lang="en-ID" sz="1150">
                <a:latin typeface="Consolas"/>
                <a:ea typeface="Consolas"/>
                <a:cs typeface="Consolas"/>
                <a:sym typeface="Consolas"/>
              </a:rPr>
              <a:t>  String release_date;</a:t>
            </a:r>
            <a:endParaRPr b="1" sz="11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None/>
            </a:pPr>
            <a:r>
              <a:rPr b="1" lang="en-ID" sz="1150">
                <a:latin typeface="Consolas"/>
                <a:ea typeface="Consolas"/>
                <a:cs typeface="Consolas"/>
                <a:sym typeface="Consolas"/>
              </a:rPr>
              <a:t>  String runtime;</a:t>
            </a:r>
            <a:endParaRPr b="1" sz="11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None/>
            </a:pPr>
            <a:r>
              <a:rPr b="1" lang="en-ID" sz="1150">
                <a:latin typeface="Consolas"/>
                <a:ea typeface="Consolas"/>
                <a:cs typeface="Consolas"/>
                <a:sym typeface="Consolas"/>
              </a:rPr>
              <a:t>  String url;</a:t>
            </a:r>
            <a:endParaRPr b="1" sz="11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None/>
            </a:pPr>
            <a:r>
              <a:rPr lang="en-ID" sz="1150">
                <a:latin typeface="Consolas"/>
                <a:ea typeface="Consolas"/>
                <a:cs typeface="Consolas"/>
                <a:sym typeface="Consolas"/>
              </a:rPr>
              <a:t>  List? genres;</a:t>
            </a:r>
            <a:endParaRPr sz="11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None/>
            </a:pPr>
            <a:r>
              <a:t/>
            </a:r>
            <a:endParaRPr sz="11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None/>
            </a:pPr>
            <a:r>
              <a:rPr lang="en-ID" sz="1150">
                <a:latin typeface="Consolas"/>
                <a:ea typeface="Consolas"/>
                <a:cs typeface="Consolas"/>
                <a:sym typeface="Consolas"/>
              </a:rPr>
              <a:t>  PopMovie(</a:t>
            </a:r>
            <a:endParaRPr sz="11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None/>
            </a:pPr>
            <a:r>
              <a:rPr lang="en-ID" sz="1150">
                <a:latin typeface="Consolas"/>
                <a:ea typeface="Consolas"/>
                <a:cs typeface="Consolas"/>
                <a:sym typeface="Consolas"/>
              </a:rPr>
              <a:t>      {required this.id,</a:t>
            </a:r>
            <a:endParaRPr sz="11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None/>
            </a:pPr>
            <a:r>
              <a:rPr lang="en-ID" sz="1150">
                <a:latin typeface="Consolas"/>
                <a:ea typeface="Consolas"/>
                <a:cs typeface="Consolas"/>
                <a:sym typeface="Consolas"/>
              </a:rPr>
              <a:t>      required this.title,</a:t>
            </a:r>
            <a:endParaRPr sz="11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None/>
            </a:pPr>
            <a:r>
              <a:rPr lang="en-ID" sz="1150">
                <a:latin typeface="Consolas"/>
                <a:ea typeface="Consolas"/>
                <a:cs typeface="Consolas"/>
                <a:sym typeface="Consolas"/>
              </a:rPr>
              <a:t>      required this.overview,</a:t>
            </a:r>
            <a:endParaRPr sz="11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None/>
            </a:pPr>
            <a:r>
              <a:rPr lang="en-ID" sz="1150">
                <a:latin typeface="Consolas"/>
                <a:ea typeface="Consolas"/>
                <a:cs typeface="Consolas"/>
                <a:sym typeface="Consolas"/>
              </a:rPr>
              <a:t>      required this.voteAverage,</a:t>
            </a:r>
            <a:endParaRPr sz="11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None/>
            </a:pPr>
            <a:r>
              <a:rPr lang="en-ID" sz="1150"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1" lang="en-ID" sz="1150">
                <a:latin typeface="Consolas"/>
                <a:ea typeface="Consolas"/>
                <a:cs typeface="Consolas"/>
                <a:sym typeface="Consolas"/>
              </a:rPr>
              <a:t>required this.homepage,</a:t>
            </a:r>
            <a:endParaRPr b="1" sz="11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None/>
            </a:pPr>
            <a:r>
              <a:rPr b="1" lang="en-ID" sz="1150">
                <a:latin typeface="Consolas"/>
                <a:ea typeface="Consolas"/>
                <a:cs typeface="Consolas"/>
                <a:sym typeface="Consolas"/>
              </a:rPr>
              <a:t>      required this.release_date,</a:t>
            </a:r>
            <a:endParaRPr b="1" sz="11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None/>
            </a:pPr>
            <a:r>
              <a:rPr b="1" lang="en-ID" sz="1150">
                <a:latin typeface="Consolas"/>
                <a:ea typeface="Consolas"/>
                <a:cs typeface="Consolas"/>
                <a:sym typeface="Consolas"/>
              </a:rPr>
              <a:t>      required this.runtime,</a:t>
            </a:r>
            <a:endParaRPr b="1" sz="11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None/>
            </a:pPr>
            <a:r>
              <a:rPr b="1" lang="en-ID" sz="1150">
                <a:latin typeface="Consolas"/>
                <a:ea typeface="Consolas"/>
                <a:cs typeface="Consolas"/>
                <a:sym typeface="Consolas"/>
              </a:rPr>
              <a:t>      required this.url,</a:t>
            </a:r>
            <a:endParaRPr b="1" sz="11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None/>
            </a:pPr>
            <a:r>
              <a:rPr lang="en-ID" sz="1150">
                <a:latin typeface="Consolas"/>
                <a:ea typeface="Consolas"/>
                <a:cs typeface="Consolas"/>
                <a:sym typeface="Consolas"/>
              </a:rPr>
              <a:t>      this.genres});</a:t>
            </a:r>
            <a:endParaRPr sz="115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5" name="Google Shape;105;g3ad00f13b7e_1_4"/>
          <p:cNvSpPr txBox="1"/>
          <p:nvPr/>
        </p:nvSpPr>
        <p:spPr>
          <a:xfrm>
            <a:off x="3915575" y="578500"/>
            <a:ext cx="5074200" cy="30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factory PopMovie.fromJson(Map&lt;String, dynamic&gt; json) {</a:t>
            </a:r>
            <a:endParaRPr sz="11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return PopMovie(</a:t>
            </a:r>
            <a:endParaRPr sz="11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id: json['movie_id'] as int,</a:t>
            </a:r>
            <a:endParaRPr sz="11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title: json['title'] as String,</a:t>
            </a:r>
            <a:endParaRPr sz="11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overview: json['overview'] as String,</a:t>
            </a:r>
            <a:endParaRPr sz="11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voteAverage: json['voteAverage'] != null</a:t>
            </a:r>
            <a:endParaRPr sz="11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? json['voteAverage'].toString()</a:t>
            </a:r>
            <a:endParaRPr sz="11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: '0.0',</a:t>
            </a:r>
            <a:endParaRPr sz="11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-ID" sz="11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homepage: json['homepage'].toString(),</a:t>
            </a:r>
            <a:endParaRPr b="1" sz="11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11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release_date: json['release_date'].toString(),</a:t>
            </a:r>
            <a:endParaRPr b="1" sz="11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11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runtime: json['runtime'].toString(),</a:t>
            </a:r>
            <a:endParaRPr b="1" sz="11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D" sz="11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url: json['url'].toString(),</a:t>
            </a:r>
            <a:endParaRPr b="1" sz="11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genres: json['genres']);</a:t>
            </a:r>
            <a:endParaRPr sz="11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1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6" name="Google Shape;106;g3ad00f13b7e_1_4"/>
          <p:cNvSpPr txBox="1"/>
          <p:nvPr>
            <p:ph idx="1" type="body"/>
          </p:nvPr>
        </p:nvSpPr>
        <p:spPr>
          <a:xfrm>
            <a:off x="4646700" y="3707925"/>
            <a:ext cx="4040100" cy="67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ID" sz="1400">
                <a:solidFill>
                  <a:schemeClr val="lt1"/>
                </a:solidFill>
              </a:rPr>
              <a:t>Update your PopMovie class. Because we need to access the homepage, release_date, runtime, and url column in database</a:t>
            </a:r>
            <a:endParaRPr sz="8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d00f13b7e_1_16"/>
          <p:cNvSpPr txBox="1"/>
          <p:nvPr>
            <p:ph type="title"/>
          </p:nvPr>
        </p:nvSpPr>
        <p:spPr>
          <a:xfrm>
            <a:off x="0" y="0"/>
            <a:ext cx="8229600" cy="5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ct val="100000"/>
              <a:buFont typeface="Arial"/>
              <a:buNone/>
            </a:pPr>
            <a:r>
              <a:rPr b="1" lang="en-ID" sz="3600">
                <a:solidFill>
                  <a:srgbClr val="000090"/>
                </a:solidFill>
              </a:rPr>
              <a:t>Before Continue</a:t>
            </a:r>
            <a:endParaRPr/>
          </a:p>
        </p:txBody>
      </p:sp>
      <p:cxnSp>
        <p:nvCxnSpPr>
          <p:cNvPr id="112" name="Google Shape;112;g3ad00f13b7e_1_16"/>
          <p:cNvCxnSpPr/>
          <p:nvPr/>
        </p:nvCxnSpPr>
        <p:spPr>
          <a:xfrm>
            <a:off x="0" y="576943"/>
            <a:ext cx="7337100" cy="15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</p:cxnSp>
      <p:sp>
        <p:nvSpPr>
          <p:cNvPr descr="Google's Flutter framework spreads its wings and goes multi-platform |  TechCrunch" id="113" name="Google Shape;113;g3ad00f13b7e_1_16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3ad00f13b7e_1_16"/>
          <p:cNvSpPr txBox="1"/>
          <p:nvPr>
            <p:ph idx="1" type="body"/>
          </p:nvPr>
        </p:nvSpPr>
        <p:spPr>
          <a:xfrm>
            <a:off x="457200" y="783771"/>
            <a:ext cx="8229600" cy="38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None/>
            </a:pPr>
            <a:r>
              <a:rPr lang="en-ID" sz="1150">
                <a:latin typeface="Consolas"/>
                <a:ea typeface="Consolas"/>
                <a:cs typeface="Consolas"/>
                <a:sym typeface="Consolas"/>
              </a:rPr>
              <a:t>class PopMovie {</a:t>
            </a:r>
            <a:endParaRPr sz="11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None/>
            </a:pPr>
            <a:r>
              <a:rPr lang="en-ID" sz="1150">
                <a:latin typeface="Consolas"/>
                <a:ea typeface="Consolas"/>
                <a:cs typeface="Consolas"/>
                <a:sym typeface="Consolas"/>
              </a:rPr>
              <a:t>  int id;</a:t>
            </a:r>
            <a:endParaRPr sz="11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None/>
            </a:pPr>
            <a:r>
              <a:rPr lang="en-ID" sz="1150">
                <a:latin typeface="Consolas"/>
                <a:ea typeface="Consolas"/>
                <a:cs typeface="Consolas"/>
                <a:sym typeface="Consolas"/>
              </a:rPr>
              <a:t>  String title;</a:t>
            </a:r>
            <a:endParaRPr sz="11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None/>
            </a:pPr>
            <a:r>
              <a:rPr lang="en-ID" sz="1150">
                <a:latin typeface="Consolas"/>
                <a:ea typeface="Consolas"/>
                <a:cs typeface="Consolas"/>
                <a:sym typeface="Consolas"/>
              </a:rPr>
              <a:t>  String overview;</a:t>
            </a:r>
            <a:endParaRPr sz="11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None/>
            </a:pPr>
            <a:r>
              <a:rPr lang="en-ID" sz="1150">
                <a:latin typeface="Consolas"/>
                <a:ea typeface="Consolas"/>
                <a:cs typeface="Consolas"/>
                <a:sym typeface="Consolas"/>
              </a:rPr>
              <a:t>  String voteAverage;</a:t>
            </a:r>
            <a:endParaRPr sz="11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None/>
            </a:pPr>
            <a:r>
              <a:rPr lang="en-ID" sz="115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-ID" sz="1150">
                <a:latin typeface="Consolas"/>
                <a:ea typeface="Consolas"/>
                <a:cs typeface="Consolas"/>
                <a:sym typeface="Consolas"/>
              </a:rPr>
              <a:t>String homepage;</a:t>
            </a:r>
            <a:endParaRPr b="1" sz="11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None/>
            </a:pPr>
            <a:r>
              <a:rPr b="1" lang="en-ID" sz="1150">
                <a:latin typeface="Consolas"/>
                <a:ea typeface="Consolas"/>
                <a:cs typeface="Consolas"/>
                <a:sym typeface="Consolas"/>
              </a:rPr>
              <a:t>  String release_date;</a:t>
            </a:r>
            <a:endParaRPr b="1" sz="11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None/>
            </a:pPr>
            <a:r>
              <a:rPr b="1" lang="en-ID" sz="1150">
                <a:latin typeface="Consolas"/>
                <a:ea typeface="Consolas"/>
                <a:cs typeface="Consolas"/>
                <a:sym typeface="Consolas"/>
              </a:rPr>
              <a:t>  String runtime;</a:t>
            </a:r>
            <a:endParaRPr b="1" sz="11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None/>
            </a:pPr>
            <a:r>
              <a:rPr b="1" lang="en-ID" sz="1150">
                <a:latin typeface="Consolas"/>
                <a:ea typeface="Consolas"/>
                <a:cs typeface="Consolas"/>
                <a:sym typeface="Consolas"/>
              </a:rPr>
              <a:t>  String url;</a:t>
            </a:r>
            <a:endParaRPr b="1" sz="11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None/>
            </a:pPr>
            <a:r>
              <a:rPr lang="en-ID" sz="1150">
                <a:latin typeface="Consolas"/>
                <a:ea typeface="Consolas"/>
                <a:cs typeface="Consolas"/>
                <a:sym typeface="Consolas"/>
              </a:rPr>
              <a:t>  List? genres;</a:t>
            </a:r>
            <a:endParaRPr sz="11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None/>
            </a:pPr>
            <a:r>
              <a:t/>
            </a:r>
            <a:endParaRPr sz="11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None/>
            </a:pPr>
            <a:r>
              <a:rPr lang="en-ID" sz="1150">
                <a:latin typeface="Consolas"/>
                <a:ea typeface="Consolas"/>
                <a:cs typeface="Consolas"/>
                <a:sym typeface="Consolas"/>
              </a:rPr>
              <a:t>  PopMovie(</a:t>
            </a:r>
            <a:endParaRPr sz="11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None/>
            </a:pPr>
            <a:r>
              <a:rPr lang="en-ID" sz="1150">
                <a:latin typeface="Consolas"/>
                <a:ea typeface="Consolas"/>
                <a:cs typeface="Consolas"/>
                <a:sym typeface="Consolas"/>
              </a:rPr>
              <a:t>      {required this.id,</a:t>
            </a:r>
            <a:endParaRPr sz="11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None/>
            </a:pPr>
            <a:r>
              <a:rPr lang="en-ID" sz="1150">
                <a:latin typeface="Consolas"/>
                <a:ea typeface="Consolas"/>
                <a:cs typeface="Consolas"/>
                <a:sym typeface="Consolas"/>
              </a:rPr>
              <a:t>      required this.title,</a:t>
            </a:r>
            <a:endParaRPr sz="11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None/>
            </a:pPr>
            <a:r>
              <a:rPr lang="en-ID" sz="1150">
                <a:latin typeface="Consolas"/>
                <a:ea typeface="Consolas"/>
                <a:cs typeface="Consolas"/>
                <a:sym typeface="Consolas"/>
              </a:rPr>
              <a:t>      required this.overview,</a:t>
            </a:r>
            <a:endParaRPr sz="11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None/>
            </a:pPr>
            <a:r>
              <a:rPr lang="en-ID" sz="1150">
                <a:latin typeface="Consolas"/>
                <a:ea typeface="Consolas"/>
                <a:cs typeface="Consolas"/>
                <a:sym typeface="Consolas"/>
              </a:rPr>
              <a:t>      required this.voteAverage,</a:t>
            </a:r>
            <a:endParaRPr sz="11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None/>
            </a:pPr>
            <a:r>
              <a:rPr lang="en-ID" sz="1150"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b="1" lang="en-ID" sz="1150">
                <a:latin typeface="Consolas"/>
                <a:ea typeface="Consolas"/>
                <a:cs typeface="Consolas"/>
                <a:sym typeface="Consolas"/>
              </a:rPr>
              <a:t>required this.homepage,</a:t>
            </a:r>
            <a:endParaRPr b="1" sz="11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None/>
            </a:pPr>
            <a:r>
              <a:rPr b="1" lang="en-ID" sz="1150">
                <a:latin typeface="Consolas"/>
                <a:ea typeface="Consolas"/>
                <a:cs typeface="Consolas"/>
                <a:sym typeface="Consolas"/>
              </a:rPr>
              <a:t>      required this.release_date,</a:t>
            </a:r>
            <a:endParaRPr b="1" sz="11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None/>
            </a:pPr>
            <a:r>
              <a:rPr b="1" lang="en-ID" sz="1150">
                <a:latin typeface="Consolas"/>
                <a:ea typeface="Consolas"/>
                <a:cs typeface="Consolas"/>
                <a:sym typeface="Consolas"/>
              </a:rPr>
              <a:t>      required this.runtime,</a:t>
            </a:r>
            <a:endParaRPr b="1" sz="11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None/>
            </a:pPr>
            <a:r>
              <a:rPr b="1" lang="en-ID" sz="1150">
                <a:latin typeface="Consolas"/>
                <a:ea typeface="Consolas"/>
                <a:cs typeface="Consolas"/>
                <a:sym typeface="Consolas"/>
              </a:rPr>
              <a:t>      required this.url,</a:t>
            </a:r>
            <a:endParaRPr b="1" sz="115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None/>
            </a:pPr>
            <a:r>
              <a:rPr lang="en-ID" sz="1150">
                <a:latin typeface="Consolas"/>
                <a:ea typeface="Consolas"/>
                <a:cs typeface="Consolas"/>
                <a:sym typeface="Consolas"/>
              </a:rPr>
              <a:t>      this.genres});</a:t>
            </a:r>
            <a:endParaRPr sz="115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15" name="Google Shape;115;g3ad00f13b7e_1_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4501" y="843600"/>
            <a:ext cx="3161275" cy="3906024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g3ad00f13b7e_1_16"/>
          <p:cNvSpPr txBox="1"/>
          <p:nvPr>
            <p:ph idx="1" type="body"/>
          </p:nvPr>
        </p:nvSpPr>
        <p:spPr>
          <a:xfrm>
            <a:off x="3822900" y="1864975"/>
            <a:ext cx="4863900" cy="1094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ID" sz="2000"/>
              <a:t>Since the original movie table </a:t>
            </a:r>
            <a:r>
              <a:rPr lang="en-ID" sz="2000"/>
              <a:t>doesn't</a:t>
            </a:r>
            <a:r>
              <a:rPr lang="en-ID" sz="2000"/>
              <a:t> have “url” column, you need to add it manually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17" name="Google Shape;117;g3ad00f13b7e_1_16"/>
          <p:cNvCxnSpPr>
            <a:stCxn id="116" idx="2"/>
          </p:cNvCxnSpPr>
          <p:nvPr/>
        </p:nvCxnSpPr>
        <p:spPr>
          <a:xfrm rot="5400000">
            <a:off x="3409350" y="1643275"/>
            <a:ext cx="1529100" cy="4161900"/>
          </a:xfrm>
          <a:prstGeom prst="curvedConnector2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/>
          <p:cNvSpPr txBox="1"/>
          <p:nvPr>
            <p:ph type="title"/>
          </p:nvPr>
        </p:nvSpPr>
        <p:spPr>
          <a:xfrm>
            <a:off x="0" y="0"/>
            <a:ext cx="8229600" cy="576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ct val="100000"/>
              <a:buFont typeface="Arial"/>
              <a:buNone/>
            </a:pPr>
            <a:r>
              <a:rPr b="1" lang="en-ID" sz="3600">
                <a:solidFill>
                  <a:srgbClr val="000090"/>
                </a:solidFill>
              </a:rPr>
              <a:t>Page preparation </a:t>
            </a:r>
            <a:endParaRPr/>
          </a:p>
        </p:txBody>
      </p:sp>
      <p:cxnSp>
        <p:nvCxnSpPr>
          <p:cNvPr id="123" name="Google Shape;123;p3"/>
          <p:cNvCxnSpPr/>
          <p:nvPr/>
        </p:nvCxnSpPr>
        <p:spPr>
          <a:xfrm>
            <a:off x="0" y="576943"/>
            <a:ext cx="7336971" cy="15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descr="Google's Flutter framework spreads its wings and goes multi-platform |  TechCrunch" id="124" name="Google Shape;124;p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"/>
          <p:cNvSpPr txBox="1"/>
          <p:nvPr>
            <p:ph idx="1" type="body"/>
          </p:nvPr>
        </p:nvSpPr>
        <p:spPr>
          <a:xfrm>
            <a:off x="457200" y="783771"/>
            <a:ext cx="8229600" cy="38108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ID" sz="2000"/>
              <a:t>Prepare a page for editing. It can be similar with our previous submission form, but with all field already filled in.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ID" sz="2000"/>
              <a:t>It is called with a parameter, similar with detail movie page. The parameter is </a:t>
            </a:r>
            <a:r>
              <a:rPr b="1" lang="en-ID" sz="2000"/>
              <a:t>movie_id</a:t>
            </a:r>
            <a:r>
              <a:rPr lang="en-ID" sz="2000"/>
              <a:t>. This page will be called from 2 places: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ID" sz="2000"/>
              <a:t> - In the detail movie page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ID" sz="2000"/>
              <a:t> - Right after save new movie.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ID" sz="2000"/>
              <a:t>We name it </a:t>
            </a:r>
            <a:r>
              <a:rPr b="1" lang="en-ID" sz="2000"/>
              <a:t>editpopmovie.dart</a:t>
            </a:r>
            <a:r>
              <a:rPr lang="en-ID" sz="2000"/>
              <a:t>, using </a:t>
            </a:r>
            <a:r>
              <a:rPr b="1" lang="en-ID" sz="2000"/>
              <a:t>stateful skeleton</a:t>
            </a:r>
            <a:r>
              <a:rPr lang="en-ID" sz="2000"/>
              <a:t>.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 txBox="1"/>
          <p:nvPr>
            <p:ph type="title"/>
          </p:nvPr>
        </p:nvSpPr>
        <p:spPr>
          <a:xfrm>
            <a:off x="0" y="0"/>
            <a:ext cx="8229600" cy="576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ct val="100000"/>
              <a:buFont typeface="Arial"/>
              <a:buNone/>
            </a:pPr>
            <a:r>
              <a:rPr b="1" lang="en-ID" sz="3600">
                <a:solidFill>
                  <a:srgbClr val="000090"/>
                </a:solidFill>
              </a:rPr>
              <a:t>editpopmovie.dart</a:t>
            </a:r>
            <a:endParaRPr b="1" sz="3600">
              <a:solidFill>
                <a:srgbClr val="000090"/>
              </a:solidFill>
            </a:endParaRPr>
          </a:p>
        </p:txBody>
      </p:sp>
      <p:cxnSp>
        <p:nvCxnSpPr>
          <p:cNvPr id="131" name="Google Shape;131;p4"/>
          <p:cNvCxnSpPr/>
          <p:nvPr/>
        </p:nvCxnSpPr>
        <p:spPr>
          <a:xfrm>
            <a:off x="0" y="576943"/>
            <a:ext cx="7336971" cy="15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descr="Google's Flutter framework spreads its wings and goes multi-platform |  TechCrunch" id="132" name="Google Shape;132;p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-241540" y="850492"/>
            <a:ext cx="4813537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class EditPopMovie extends StatefulWidget {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int movieID;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EditPopMovie({super.key, required this.movieID});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@override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EditPopMovieState createState() {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return EditPopMovieState();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4572000" y="721406"/>
            <a:ext cx="4572000" cy="3600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class EditPopMovieState extends State&lt;EditPopMovie&gt;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final _formKey = GlobalKey&lt;FormState&gt;();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@override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Widget build(BuildContext context)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return Scaffold(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appBar: AppBar(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title: Text("Edit Popular Movie"),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body: Form(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key: _formKey,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child: Column(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children: &lt;Widget&gt;[Text(widget.movieID.toString())],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));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cxnSp>
        <p:nvCxnSpPr>
          <p:cNvPr id="135" name="Google Shape;135;p4"/>
          <p:cNvCxnSpPr/>
          <p:nvPr/>
        </p:nvCxnSpPr>
        <p:spPr>
          <a:xfrm>
            <a:off x="4451230" y="596239"/>
            <a:ext cx="0" cy="4148289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20571" y="777557"/>
            <a:ext cx="1908619" cy="4050136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5"/>
          <p:cNvSpPr txBox="1"/>
          <p:nvPr>
            <p:ph type="title"/>
          </p:nvPr>
        </p:nvSpPr>
        <p:spPr>
          <a:xfrm>
            <a:off x="0" y="0"/>
            <a:ext cx="8229600" cy="576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ct val="100000"/>
              <a:buFont typeface="Arial"/>
              <a:buNone/>
            </a:pPr>
            <a:r>
              <a:rPr b="1" lang="en-ID" sz="3600">
                <a:solidFill>
                  <a:srgbClr val="000090"/>
                </a:solidFill>
              </a:rPr>
              <a:t> Update detailpop</a:t>
            </a:r>
            <a:endParaRPr b="1" sz="3600">
              <a:solidFill>
                <a:srgbClr val="000090"/>
              </a:solidFill>
            </a:endParaRPr>
          </a:p>
        </p:txBody>
      </p:sp>
      <p:cxnSp>
        <p:nvCxnSpPr>
          <p:cNvPr id="142" name="Google Shape;142;p5"/>
          <p:cNvCxnSpPr/>
          <p:nvPr/>
        </p:nvCxnSpPr>
        <p:spPr>
          <a:xfrm>
            <a:off x="0" y="576943"/>
            <a:ext cx="7336971" cy="15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descr="Google's Flutter framework spreads its wings and goes multi-platform |  TechCrunch" id="143" name="Google Shape;143;p5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-785865" y="741094"/>
            <a:ext cx="6031989" cy="2462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		Padding(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padding: EdgeInsets.all(10),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child: ElevatedButton(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  child: Text('Edit'),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  onPressed: ()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    Navigator.push(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      context,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      MaterialPageRoute(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        builder: (context) =&gt;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EditPopMovie(movieID: widget.movieID),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      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    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  },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)),</a:t>
            </a:r>
            <a:endParaRPr/>
          </a:p>
        </p:txBody>
      </p:sp>
      <p:pic>
        <p:nvPicPr>
          <p:cNvPr id="145" name="Google Shape;14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62141" y="777557"/>
            <a:ext cx="1908619" cy="4050136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5"/>
          <p:cNvSpPr/>
          <p:nvPr/>
        </p:nvSpPr>
        <p:spPr>
          <a:xfrm>
            <a:off x="5164183" y="3518263"/>
            <a:ext cx="783771" cy="48768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7" name="Google Shape;147;p5"/>
          <p:cNvCxnSpPr/>
          <p:nvPr/>
        </p:nvCxnSpPr>
        <p:spPr>
          <a:xfrm flipH="1" rot="10800000">
            <a:off x="5930107" y="1461407"/>
            <a:ext cx="1081305" cy="2220686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"/>
          <p:cNvSpPr txBox="1"/>
          <p:nvPr>
            <p:ph type="title"/>
          </p:nvPr>
        </p:nvSpPr>
        <p:spPr>
          <a:xfrm>
            <a:off x="0" y="0"/>
            <a:ext cx="8229600" cy="576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ct val="100000"/>
              <a:buFont typeface="Arial"/>
              <a:buNone/>
            </a:pPr>
            <a:r>
              <a:rPr b="1" lang="en-ID" sz="3600">
                <a:solidFill>
                  <a:srgbClr val="000090"/>
                </a:solidFill>
              </a:rPr>
              <a:t>Fetch Data</a:t>
            </a:r>
            <a:endParaRPr/>
          </a:p>
        </p:txBody>
      </p:sp>
      <p:cxnSp>
        <p:nvCxnSpPr>
          <p:cNvPr id="153" name="Google Shape;153;p6"/>
          <p:cNvCxnSpPr/>
          <p:nvPr/>
        </p:nvCxnSpPr>
        <p:spPr>
          <a:xfrm>
            <a:off x="0" y="576943"/>
            <a:ext cx="7336971" cy="15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descr="Google's Flutter framework spreads its wings and goes multi-platform |  TechCrunch" id="154" name="Google Shape;154;p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281851" y="1572909"/>
            <a:ext cx="4462165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PopMovie? _pm;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Future&lt;String&gt; fetchData() async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final response = await http.post(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Uri.parse("https://ubaya.cloud/flutter/[NRP]/detailmovie.php"),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body: {'id': widget.movieID.toString()});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if (response.statusCode == 200)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return response.body;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} else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throw Exception('Failed to read API');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155575" y="787374"/>
            <a:ext cx="79944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Prepare a variable for storing popmovie and fill it with a fetching data function</a:t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4608076" y="1771531"/>
            <a:ext cx="457200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bacaData() {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fetchData().then((value) {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Map json = jsonDecode(value);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_pm = PopMovie.fromJson(json['data']);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setState(() {});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});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2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}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"/>
          <p:cNvSpPr txBox="1"/>
          <p:nvPr>
            <p:ph type="title"/>
          </p:nvPr>
        </p:nvSpPr>
        <p:spPr>
          <a:xfrm>
            <a:off x="0" y="0"/>
            <a:ext cx="8229600" cy="576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ct val="100000"/>
              <a:buFont typeface="Arial"/>
              <a:buNone/>
            </a:pPr>
            <a:r>
              <a:rPr b="1" lang="en-ID" sz="3600">
                <a:solidFill>
                  <a:srgbClr val="000090"/>
                </a:solidFill>
              </a:rPr>
              <a:t>Edit Title</a:t>
            </a:r>
            <a:endParaRPr/>
          </a:p>
        </p:txBody>
      </p:sp>
      <p:cxnSp>
        <p:nvCxnSpPr>
          <p:cNvPr id="163" name="Google Shape;163;p7"/>
          <p:cNvCxnSpPr/>
          <p:nvPr/>
        </p:nvCxnSpPr>
        <p:spPr>
          <a:xfrm>
            <a:off x="0" y="576943"/>
            <a:ext cx="7336971" cy="15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descr="Google's Flutter framework spreads its wings and goes multi-platform |  TechCrunch" id="164" name="Google Shape;164;p7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155575" y="1526708"/>
            <a:ext cx="6397625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TextEditingController _titleCont = TextEditingController();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ID" sz="1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sz="14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155575" y="787374"/>
            <a:ext cx="8229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initiate value in a XXXFormField , we need a controller to be attached on it.</a:t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155575" y="2028544"/>
            <a:ext cx="777655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Update </a:t>
            </a:r>
            <a:r>
              <a:rPr lang="en-ID" sz="1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bacaData</a:t>
            </a:r>
            <a: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fill text attribut of the controller. call bacaData in initState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-161110" y="2450038"/>
            <a:ext cx="4572000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     </a:t>
            </a:r>
            <a:r>
              <a:rPr lang="en-ID" sz="1400">
                <a:solidFill>
                  <a:srgbClr val="BFBFBF"/>
                </a:solidFill>
                <a:latin typeface="Consolas"/>
                <a:ea typeface="Consolas"/>
                <a:cs typeface="Consolas"/>
                <a:sym typeface="Consolas"/>
              </a:rPr>
              <a:t>setState(()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400">
                <a:solidFill>
                  <a:srgbClr val="BFBFBF"/>
                </a:solidFill>
                <a:latin typeface="Consolas"/>
                <a:ea typeface="Consolas"/>
                <a:cs typeface="Consolas"/>
                <a:sym typeface="Consolas"/>
              </a:rPr>
              <a:t>    		</a:t>
            </a:r>
            <a:r>
              <a:rPr lang="en-ID" sz="1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_titleCont.text = _pm!.title; </a:t>
            </a:r>
            <a:r>
              <a:rPr lang="en-ID" sz="1400">
                <a:solidFill>
                  <a:srgbClr val="BFBFBF"/>
                </a:solidFill>
                <a:latin typeface="Consolas"/>
                <a:ea typeface="Consolas"/>
                <a:cs typeface="Consolas"/>
                <a:sym typeface="Consolas"/>
              </a:rPr>
              <a:t>  	});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4733112" y="2571750"/>
            <a:ext cx="4572000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@override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void initState()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// TODO: implement initState</a:t>
            </a:r>
            <a:endParaRPr sz="14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super.initState();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bacaData();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}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"/>
          <p:cNvSpPr txBox="1"/>
          <p:nvPr>
            <p:ph type="title"/>
          </p:nvPr>
        </p:nvSpPr>
        <p:spPr>
          <a:xfrm>
            <a:off x="0" y="0"/>
            <a:ext cx="8229600" cy="576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ct val="100000"/>
              <a:buFont typeface="Arial"/>
              <a:buNone/>
            </a:pPr>
            <a:r>
              <a:rPr b="1" lang="en-ID" sz="3600">
                <a:solidFill>
                  <a:srgbClr val="000090"/>
                </a:solidFill>
              </a:rPr>
              <a:t>Edit Title (2)</a:t>
            </a:r>
            <a:endParaRPr/>
          </a:p>
        </p:txBody>
      </p:sp>
      <p:cxnSp>
        <p:nvCxnSpPr>
          <p:cNvPr id="175" name="Google Shape;175;p8"/>
          <p:cNvCxnSpPr/>
          <p:nvPr/>
        </p:nvCxnSpPr>
        <p:spPr>
          <a:xfrm>
            <a:off x="0" y="576943"/>
            <a:ext cx="7336971" cy="15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descr="Google's Flutter framework spreads its wings and goes multi-platform |  TechCrunch" id="176" name="Google Shape;176;p8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0" y="1157376"/>
            <a:ext cx="6397625" cy="32316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	  Padding(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padding: EdgeInsets.all(10),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child: TextFormField(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decoration: const InputDecoration(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labelText: 'Title',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onChanged: (value)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_pm!.title = value;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},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controller: _titleCont,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validator: (value)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if (value == null || value.isEmpty)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return 'judul harus diisi';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return null;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},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)),</a:t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155575" y="787374"/>
            <a:ext cx="17749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TextFormField:</a:t>
            </a:r>
            <a:endParaRPr/>
          </a:p>
        </p:txBody>
      </p:sp>
      <p:pic>
        <p:nvPicPr>
          <p:cNvPr id="179" name="Google Shape;17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3108" y="721406"/>
            <a:ext cx="1880098" cy="39896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"/>
          <p:cNvSpPr txBox="1"/>
          <p:nvPr>
            <p:ph type="title"/>
          </p:nvPr>
        </p:nvSpPr>
        <p:spPr>
          <a:xfrm>
            <a:off x="0" y="0"/>
            <a:ext cx="8229600" cy="576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ct val="100000"/>
              <a:buFont typeface="Arial"/>
              <a:buNone/>
            </a:pPr>
            <a:r>
              <a:rPr b="1" lang="en-ID" sz="3600">
                <a:solidFill>
                  <a:srgbClr val="000090"/>
                </a:solidFill>
              </a:rPr>
              <a:t>Edit Homepage</a:t>
            </a:r>
            <a:endParaRPr/>
          </a:p>
        </p:txBody>
      </p:sp>
      <p:cxnSp>
        <p:nvCxnSpPr>
          <p:cNvPr id="185" name="Google Shape;185;p9"/>
          <p:cNvCxnSpPr/>
          <p:nvPr/>
        </p:nvCxnSpPr>
        <p:spPr>
          <a:xfrm>
            <a:off x="0" y="576943"/>
            <a:ext cx="7336971" cy="15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descr="Google's Flutter framework spreads its wings and goes multi-platform |  TechCrunch" id="186" name="Google Shape;186;p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155575" y="1532295"/>
            <a:ext cx="338010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TextEditingController _homepageCont= TextEditingController();</a:t>
            </a: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155575" y="1188709"/>
            <a:ext cx="24032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Prepare the controller</a:t>
            </a: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155575" y="1853453"/>
            <a:ext cx="198002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Update bacaData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-74116" y="2460912"/>
            <a:ext cx="33801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ID" sz="1200">
                <a:solidFill>
                  <a:srgbClr val="BFBFBF"/>
                </a:solidFill>
                <a:latin typeface="Consolas"/>
                <a:ea typeface="Consolas"/>
                <a:cs typeface="Consolas"/>
                <a:sym typeface="Consolas"/>
              </a:rPr>
              <a:t>setState(()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BFBFBF"/>
                </a:solidFill>
                <a:latin typeface="Consolas"/>
                <a:ea typeface="Consolas"/>
                <a:cs typeface="Consolas"/>
                <a:sym typeface="Consolas"/>
              </a:rPr>
              <a:t>    _titleCont.text = _pm!.title;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_homepageCont.text = _pm!.homepage;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ID" sz="1200">
                <a:solidFill>
                  <a:srgbClr val="BFBFBF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/>
          </a:p>
        </p:txBody>
      </p:sp>
      <p:sp>
        <p:nvSpPr>
          <p:cNvPr id="191" name="Google Shape;191;p9"/>
          <p:cNvSpPr/>
          <p:nvPr/>
        </p:nvSpPr>
        <p:spPr>
          <a:xfrm>
            <a:off x="3483075" y="698162"/>
            <a:ext cx="171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TextFormField:</a:t>
            </a: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2558797" y="1188705"/>
            <a:ext cx="5517300" cy="36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		 Padding(	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    padding: EdgeInsets.all(10),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    child: TextFormField(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      decoration: const 							InputDecoration(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        labelText: 'Website',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      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      onChanged: (value)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        _pm!.homepage = value;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      },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      controller: _homepageCont,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      validator: (value)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        if (value == null ||  !Uri.parse(value).isAbsolute)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return 'alamat website salah';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    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        return null;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      },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    )),</a:t>
            </a:r>
            <a:endParaRPr/>
          </a:p>
        </p:txBody>
      </p:sp>
      <p:pic>
        <p:nvPicPr>
          <p:cNvPr id="193" name="Google Shape;19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90936" y="721406"/>
            <a:ext cx="1941294" cy="4119471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9"/>
          <p:cNvSpPr txBox="1"/>
          <p:nvPr/>
        </p:nvSpPr>
        <p:spPr>
          <a:xfrm>
            <a:off x="155575" y="607513"/>
            <a:ext cx="296508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Edit your </a:t>
            </a:r>
            <a:r>
              <a:rPr lang="en-ID" sz="1800">
                <a:solidFill>
                  <a:srgbClr val="538CD5"/>
                </a:solidFill>
                <a:latin typeface="Arial"/>
                <a:ea typeface="Arial"/>
                <a:cs typeface="Arial"/>
                <a:sym typeface="Arial"/>
              </a:rPr>
              <a:t>PopMovie</a:t>
            </a:r>
            <a: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class as needed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"/>
          <p:cNvSpPr txBox="1"/>
          <p:nvPr>
            <p:ph type="title"/>
          </p:nvPr>
        </p:nvSpPr>
        <p:spPr>
          <a:xfrm>
            <a:off x="0" y="0"/>
            <a:ext cx="8229600" cy="576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ct val="100000"/>
              <a:buFont typeface="Arial"/>
              <a:buNone/>
            </a:pPr>
            <a:r>
              <a:rPr b="1" lang="en-ID" sz="3600">
                <a:solidFill>
                  <a:srgbClr val="000090"/>
                </a:solidFill>
              </a:rPr>
              <a:t>Edit Overview</a:t>
            </a:r>
            <a:endParaRPr/>
          </a:p>
        </p:txBody>
      </p:sp>
      <p:cxnSp>
        <p:nvCxnSpPr>
          <p:cNvPr id="200" name="Google Shape;200;p10"/>
          <p:cNvCxnSpPr/>
          <p:nvPr/>
        </p:nvCxnSpPr>
        <p:spPr>
          <a:xfrm>
            <a:off x="0" y="576943"/>
            <a:ext cx="7336971" cy="15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descr="Google's Flutter framework spreads its wings and goes multi-platform |  TechCrunch" id="201" name="Google Shape;201;p10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155575" y="1130960"/>
            <a:ext cx="33390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TextEditingController _overviewCont = TextEditingController();</a:t>
            </a:r>
            <a:endParaRPr/>
          </a:p>
        </p:txBody>
      </p:sp>
      <p:sp>
        <p:nvSpPr>
          <p:cNvPr id="203" name="Google Shape;203;p10"/>
          <p:cNvSpPr/>
          <p:nvPr/>
        </p:nvSpPr>
        <p:spPr>
          <a:xfrm>
            <a:off x="155575" y="787374"/>
            <a:ext cx="24032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Prepare the controller</a:t>
            </a:r>
            <a:endParaRPr/>
          </a:p>
        </p:txBody>
      </p:sp>
      <p:sp>
        <p:nvSpPr>
          <p:cNvPr id="204" name="Google Shape;204;p10"/>
          <p:cNvSpPr/>
          <p:nvPr/>
        </p:nvSpPr>
        <p:spPr>
          <a:xfrm>
            <a:off x="155575" y="1659212"/>
            <a:ext cx="198002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Update bacaData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63172" y="2526157"/>
            <a:ext cx="4130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BFBFBF"/>
                </a:solidFill>
                <a:latin typeface="Consolas"/>
                <a:ea typeface="Consolas"/>
                <a:cs typeface="Consolas"/>
                <a:sym typeface="Consolas"/>
              </a:rPr>
              <a:t> setState(()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BFBFBF"/>
                </a:solidFill>
                <a:latin typeface="Consolas"/>
                <a:ea typeface="Consolas"/>
                <a:cs typeface="Consolas"/>
                <a:sym typeface="Consolas"/>
              </a:rPr>
              <a:t>    _titleCont.text = _pm!.title;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BFBFBF"/>
                </a:solidFill>
                <a:latin typeface="Consolas"/>
                <a:ea typeface="Consolas"/>
                <a:cs typeface="Consolas"/>
                <a:sym typeface="Consolas"/>
              </a:rPr>
              <a:t>    _homepageCont.text = _pm!.homepage;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_overviewCont.text = _pm!.overview;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BFBFBF"/>
                </a:solidFill>
                <a:latin typeface="Consolas"/>
                <a:ea typeface="Consolas"/>
                <a:cs typeface="Consolas"/>
                <a:sym typeface="Consolas"/>
              </a:rPr>
              <a:t>   });</a:t>
            </a:r>
            <a:endParaRPr/>
          </a:p>
        </p:txBody>
      </p:sp>
      <p:sp>
        <p:nvSpPr>
          <p:cNvPr id="206" name="Google Shape;206;p10"/>
          <p:cNvSpPr/>
          <p:nvPr/>
        </p:nvSpPr>
        <p:spPr>
          <a:xfrm>
            <a:off x="3716550" y="1223324"/>
            <a:ext cx="171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TextFormField:</a:t>
            </a:r>
            <a:endParaRPr/>
          </a:p>
        </p:txBody>
      </p:sp>
      <p:sp>
        <p:nvSpPr>
          <p:cNvPr id="207" name="Google Shape;207;p10"/>
          <p:cNvSpPr/>
          <p:nvPr/>
        </p:nvSpPr>
        <p:spPr>
          <a:xfrm>
            <a:off x="3275600" y="1592619"/>
            <a:ext cx="4233600" cy="24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Padding(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padding: EdgeInsets.all(10),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child: TextFormField(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decoration: const InputDecoration(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labelText: 'Overview',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onChanged: (value)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_pm!.overview = value;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},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controller: _overviewCont,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keyboardType: TextInputType.multiline,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minLines: 3,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maxLines: 6,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)),</a:t>
            </a:r>
            <a:endParaRPr/>
          </a:p>
        </p:txBody>
      </p:sp>
      <p:pic>
        <p:nvPicPr>
          <p:cNvPr id="208" name="Google Shape;20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9480" y="787374"/>
            <a:ext cx="1994520" cy="42324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1"/>
          <p:cNvSpPr txBox="1"/>
          <p:nvPr>
            <p:ph type="title"/>
          </p:nvPr>
        </p:nvSpPr>
        <p:spPr>
          <a:xfrm>
            <a:off x="0" y="0"/>
            <a:ext cx="8229600" cy="576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ct val="100000"/>
              <a:buFont typeface="Arial"/>
              <a:buNone/>
            </a:pPr>
            <a:r>
              <a:rPr b="1" lang="en-ID" sz="3600">
                <a:solidFill>
                  <a:srgbClr val="000090"/>
                </a:solidFill>
              </a:rPr>
              <a:t>Update ReleaseDate</a:t>
            </a:r>
            <a:endParaRPr b="1" sz="3600">
              <a:solidFill>
                <a:srgbClr val="000090"/>
              </a:solidFill>
            </a:endParaRPr>
          </a:p>
        </p:txBody>
      </p:sp>
      <p:cxnSp>
        <p:nvCxnSpPr>
          <p:cNvPr id="214" name="Google Shape;214;p11"/>
          <p:cNvCxnSpPr/>
          <p:nvPr/>
        </p:nvCxnSpPr>
        <p:spPr>
          <a:xfrm>
            <a:off x="0" y="576943"/>
            <a:ext cx="7336971" cy="15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descr="Google's Flutter framework spreads its wings and goes multi-platform |  TechCrunch" id="215" name="Google Shape;215;p11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155575" y="1130960"/>
            <a:ext cx="8074025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TextEditingController _releaseDate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= TextEditingController();</a:t>
            </a:r>
            <a:endParaRPr sz="14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155575" y="787374"/>
            <a:ext cx="24032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Prepare the controller</a:t>
            </a:r>
            <a:endParaRPr/>
          </a:p>
        </p:txBody>
      </p:sp>
      <p:sp>
        <p:nvSpPr>
          <p:cNvPr id="218" name="Google Shape;218;p11"/>
          <p:cNvSpPr/>
          <p:nvPr/>
        </p:nvSpPr>
        <p:spPr>
          <a:xfrm>
            <a:off x="155575" y="1659212"/>
            <a:ext cx="198002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Update bacaData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-280726" y="2526157"/>
            <a:ext cx="4572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n-ID" sz="1200">
                <a:solidFill>
                  <a:srgbClr val="BFBFBF"/>
                </a:solidFill>
                <a:latin typeface="Consolas"/>
                <a:ea typeface="Consolas"/>
                <a:cs typeface="Consolas"/>
                <a:sym typeface="Consolas"/>
              </a:rPr>
              <a:t>setState(()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BFBFBF"/>
                </a:solidFill>
                <a:latin typeface="Consolas"/>
                <a:ea typeface="Consolas"/>
                <a:cs typeface="Consolas"/>
                <a:sym typeface="Consolas"/>
              </a:rPr>
              <a:t>        _titleCont.text = _pm!.title;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BFBFBF"/>
                </a:solidFill>
                <a:latin typeface="Consolas"/>
                <a:ea typeface="Consolas"/>
                <a:cs typeface="Consolas"/>
                <a:sym typeface="Consolas"/>
              </a:rPr>
              <a:t>        _homepageCont.text = _pm!.homepage;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BFBFBF"/>
                </a:solidFill>
                <a:latin typeface="Consolas"/>
                <a:ea typeface="Consolas"/>
                <a:cs typeface="Consolas"/>
                <a:sym typeface="Consolas"/>
              </a:rPr>
              <a:t>        _overviewCont.text = _pm!.overview;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BFBFBF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_releaseDate.text = _pm!.release_date;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BFBFBF"/>
                </a:solidFill>
                <a:latin typeface="Consolas"/>
                <a:ea typeface="Consolas"/>
                <a:cs typeface="Consolas"/>
                <a:sym typeface="Consolas"/>
              </a:rPr>
              <a:t>      });</a:t>
            </a:r>
            <a:endParaRPr/>
          </a:p>
        </p:txBody>
      </p:sp>
      <p:sp>
        <p:nvSpPr>
          <p:cNvPr id="220" name="Google Shape;220;p11"/>
          <p:cNvSpPr/>
          <p:nvPr/>
        </p:nvSpPr>
        <p:spPr>
          <a:xfrm>
            <a:off x="4820625" y="568600"/>
            <a:ext cx="1710900" cy="4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TextFormField:</a:t>
            </a:r>
            <a:endParaRPr/>
          </a:p>
        </p:txBody>
      </p:sp>
      <p:sp>
        <p:nvSpPr>
          <p:cNvPr id="221" name="Google Shape;221;p11"/>
          <p:cNvSpPr/>
          <p:nvPr/>
        </p:nvSpPr>
        <p:spPr>
          <a:xfrm>
            <a:off x="3951687" y="787374"/>
            <a:ext cx="4572000" cy="41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Padding(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 padding: EdgeInsets.all(10),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 child: Row(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  mainAxisAlignment: MainAxisAlignment.start,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  children: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   Expanded(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     child: TextFormField(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    decoration: const InputDecoration(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     labelText: 'Release Date',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    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    controller: _releaseDate,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   )),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   ElevatedButton(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     onPressed: ()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      showDatePicker(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          context: context,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          initialDate: DateTime.now(),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          firstDate: DateTime(2000),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          lastDate: DateTime(2200))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        .then((value)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       setState(()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        _releaseDate.text =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          value.toString().substring(0, 10);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       });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      });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     },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     child: Icon(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      Icons.calendar_today_sharp,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      color: Colors.white,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      size: 24.0,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     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  ],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 )),</a:t>
            </a:r>
            <a:endParaRPr/>
          </a:p>
        </p:txBody>
      </p:sp>
      <p:pic>
        <p:nvPicPr>
          <p:cNvPr id="222" name="Google Shape;22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59646" y="721405"/>
            <a:ext cx="2028779" cy="415498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1"/>
          <p:cNvSpPr txBox="1"/>
          <p:nvPr/>
        </p:nvSpPr>
        <p:spPr>
          <a:xfrm>
            <a:off x="294575" y="3959288"/>
            <a:ext cx="2965200" cy="646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Edit your </a:t>
            </a:r>
            <a:r>
              <a:rPr lang="en-ID" sz="1800">
                <a:solidFill>
                  <a:srgbClr val="538CD5"/>
                </a:solidFill>
                <a:latin typeface="Arial"/>
                <a:ea typeface="Arial"/>
                <a:cs typeface="Arial"/>
                <a:sym typeface="Arial"/>
              </a:rPr>
              <a:t>PopMovie</a:t>
            </a:r>
            <a: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class as needed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4" name="Google Shape;224;p11"/>
          <p:cNvCxnSpPr>
            <a:stCxn id="223" idx="3"/>
          </p:cNvCxnSpPr>
          <p:nvPr/>
        </p:nvCxnSpPr>
        <p:spPr>
          <a:xfrm flipH="1" rot="10800000">
            <a:off x="3259775" y="3600638"/>
            <a:ext cx="292800" cy="6819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2"/>
          <p:cNvSpPr txBox="1"/>
          <p:nvPr>
            <p:ph type="title"/>
          </p:nvPr>
        </p:nvSpPr>
        <p:spPr>
          <a:xfrm>
            <a:off x="0" y="0"/>
            <a:ext cx="8229600" cy="576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ct val="100000"/>
              <a:buFont typeface="Arial"/>
              <a:buNone/>
            </a:pPr>
            <a:r>
              <a:rPr b="1" lang="en-ID" sz="3600">
                <a:solidFill>
                  <a:srgbClr val="000090"/>
                </a:solidFill>
              </a:rPr>
              <a:t>Update Runtime</a:t>
            </a:r>
            <a:endParaRPr/>
          </a:p>
        </p:txBody>
      </p:sp>
      <p:cxnSp>
        <p:nvCxnSpPr>
          <p:cNvPr id="230" name="Google Shape;230;p12"/>
          <p:cNvCxnSpPr/>
          <p:nvPr/>
        </p:nvCxnSpPr>
        <p:spPr>
          <a:xfrm>
            <a:off x="0" y="576943"/>
            <a:ext cx="7336971" cy="15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descr="Google's Flutter framework spreads its wings and goes multi-platform |  TechCrunch" id="231" name="Google Shape;231;p12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2"/>
          <p:cNvSpPr/>
          <p:nvPr/>
        </p:nvSpPr>
        <p:spPr>
          <a:xfrm>
            <a:off x="155576" y="1130960"/>
            <a:ext cx="4132154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TextEditingController _runtimeCont = TextEditingController();</a:t>
            </a:r>
            <a:b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2"/>
          <p:cNvSpPr/>
          <p:nvPr/>
        </p:nvSpPr>
        <p:spPr>
          <a:xfrm>
            <a:off x="155575" y="787374"/>
            <a:ext cx="18774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Prepare variable</a:t>
            </a:r>
            <a:endParaRPr/>
          </a:p>
        </p:txBody>
      </p:sp>
      <p:sp>
        <p:nvSpPr>
          <p:cNvPr id="234" name="Google Shape;234;p12"/>
          <p:cNvSpPr/>
          <p:nvPr/>
        </p:nvSpPr>
        <p:spPr>
          <a:xfrm>
            <a:off x="155575" y="1659212"/>
            <a:ext cx="198002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Update bacaData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2"/>
          <p:cNvSpPr/>
          <p:nvPr/>
        </p:nvSpPr>
        <p:spPr>
          <a:xfrm>
            <a:off x="77962" y="2364358"/>
            <a:ext cx="4572000" cy="13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BFBFBF"/>
                </a:solidFill>
                <a:latin typeface="Consolas"/>
                <a:ea typeface="Consolas"/>
                <a:cs typeface="Consolas"/>
                <a:sym typeface="Consolas"/>
              </a:rPr>
              <a:t> setState(()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BFBFBF"/>
                </a:solidFill>
                <a:latin typeface="Consolas"/>
                <a:ea typeface="Consolas"/>
                <a:cs typeface="Consolas"/>
                <a:sym typeface="Consolas"/>
              </a:rPr>
              <a:t>    		_titleCont.text = _pm!.title;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BFBFBF"/>
                </a:solidFill>
                <a:latin typeface="Consolas"/>
                <a:ea typeface="Consolas"/>
                <a:cs typeface="Consolas"/>
                <a:sym typeface="Consolas"/>
              </a:rPr>
              <a:t>        _homepageCont.text = _pm!.homepage;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BFBFBF"/>
                </a:solidFill>
                <a:latin typeface="Consolas"/>
                <a:ea typeface="Consolas"/>
                <a:cs typeface="Consolas"/>
                <a:sym typeface="Consolas"/>
              </a:rPr>
              <a:t>        _overviewCont.text = _pm!.overview;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BFBFBF"/>
                </a:solidFill>
                <a:latin typeface="Consolas"/>
                <a:ea typeface="Consolas"/>
                <a:cs typeface="Consolas"/>
                <a:sym typeface="Consolas"/>
              </a:rPr>
              <a:t>        _releaseDate.text = _pm!.release_date;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BFBFBF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_runtimeCont.text = _pm!.runtime;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BFBFBF"/>
                </a:solidFill>
                <a:latin typeface="Consolas"/>
                <a:ea typeface="Consolas"/>
                <a:cs typeface="Consolas"/>
                <a:sym typeface="Consolas"/>
              </a:rPr>
              <a:t>	});</a:t>
            </a:r>
            <a:endParaRPr/>
          </a:p>
        </p:txBody>
      </p:sp>
      <p:sp>
        <p:nvSpPr>
          <p:cNvPr id="236" name="Google Shape;236;p12"/>
          <p:cNvSpPr/>
          <p:nvPr/>
        </p:nvSpPr>
        <p:spPr>
          <a:xfrm>
            <a:off x="4193242" y="341568"/>
            <a:ext cx="17748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TextFormField :</a:t>
            </a:r>
            <a:endParaRPr/>
          </a:p>
        </p:txBody>
      </p:sp>
      <p:sp>
        <p:nvSpPr>
          <p:cNvPr id="237" name="Google Shape;237;p12"/>
          <p:cNvSpPr/>
          <p:nvPr/>
        </p:nvSpPr>
        <p:spPr>
          <a:xfrm>
            <a:off x="4146666" y="971513"/>
            <a:ext cx="48417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Padding(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  padding: EdgeInsets.all(10),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  child: TextFormField(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  inputFormatters: &lt;TextInputFormatter&gt;[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</a:t>
            </a: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FilteringTextInputFormatter.digitsOnly</a:t>
            </a:r>
            <a:endParaRPr sz="12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  ],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  decoration: const InputDecoration(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  labelText: 'Runtime',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  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  controller: _runtimeCont,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  validator: (value)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  if (value == null || value.isEmpty)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    return 'Runtime harus diisi';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  return null;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  },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)),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3"/>
          <p:cNvSpPr txBox="1"/>
          <p:nvPr>
            <p:ph type="title"/>
          </p:nvPr>
        </p:nvSpPr>
        <p:spPr>
          <a:xfrm>
            <a:off x="0" y="0"/>
            <a:ext cx="8229600" cy="576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ct val="100000"/>
              <a:buFont typeface="Arial"/>
              <a:buNone/>
            </a:pPr>
            <a:r>
              <a:rPr b="1" lang="en-ID" sz="3600">
                <a:solidFill>
                  <a:srgbClr val="000090"/>
                </a:solidFill>
              </a:rPr>
              <a:t>Update URL</a:t>
            </a:r>
            <a:endParaRPr/>
          </a:p>
        </p:txBody>
      </p:sp>
      <p:cxnSp>
        <p:nvCxnSpPr>
          <p:cNvPr id="243" name="Google Shape;243;p13"/>
          <p:cNvCxnSpPr/>
          <p:nvPr/>
        </p:nvCxnSpPr>
        <p:spPr>
          <a:xfrm>
            <a:off x="0" y="576943"/>
            <a:ext cx="7336971" cy="15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descr="Google's Flutter framework spreads its wings and goes multi-platform |  TechCrunch" id="244" name="Google Shape;244;p1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3"/>
          <p:cNvSpPr/>
          <p:nvPr/>
        </p:nvSpPr>
        <p:spPr>
          <a:xfrm>
            <a:off x="155576" y="1130960"/>
            <a:ext cx="3850368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TextEditingController _urlCont = TextEditingController();</a:t>
            </a:r>
            <a:b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3"/>
          <p:cNvSpPr/>
          <p:nvPr/>
        </p:nvSpPr>
        <p:spPr>
          <a:xfrm>
            <a:off x="155575" y="787374"/>
            <a:ext cx="18774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Prepare variable</a:t>
            </a:r>
            <a:endParaRPr/>
          </a:p>
        </p:txBody>
      </p:sp>
      <p:sp>
        <p:nvSpPr>
          <p:cNvPr id="247" name="Google Shape;247;p13"/>
          <p:cNvSpPr/>
          <p:nvPr/>
        </p:nvSpPr>
        <p:spPr>
          <a:xfrm>
            <a:off x="155575" y="1659212"/>
            <a:ext cx="198002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Update bacaData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3"/>
          <p:cNvSpPr/>
          <p:nvPr/>
        </p:nvSpPr>
        <p:spPr>
          <a:xfrm>
            <a:off x="-150396" y="2266490"/>
            <a:ext cx="457200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BFBFBF"/>
                </a:solidFill>
                <a:latin typeface="Consolas"/>
                <a:ea typeface="Consolas"/>
                <a:cs typeface="Consolas"/>
                <a:sym typeface="Consolas"/>
              </a:rPr>
              <a:t> setState(()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BFBFBF"/>
                </a:solidFill>
                <a:latin typeface="Consolas"/>
                <a:ea typeface="Consolas"/>
                <a:cs typeface="Consolas"/>
                <a:sym typeface="Consolas"/>
              </a:rPr>
              <a:t>    		_titleCont.text = _pm!.title;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BFBFBF"/>
                </a:solidFill>
                <a:latin typeface="Consolas"/>
                <a:ea typeface="Consolas"/>
                <a:cs typeface="Consolas"/>
                <a:sym typeface="Consolas"/>
              </a:rPr>
              <a:t>        _homepageCont.text = _pm!.homepage;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BFBFBF"/>
                </a:solidFill>
                <a:latin typeface="Consolas"/>
                <a:ea typeface="Consolas"/>
                <a:cs typeface="Consolas"/>
                <a:sym typeface="Consolas"/>
              </a:rPr>
              <a:t>        _overviewCont.text = _pm!.overview;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BFBFBF"/>
                </a:solidFill>
                <a:latin typeface="Consolas"/>
                <a:ea typeface="Consolas"/>
                <a:cs typeface="Consolas"/>
                <a:sym typeface="Consolas"/>
              </a:rPr>
              <a:t>        _releaseDate.text = _pm!.release_date;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BFBFBF"/>
                </a:solidFill>
                <a:latin typeface="Consolas"/>
                <a:ea typeface="Consolas"/>
                <a:cs typeface="Consolas"/>
                <a:sym typeface="Consolas"/>
              </a:rPr>
              <a:t>        _runtimeCont.text = _pm!.runtime;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_urlCont.text=_pm!.url;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BFBFBF"/>
                </a:solidFill>
                <a:latin typeface="Consolas"/>
                <a:ea typeface="Consolas"/>
                <a:cs typeface="Consolas"/>
                <a:sym typeface="Consolas"/>
              </a:rPr>
              <a:t>   	});</a:t>
            </a:r>
            <a:endParaRPr/>
          </a:p>
        </p:txBody>
      </p:sp>
      <p:sp>
        <p:nvSpPr>
          <p:cNvPr id="249" name="Google Shape;249;p13"/>
          <p:cNvSpPr/>
          <p:nvPr/>
        </p:nvSpPr>
        <p:spPr>
          <a:xfrm>
            <a:off x="4157550" y="318849"/>
            <a:ext cx="17748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TextFormField :</a:t>
            </a:r>
            <a:endParaRPr/>
          </a:p>
        </p:txBody>
      </p:sp>
      <p:sp>
        <p:nvSpPr>
          <p:cNvPr id="250" name="Google Shape;250;p13"/>
          <p:cNvSpPr/>
          <p:nvPr/>
        </p:nvSpPr>
        <p:spPr>
          <a:xfrm>
            <a:off x="4157541" y="965038"/>
            <a:ext cx="4841700" cy="39858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Padding(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	padding: EdgeInsets.all(10),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	child: TextFormField(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	decoration: const InputDecoration(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labelText: 'URL Poster',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	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  onChanged: (value)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    validateImage(value).then((v)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     setState(()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        });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  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    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  },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   controller: _urlCont,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	validator: (value)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if (value == null || !Uri.parse(value).isAbsolute)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	return 'alamat url salah';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return null;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	},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)),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if(_urlCont.text!='') Image.network(_urlCont.text),</a:t>
            </a:r>
            <a:endParaRPr/>
          </a:p>
        </p:txBody>
      </p:sp>
      <p:sp>
        <p:nvSpPr>
          <p:cNvPr id="251" name="Google Shape;251;p13"/>
          <p:cNvSpPr/>
          <p:nvPr/>
        </p:nvSpPr>
        <p:spPr>
          <a:xfrm>
            <a:off x="5669000" y="1691819"/>
            <a:ext cx="1297500" cy="168600"/>
          </a:xfrm>
          <a:prstGeom prst="ellipse">
            <a:avLst/>
          </a:prstGeom>
          <a:noFill/>
          <a:ln cap="flat" cmpd="sng" w="9525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3"/>
          <p:cNvSpPr/>
          <p:nvPr/>
        </p:nvSpPr>
        <p:spPr>
          <a:xfrm>
            <a:off x="7336975" y="2559997"/>
            <a:ext cx="1980000" cy="795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300">
                <a:solidFill>
                  <a:schemeClr val="lt1"/>
                </a:solidFill>
              </a:rPr>
              <a:t>You can copy paste validateImage method from newpopmovie.dart</a:t>
            </a:r>
            <a:endParaRPr sz="13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3" name="Google Shape;253;p13"/>
          <p:cNvCxnSpPr>
            <a:stCxn id="252" idx="1"/>
          </p:cNvCxnSpPr>
          <p:nvPr/>
        </p:nvCxnSpPr>
        <p:spPr>
          <a:xfrm rot="10800000">
            <a:off x="6842575" y="2442247"/>
            <a:ext cx="494400" cy="5157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4"/>
          <p:cNvSpPr txBox="1"/>
          <p:nvPr>
            <p:ph type="title"/>
          </p:nvPr>
        </p:nvSpPr>
        <p:spPr>
          <a:xfrm>
            <a:off x="0" y="0"/>
            <a:ext cx="8229600" cy="576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ct val="100000"/>
              <a:buFont typeface="Arial"/>
              <a:buNone/>
            </a:pPr>
            <a:r>
              <a:rPr b="1" lang="en-ID" sz="3600">
                <a:solidFill>
                  <a:srgbClr val="000090"/>
                </a:solidFill>
              </a:rPr>
              <a:t>The Web service</a:t>
            </a:r>
            <a:endParaRPr/>
          </a:p>
        </p:txBody>
      </p:sp>
      <p:cxnSp>
        <p:nvCxnSpPr>
          <p:cNvPr id="259" name="Google Shape;259;p14"/>
          <p:cNvCxnSpPr/>
          <p:nvPr/>
        </p:nvCxnSpPr>
        <p:spPr>
          <a:xfrm>
            <a:off x="0" y="576943"/>
            <a:ext cx="7336971" cy="15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descr="Google's Flutter framework spreads its wings and goes multi-platform |  TechCrunch" id="260" name="Google Shape;260;p1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4"/>
          <p:cNvSpPr/>
          <p:nvPr/>
        </p:nvSpPr>
        <p:spPr>
          <a:xfrm>
            <a:off x="307975" y="1169769"/>
            <a:ext cx="8429897" cy="2123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extract($_POST);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$sql="UPDATE movie set title=? , overview=?,  runtime=?,release_date=?,homepage=?, url=? where movie_id=?";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$stmt=$conn-&gt;prepare($sql);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$stmt-&gt;bind_param("ssisssi",$title,$overview,$runtime,$release_date,$homepage,$url,$movie_id);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$stmt-&gt;execute();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if ($stmt-&gt;affected_rows &gt; 0)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$arr=["result"=&gt;"success"];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} else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$arr=["result"=&gt;"fail","Error"=&gt;$conn-&gt;error];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echo json_encode($arr);</a:t>
            </a:r>
            <a:endParaRPr/>
          </a:p>
        </p:txBody>
      </p:sp>
      <p:sp>
        <p:nvSpPr>
          <p:cNvPr id="262" name="Google Shape;262;p14"/>
          <p:cNvSpPr/>
          <p:nvPr/>
        </p:nvSpPr>
        <p:spPr>
          <a:xfrm>
            <a:off x="155575" y="787374"/>
            <a:ext cx="195438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updatemovie.php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5"/>
          <p:cNvSpPr txBox="1"/>
          <p:nvPr>
            <p:ph type="title"/>
          </p:nvPr>
        </p:nvSpPr>
        <p:spPr>
          <a:xfrm>
            <a:off x="0" y="0"/>
            <a:ext cx="8229600" cy="576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ct val="100000"/>
              <a:buFont typeface="Arial"/>
              <a:buNone/>
            </a:pPr>
            <a:r>
              <a:rPr b="1" lang="en-ID" sz="3600">
                <a:solidFill>
                  <a:srgbClr val="000090"/>
                </a:solidFill>
              </a:rPr>
              <a:t>Submit</a:t>
            </a:r>
            <a:endParaRPr/>
          </a:p>
        </p:txBody>
      </p:sp>
      <p:cxnSp>
        <p:nvCxnSpPr>
          <p:cNvPr id="268" name="Google Shape;268;p15"/>
          <p:cNvCxnSpPr/>
          <p:nvPr/>
        </p:nvCxnSpPr>
        <p:spPr>
          <a:xfrm>
            <a:off x="0" y="576943"/>
            <a:ext cx="7336971" cy="15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descr="Google's Flutter framework spreads its wings and goes multi-platform |  TechCrunch" id="269" name="Google Shape;269;p15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5"/>
          <p:cNvSpPr/>
          <p:nvPr/>
        </p:nvSpPr>
        <p:spPr>
          <a:xfrm>
            <a:off x="155575" y="1130960"/>
            <a:ext cx="4459968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void submit() async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final response = await http.post(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Uri.parse("https://ubaya.cloud/flutter/[NRP]/updatemovie.php"),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body: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'title': _pm!.title,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'overview': _pm!.overview,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'homepage': _pm!.homepage,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'release_date':_pm!.release_date,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'runtime':_pm!.runtime.toString(),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'url':_urlCont.text,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'movie_id': widget.movieID.toString()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});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if (response.statusCode == 200)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Map json = jsonDecode(response.body);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if (json['result'] == 'success')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if (!mounted) return;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ScaffoldMessenger.of(context)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.showSnackBar(SnackBar(content: Text('Sukses mengubah Data')));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} else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throw Exception('Failed to read API');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9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}</a:t>
            </a:r>
            <a:endParaRPr/>
          </a:p>
        </p:txBody>
      </p:sp>
      <p:sp>
        <p:nvSpPr>
          <p:cNvPr id="271" name="Google Shape;271;p15"/>
          <p:cNvSpPr/>
          <p:nvPr/>
        </p:nvSpPr>
        <p:spPr>
          <a:xfrm>
            <a:off x="155575" y="787374"/>
            <a:ext cx="8229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Prepare the async function..                        And the button</a:t>
            </a:r>
            <a:endParaRPr/>
          </a:p>
        </p:txBody>
      </p:sp>
      <p:sp>
        <p:nvSpPr>
          <p:cNvPr id="272" name="Google Shape;272;p15"/>
          <p:cNvSpPr/>
          <p:nvPr/>
        </p:nvSpPr>
        <p:spPr>
          <a:xfrm>
            <a:off x="4615543" y="1243085"/>
            <a:ext cx="4572000" cy="27084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Padding(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padding: const EdgeInsets.symmetric(vertical: 16.0),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child: ElevatedButton(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onPressed: () {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var state = _formKey.currentState;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if (state == null || !state.validate()) {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ScaffoldMessenger.of(context).showSnackBar(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 SnackBar(content: Text('Harap Isian diperbaiki')));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} else {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submit();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}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},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child: Text('Submit'),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),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D" sz="1000" u="none" cap="none" strike="noStrik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),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6"/>
          <p:cNvSpPr txBox="1"/>
          <p:nvPr>
            <p:ph type="title"/>
          </p:nvPr>
        </p:nvSpPr>
        <p:spPr>
          <a:xfrm>
            <a:off x="3567544" y="2180036"/>
            <a:ext cx="5424055" cy="7525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AE5F1"/>
              </a:buClr>
              <a:buSzPts val="5400"/>
              <a:buFont typeface="Arial"/>
              <a:buNone/>
            </a:pPr>
            <a:r>
              <a:rPr b="1" lang="en-ID" sz="5400">
                <a:solidFill>
                  <a:srgbClr val="DAE5F1"/>
                </a:solidFill>
              </a:rPr>
              <a:t>ADD CHILD DATA</a:t>
            </a:r>
            <a:endParaRPr/>
          </a:p>
        </p:txBody>
      </p:sp>
      <p:sp>
        <p:nvSpPr>
          <p:cNvPr id="278" name="Google Shape;278;p16"/>
          <p:cNvSpPr txBox="1"/>
          <p:nvPr/>
        </p:nvSpPr>
        <p:spPr>
          <a:xfrm>
            <a:off x="1627907" y="2012758"/>
            <a:ext cx="1789545" cy="1391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38CD5"/>
              </a:buClr>
              <a:buSzPts val="8000"/>
              <a:buFont typeface="Arial"/>
              <a:buNone/>
            </a:pPr>
            <a:r>
              <a:rPr b="1" lang="en-ID" sz="8000" cap="none">
                <a:solidFill>
                  <a:srgbClr val="538CD5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3" name="Google Shape;283;p17"/>
          <p:cNvCxnSpPr/>
          <p:nvPr/>
        </p:nvCxnSpPr>
        <p:spPr>
          <a:xfrm>
            <a:off x="0" y="576943"/>
            <a:ext cx="7336971" cy="15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descr="Google's Flutter framework spreads its wings and goes multi-platform |  TechCrunch" id="284" name="Google Shape;284;p17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7"/>
          <p:cNvSpPr txBox="1"/>
          <p:nvPr/>
        </p:nvSpPr>
        <p:spPr>
          <a:xfrm>
            <a:off x="0" y="0"/>
            <a:ext cx="8229600" cy="576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ct val="100000"/>
              <a:buFont typeface="Arial"/>
              <a:buNone/>
            </a:pPr>
            <a:r>
              <a:rPr b="1" lang="en-ID" sz="36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Child data</a:t>
            </a:r>
            <a:endParaRPr/>
          </a:p>
        </p:txBody>
      </p:sp>
      <p:cxnSp>
        <p:nvCxnSpPr>
          <p:cNvPr id="286" name="Google Shape;286;p17"/>
          <p:cNvCxnSpPr/>
          <p:nvPr/>
        </p:nvCxnSpPr>
        <p:spPr>
          <a:xfrm>
            <a:off x="0" y="576943"/>
            <a:ext cx="7336971" cy="15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descr="Google's Flutter framework spreads its wings and goes multi-platform |  TechCrunch" id="287" name="Google Shape;287;p17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7"/>
          <p:cNvSpPr/>
          <p:nvPr/>
        </p:nvSpPr>
        <p:spPr>
          <a:xfrm>
            <a:off x="307975" y="993548"/>
            <a:ext cx="8229600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After editing the movie data, we will continue to store the children data of the movie. We will add the genres in our editing form.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will add a </a:t>
            </a:r>
            <a:r>
              <a:rPr b="1" lang="en-ID" sz="1800">
                <a:solidFill>
                  <a:schemeClr val="dk1"/>
                </a:solidFill>
              </a:rPr>
              <a:t>combobox</a:t>
            </a:r>
            <a: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that is filled with the </a:t>
            </a:r>
            <a:r>
              <a:rPr b="1" lang="en-ID" sz="1800">
                <a:solidFill>
                  <a:schemeClr val="dk1"/>
                </a:solidFill>
              </a:rPr>
              <a:t>genre names</a:t>
            </a:r>
            <a: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When user chooses one of genre in the combo box, our movie will be added with that genre.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3" name="Google Shape;293;p18"/>
          <p:cNvCxnSpPr/>
          <p:nvPr/>
        </p:nvCxnSpPr>
        <p:spPr>
          <a:xfrm>
            <a:off x="0" y="576943"/>
            <a:ext cx="7336971" cy="15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descr="Google's Flutter framework spreads its wings and goes multi-platform |  TechCrunch" id="294" name="Google Shape;294;p18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8"/>
          <p:cNvSpPr txBox="1"/>
          <p:nvPr/>
        </p:nvSpPr>
        <p:spPr>
          <a:xfrm>
            <a:off x="0" y="0"/>
            <a:ext cx="8229600" cy="576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ct val="100000"/>
              <a:buFont typeface="Arial"/>
              <a:buNone/>
            </a:pPr>
            <a:r>
              <a:rPr b="1" lang="en-ID" sz="36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Add the genre info</a:t>
            </a:r>
            <a:endParaRPr/>
          </a:p>
        </p:txBody>
      </p:sp>
      <p:cxnSp>
        <p:nvCxnSpPr>
          <p:cNvPr id="296" name="Google Shape;296;p18"/>
          <p:cNvCxnSpPr/>
          <p:nvPr/>
        </p:nvCxnSpPr>
        <p:spPr>
          <a:xfrm>
            <a:off x="0" y="576943"/>
            <a:ext cx="7336971" cy="15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descr="Google's Flutter framework spreads its wings and goes multi-platform |  TechCrunch" id="297" name="Google Shape;297;p18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8"/>
          <p:cNvSpPr/>
          <p:nvPr/>
        </p:nvSpPr>
        <p:spPr>
          <a:xfrm>
            <a:off x="307975" y="737281"/>
            <a:ext cx="82296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Taken from our detailpop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8"/>
          <p:cNvSpPr/>
          <p:nvPr/>
        </p:nvSpPr>
        <p:spPr>
          <a:xfrm>
            <a:off x="63374" y="1307644"/>
            <a:ext cx="7220166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Padding(padding: EdgeInsets.all(10), child: Text('Genre:')),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if(_pm != null)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Padding(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padding: EdgeInsets.all(10),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child: ListView.builder(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shrinkWrap: true,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itemCount: _pm!.genres!.length ?? 0,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itemBuilder: (BuildContext ctxt, int index)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 return Text(_pm!.genres![index]['genre_name']);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   })),</a:t>
            </a:r>
            <a:endParaRPr/>
          </a:p>
        </p:txBody>
      </p:sp>
      <p:pic>
        <p:nvPicPr>
          <p:cNvPr id="300" name="Google Shape;30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84893" y="558072"/>
            <a:ext cx="2196785" cy="44990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5" name="Google Shape;305;p19"/>
          <p:cNvCxnSpPr/>
          <p:nvPr/>
        </p:nvCxnSpPr>
        <p:spPr>
          <a:xfrm>
            <a:off x="0" y="576943"/>
            <a:ext cx="7336971" cy="15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descr="Google's Flutter framework spreads its wings and goes multi-platform |  TechCrunch" id="306" name="Google Shape;306;p1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9"/>
          <p:cNvSpPr txBox="1"/>
          <p:nvPr/>
        </p:nvSpPr>
        <p:spPr>
          <a:xfrm>
            <a:off x="0" y="0"/>
            <a:ext cx="8229600" cy="576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ct val="100000"/>
              <a:buFont typeface="Arial"/>
              <a:buNone/>
            </a:pPr>
            <a:r>
              <a:rPr b="1" lang="en-ID" sz="36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Web Service genrelist.php</a:t>
            </a:r>
            <a:endParaRPr b="1" sz="3600">
              <a:solidFill>
                <a:srgbClr val="00009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8" name="Google Shape;308;p19"/>
          <p:cNvCxnSpPr/>
          <p:nvPr/>
        </p:nvCxnSpPr>
        <p:spPr>
          <a:xfrm>
            <a:off x="0" y="576943"/>
            <a:ext cx="7336971" cy="15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descr="Google's Flutter framework spreads its wings and goes multi-platform |  TechCrunch" id="309" name="Google Shape;309;p1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9"/>
          <p:cNvSpPr/>
          <p:nvPr/>
        </p:nvSpPr>
        <p:spPr>
          <a:xfrm>
            <a:off x="307975" y="737281"/>
            <a:ext cx="8490968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will just shows genres that not already listed in the movie. Therefore the webservice genrelist will need movie_id parameter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9"/>
          <p:cNvSpPr txBox="1"/>
          <p:nvPr/>
        </p:nvSpPr>
        <p:spPr>
          <a:xfrm>
            <a:off x="783773" y="1454332"/>
            <a:ext cx="72543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$sql = "SELECT *,</a:t>
            </a:r>
            <a:r>
              <a:rPr lang="en-ID" sz="12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genre_name </a:t>
            </a:r>
            <a:r>
              <a:rPr lang="en-ID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en-ID" sz="12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 label,genre_id </a:t>
            </a:r>
            <a:r>
              <a:rPr lang="en-ID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en-ID" sz="1200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ID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endParaRPr sz="12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FROM genre WHERE genre_id NOT IN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(SELECT genre_id FROM movie_genres WHERE movie_id=?)";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$stmt = $conn-&gt;prepare($sql);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$stmt-&gt;bind_param("i", $_POST['movie_id']);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$stmt-&gt;execute();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$result = $stmt-&gt;get_result();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$data = [];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if ($result)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while ($r = $result-&gt;fetch_assoc())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array_push($data, $r);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$arr = ["result" =&gt; "success", "data" =&gt; $data];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} else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$arr = ["result" =&gt; "error", "message" =&gt; "sql error: $sql"];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echo json_encode($arr);</a:t>
            </a:r>
            <a:endParaRPr sz="12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6" name="Google Shape;316;p20"/>
          <p:cNvCxnSpPr/>
          <p:nvPr/>
        </p:nvCxnSpPr>
        <p:spPr>
          <a:xfrm>
            <a:off x="0" y="576943"/>
            <a:ext cx="7336971" cy="15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descr="Google's Flutter framework spreads its wings and goes multi-platform |  TechCrunch" id="317" name="Google Shape;317;p20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20"/>
          <p:cNvSpPr txBox="1"/>
          <p:nvPr>
            <p:ph type="title"/>
          </p:nvPr>
        </p:nvSpPr>
        <p:spPr>
          <a:xfrm>
            <a:off x="0" y="0"/>
            <a:ext cx="8229600" cy="576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ct val="100000"/>
              <a:buFont typeface="Arial"/>
              <a:buNone/>
            </a:pPr>
            <a:r>
              <a:rPr b="1" lang="en-ID" sz="3600">
                <a:solidFill>
                  <a:srgbClr val="000090"/>
                </a:solidFill>
              </a:rPr>
              <a:t>Combo genre </a:t>
            </a:r>
            <a:endParaRPr/>
          </a:p>
        </p:txBody>
      </p:sp>
      <p:cxnSp>
        <p:nvCxnSpPr>
          <p:cNvPr id="319" name="Google Shape;319;p20"/>
          <p:cNvCxnSpPr/>
          <p:nvPr/>
        </p:nvCxnSpPr>
        <p:spPr>
          <a:xfrm>
            <a:off x="0" y="576943"/>
            <a:ext cx="7336971" cy="15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descr="Google's Flutter framework spreads its wings and goes multi-platform |  TechCrunch" id="320" name="Google Shape;320;p20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0"/>
          <p:cNvSpPr/>
          <p:nvPr/>
        </p:nvSpPr>
        <p:spPr>
          <a:xfrm>
            <a:off x="307974" y="1609146"/>
            <a:ext cx="7852513" cy="28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class Genre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int genre_id;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String genre_name;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Genre({required this.genre_id, required this.genre_name});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factory Genre.fromJSON(Map&lt;String, dynamic&gt; json)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return Genre(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genre_id: json["value"],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genre_name: json["label"],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4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2" name="Google Shape;322;p20"/>
          <p:cNvSpPr/>
          <p:nvPr/>
        </p:nvSpPr>
        <p:spPr>
          <a:xfrm>
            <a:off x="247015" y="757057"/>
            <a:ext cx="83396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prepare the class for the genrelist output.  genre.dart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7" name="Google Shape;327;p21"/>
          <p:cNvCxnSpPr/>
          <p:nvPr/>
        </p:nvCxnSpPr>
        <p:spPr>
          <a:xfrm>
            <a:off x="0" y="576943"/>
            <a:ext cx="7336971" cy="15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descr="Google's Flutter framework spreads its wings and goes multi-platform |  TechCrunch" id="328" name="Google Shape;328;p21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21"/>
          <p:cNvSpPr txBox="1"/>
          <p:nvPr>
            <p:ph type="title"/>
          </p:nvPr>
        </p:nvSpPr>
        <p:spPr>
          <a:xfrm>
            <a:off x="0" y="0"/>
            <a:ext cx="8229600" cy="576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ct val="100000"/>
              <a:buFont typeface="Arial"/>
              <a:buNone/>
            </a:pPr>
            <a:r>
              <a:rPr b="1" lang="en-ID" sz="3600">
                <a:solidFill>
                  <a:srgbClr val="000090"/>
                </a:solidFill>
              </a:rPr>
              <a:t>Combo genre (2) </a:t>
            </a:r>
            <a:endParaRPr/>
          </a:p>
        </p:txBody>
      </p:sp>
      <p:cxnSp>
        <p:nvCxnSpPr>
          <p:cNvPr id="330" name="Google Shape;330;p21"/>
          <p:cNvCxnSpPr/>
          <p:nvPr/>
        </p:nvCxnSpPr>
        <p:spPr>
          <a:xfrm>
            <a:off x="0" y="576943"/>
            <a:ext cx="7336971" cy="15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descr="Google's Flutter framework spreads its wings and goes multi-platform |  TechCrunch" id="331" name="Google Shape;331;p21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21"/>
          <p:cNvSpPr/>
          <p:nvPr/>
        </p:nvSpPr>
        <p:spPr>
          <a:xfrm>
            <a:off x="307974" y="1277900"/>
            <a:ext cx="7921625" cy="35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Future&lt;List&gt; daftarGenre() async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Map json;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final response = await http.post(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Uri.parse("https://ubaya.cloud/flutter/[NRP]/genrelist.php"),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body: {'movie_id': widget.movieID.toString()});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if (response.statusCode == 200)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print(response.body);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json = jsonDecode(response.body);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return json['data'];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} else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throw Exception('Failed to read API');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}</a:t>
            </a:r>
            <a:endParaRPr/>
          </a:p>
        </p:txBody>
      </p:sp>
      <p:sp>
        <p:nvSpPr>
          <p:cNvPr id="333" name="Google Shape;333;p21"/>
          <p:cNvSpPr/>
          <p:nvPr/>
        </p:nvSpPr>
        <p:spPr>
          <a:xfrm>
            <a:off x="247015" y="757057"/>
            <a:ext cx="83396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Prepare the web service fetcher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8" name="Google Shape;338;p22"/>
          <p:cNvCxnSpPr/>
          <p:nvPr/>
        </p:nvCxnSpPr>
        <p:spPr>
          <a:xfrm>
            <a:off x="0" y="576943"/>
            <a:ext cx="7336971" cy="15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descr="Google's Flutter framework spreads its wings and goes multi-platform |  TechCrunch" id="339" name="Google Shape;339;p22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22"/>
          <p:cNvSpPr txBox="1"/>
          <p:nvPr>
            <p:ph type="title"/>
          </p:nvPr>
        </p:nvSpPr>
        <p:spPr>
          <a:xfrm>
            <a:off x="0" y="0"/>
            <a:ext cx="8229600" cy="576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ct val="100000"/>
              <a:buFont typeface="Arial"/>
              <a:buNone/>
            </a:pPr>
            <a:r>
              <a:rPr b="1" lang="en-ID" sz="3600">
                <a:solidFill>
                  <a:srgbClr val="000090"/>
                </a:solidFill>
              </a:rPr>
              <a:t>About DropdownButton</a:t>
            </a:r>
            <a:endParaRPr b="1" sz="3600">
              <a:solidFill>
                <a:srgbClr val="000090"/>
              </a:solidFill>
            </a:endParaRPr>
          </a:p>
        </p:txBody>
      </p:sp>
      <p:cxnSp>
        <p:nvCxnSpPr>
          <p:cNvPr id="341" name="Google Shape;341;p22"/>
          <p:cNvCxnSpPr/>
          <p:nvPr/>
        </p:nvCxnSpPr>
        <p:spPr>
          <a:xfrm>
            <a:off x="0" y="576943"/>
            <a:ext cx="7336971" cy="15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descr="Google's Flutter framework spreads its wings and goes multi-platform |  TechCrunch" id="342" name="Google Shape;342;p22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2"/>
          <p:cNvSpPr/>
          <p:nvPr/>
        </p:nvSpPr>
        <p:spPr>
          <a:xfrm>
            <a:off x="247015" y="757057"/>
            <a:ext cx="3288665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About the DropDownButton,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simple structure without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generating the items from list of map: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our case, items will be generated from List of map of genres to become List of DropdownMenuItem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2"/>
          <p:cNvSpPr/>
          <p:nvPr/>
        </p:nvSpPr>
        <p:spPr>
          <a:xfrm>
            <a:off x="3535680" y="757057"/>
            <a:ext cx="5212080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DropdownButton(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     value: _value,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     items: 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      DropdownMenuItem(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       child: Text("First Item"),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       value: 1,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      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      DropdownMenuItem(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       child: Text("Second Item"),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       value: 2,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      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      DropdownMenuItem(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       child: Text("Third Item"),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       value: 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      )       ],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     onChanged: (value)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      setState(()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       _value = value;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      });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  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2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70C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9" name="Google Shape;349;p23"/>
          <p:cNvCxnSpPr/>
          <p:nvPr/>
        </p:nvCxnSpPr>
        <p:spPr>
          <a:xfrm>
            <a:off x="0" y="576943"/>
            <a:ext cx="7336971" cy="15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descr="Google's Flutter framework spreads its wings and goes multi-platform |  TechCrunch" id="350" name="Google Shape;350;p2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23"/>
          <p:cNvSpPr txBox="1"/>
          <p:nvPr>
            <p:ph type="title"/>
          </p:nvPr>
        </p:nvSpPr>
        <p:spPr>
          <a:xfrm>
            <a:off x="0" y="0"/>
            <a:ext cx="8229600" cy="576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ct val="100000"/>
              <a:buFont typeface="Arial"/>
              <a:buNone/>
            </a:pPr>
            <a:r>
              <a:rPr b="1" lang="en-ID" sz="3600">
                <a:solidFill>
                  <a:srgbClr val="000090"/>
                </a:solidFill>
              </a:rPr>
              <a:t>Combo genre (3) </a:t>
            </a:r>
            <a:endParaRPr/>
          </a:p>
        </p:txBody>
      </p:sp>
      <p:cxnSp>
        <p:nvCxnSpPr>
          <p:cNvPr id="352" name="Google Shape;352;p23"/>
          <p:cNvCxnSpPr/>
          <p:nvPr/>
        </p:nvCxnSpPr>
        <p:spPr>
          <a:xfrm>
            <a:off x="0" y="576943"/>
            <a:ext cx="7336971" cy="15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descr="Google's Flutter framework spreads its wings and goes multi-platform |  TechCrunch" id="353" name="Google Shape;353;p2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23"/>
          <p:cNvSpPr/>
          <p:nvPr/>
        </p:nvSpPr>
        <p:spPr>
          <a:xfrm>
            <a:off x="247016" y="1424938"/>
            <a:ext cx="3639336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Widget comboGenre = Text('tambah genre');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/>
          </a:p>
        </p:txBody>
      </p:sp>
      <p:sp>
        <p:nvSpPr>
          <p:cNvPr id="355" name="Google Shape;355;p23"/>
          <p:cNvSpPr/>
          <p:nvPr/>
        </p:nvSpPr>
        <p:spPr>
          <a:xfrm>
            <a:off x="247016" y="757057"/>
            <a:ext cx="363933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Prepare the combo item lists and the widget</a:t>
            </a:r>
            <a:endParaRPr/>
          </a:p>
        </p:txBody>
      </p:sp>
      <p:sp>
        <p:nvSpPr>
          <p:cNvPr id="356" name="Google Shape;356;p23"/>
          <p:cNvSpPr/>
          <p:nvPr/>
        </p:nvSpPr>
        <p:spPr>
          <a:xfrm>
            <a:off x="4572000" y="160338"/>
            <a:ext cx="4572000" cy="4324261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void generateComboGenre()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List&lt;Genre&gt; genres;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var data = daftarGenre();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data.then((value)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genres = List&lt;Genre&gt;.from(value.map((i)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return Genre.fromJSON(i);}));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setState(()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comboGenre = DropdownButton(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dropdownColor: Colors.grey[100],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hint: const Text("tambah genre"),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isDense: false,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items: genres.map((gen)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return DropdownMenuItem(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value: gen.genre_id,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child: Column(children: &lt;Widget&gt;[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Text(gen.genre_name, overflow: TextOverflow.visible),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]),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}).toList(),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onChanged: (value) {});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});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});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}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1" name="Google Shape;361;g3ad00f13b7e_1_28"/>
          <p:cNvCxnSpPr/>
          <p:nvPr/>
        </p:nvCxnSpPr>
        <p:spPr>
          <a:xfrm>
            <a:off x="0" y="576943"/>
            <a:ext cx="7337100" cy="15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</p:cxnSp>
      <p:sp>
        <p:nvSpPr>
          <p:cNvPr descr="Google's Flutter framework spreads its wings and goes multi-platform |  TechCrunch" id="362" name="Google Shape;362;g3ad00f13b7e_1_28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g3ad00f13b7e_1_28"/>
          <p:cNvSpPr txBox="1"/>
          <p:nvPr>
            <p:ph type="title"/>
          </p:nvPr>
        </p:nvSpPr>
        <p:spPr>
          <a:xfrm>
            <a:off x="0" y="0"/>
            <a:ext cx="8229600" cy="5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ct val="100000"/>
              <a:buFont typeface="Arial"/>
              <a:buNone/>
            </a:pPr>
            <a:r>
              <a:rPr b="1" lang="en-ID" sz="3600">
                <a:solidFill>
                  <a:srgbClr val="000090"/>
                </a:solidFill>
              </a:rPr>
              <a:t>Combo genre (3) </a:t>
            </a:r>
            <a:endParaRPr/>
          </a:p>
        </p:txBody>
      </p:sp>
      <p:cxnSp>
        <p:nvCxnSpPr>
          <p:cNvPr id="364" name="Google Shape;364;g3ad00f13b7e_1_28"/>
          <p:cNvCxnSpPr/>
          <p:nvPr/>
        </p:nvCxnSpPr>
        <p:spPr>
          <a:xfrm>
            <a:off x="0" y="576943"/>
            <a:ext cx="7337100" cy="150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</p:cxnSp>
      <p:sp>
        <p:nvSpPr>
          <p:cNvPr descr="Google's Flutter framework spreads its wings and goes multi-platform |  TechCrunch" id="365" name="Google Shape;365;g3ad00f13b7e_1_28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g3ad00f13b7e_1_28"/>
          <p:cNvSpPr/>
          <p:nvPr/>
        </p:nvSpPr>
        <p:spPr>
          <a:xfrm>
            <a:off x="247016" y="757057"/>
            <a:ext cx="36393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dk1"/>
                </a:solidFill>
              </a:rPr>
              <a:t>Call the generateComboGenre() inside bacaData()</a:t>
            </a:r>
            <a:endParaRPr/>
          </a:p>
        </p:txBody>
      </p:sp>
      <p:sp>
        <p:nvSpPr>
          <p:cNvPr id="367" name="Google Shape;367;g3ad00f13b7e_1_28"/>
          <p:cNvSpPr/>
          <p:nvPr/>
        </p:nvSpPr>
        <p:spPr>
          <a:xfrm>
            <a:off x="393875" y="1469171"/>
            <a:ext cx="4572000" cy="28377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bacaData() {</a:t>
            </a:r>
            <a:endParaRPr sz="11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fetchData().then((value) {</a:t>
            </a:r>
            <a:endParaRPr sz="11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Map json = jsonDecode(value);</a:t>
            </a:r>
            <a:endParaRPr sz="11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_pm = PopMovie.fromJson(json['data']);</a:t>
            </a:r>
            <a:endParaRPr sz="11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generateComboGenre();</a:t>
            </a:r>
            <a:endParaRPr b="1" sz="11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setState(() {</a:t>
            </a:r>
            <a:endParaRPr sz="11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_titleCont.text = _pm!.title;</a:t>
            </a:r>
            <a:endParaRPr sz="11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_homepageCont.text = _pm!.homepage;</a:t>
            </a:r>
            <a:endParaRPr sz="11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_overviewCont.text = _pm!.overview;</a:t>
            </a:r>
            <a:endParaRPr sz="11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_releaseDate.text = _pm!.release_date;</a:t>
            </a:r>
            <a:endParaRPr sz="11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_runtimeCont.text = _pm!.runtime;</a:t>
            </a:r>
            <a:endParaRPr sz="11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_urlCont.text = _pm!.url;</a:t>
            </a:r>
            <a:endParaRPr sz="11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});</a:t>
            </a:r>
            <a:endParaRPr sz="11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});</a:t>
            </a:r>
            <a:endParaRPr sz="11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1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8" name="Google Shape;368;g3ad00f13b7e_1_28"/>
          <p:cNvSpPr/>
          <p:nvPr/>
        </p:nvSpPr>
        <p:spPr>
          <a:xfrm>
            <a:off x="502025" y="2117900"/>
            <a:ext cx="370800" cy="34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3" name="Google Shape;373;p24"/>
          <p:cNvCxnSpPr/>
          <p:nvPr/>
        </p:nvCxnSpPr>
        <p:spPr>
          <a:xfrm>
            <a:off x="0" y="576943"/>
            <a:ext cx="7336971" cy="15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descr="Google's Flutter framework spreads its wings and goes multi-platform |  TechCrunch" id="374" name="Google Shape;374;p2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24"/>
          <p:cNvSpPr txBox="1"/>
          <p:nvPr>
            <p:ph type="title"/>
          </p:nvPr>
        </p:nvSpPr>
        <p:spPr>
          <a:xfrm>
            <a:off x="0" y="0"/>
            <a:ext cx="8229600" cy="576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ct val="100000"/>
              <a:buFont typeface="Arial"/>
              <a:buNone/>
            </a:pPr>
            <a:r>
              <a:rPr b="1" lang="en-ID" sz="3600">
                <a:solidFill>
                  <a:srgbClr val="000090"/>
                </a:solidFill>
              </a:rPr>
              <a:t>Combo genre (4) </a:t>
            </a:r>
            <a:endParaRPr/>
          </a:p>
        </p:txBody>
      </p:sp>
      <p:cxnSp>
        <p:nvCxnSpPr>
          <p:cNvPr id="376" name="Google Shape;376;p24"/>
          <p:cNvCxnSpPr/>
          <p:nvPr/>
        </p:nvCxnSpPr>
        <p:spPr>
          <a:xfrm>
            <a:off x="0" y="576943"/>
            <a:ext cx="7336971" cy="15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descr="Google's Flutter framework spreads its wings and goes multi-platform |  TechCrunch" id="377" name="Google Shape;377;p2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24"/>
          <p:cNvSpPr/>
          <p:nvPr/>
        </p:nvSpPr>
        <p:spPr>
          <a:xfrm>
            <a:off x="64135" y="731148"/>
            <a:ext cx="83396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Call generateComboGenre() in bacaData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24"/>
          <p:cNvSpPr/>
          <p:nvPr/>
        </p:nvSpPr>
        <p:spPr>
          <a:xfrm>
            <a:off x="297551" y="1620776"/>
            <a:ext cx="4572000" cy="815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Padding(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padding: const EdgeInsets.symmetric(vertical: 16.0),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1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child: comboGenre),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0" name="Google Shape;380;p24"/>
          <p:cNvSpPr/>
          <p:nvPr/>
        </p:nvSpPr>
        <p:spPr>
          <a:xfrm>
            <a:off x="247015" y="1337078"/>
            <a:ext cx="4572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 the combo below genre list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1" name="Google Shape;38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35062" y="585789"/>
            <a:ext cx="2069838" cy="43922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18587" y="576943"/>
            <a:ext cx="2069838" cy="43922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7" name="Google Shape;387;p25"/>
          <p:cNvCxnSpPr/>
          <p:nvPr/>
        </p:nvCxnSpPr>
        <p:spPr>
          <a:xfrm>
            <a:off x="0" y="576943"/>
            <a:ext cx="7336971" cy="15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descr="Google's Flutter framework spreads its wings and goes multi-platform |  TechCrunch" id="388" name="Google Shape;388;p25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25"/>
          <p:cNvSpPr txBox="1"/>
          <p:nvPr/>
        </p:nvSpPr>
        <p:spPr>
          <a:xfrm>
            <a:off x="0" y="0"/>
            <a:ext cx="8229600" cy="576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ct val="100000"/>
              <a:buFont typeface="Arial"/>
              <a:buNone/>
            </a:pPr>
            <a:r>
              <a:rPr b="1" lang="en-ID" sz="36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Prepare addmoviegenre web service</a:t>
            </a:r>
            <a:endParaRPr/>
          </a:p>
        </p:txBody>
      </p:sp>
      <p:cxnSp>
        <p:nvCxnSpPr>
          <p:cNvPr id="390" name="Google Shape;390;p25"/>
          <p:cNvCxnSpPr/>
          <p:nvPr/>
        </p:nvCxnSpPr>
        <p:spPr>
          <a:xfrm>
            <a:off x="0" y="576943"/>
            <a:ext cx="7336971" cy="15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descr="Google's Flutter framework spreads its wings and goes multi-platform |  TechCrunch" id="391" name="Google Shape;391;p25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25"/>
          <p:cNvSpPr/>
          <p:nvPr/>
        </p:nvSpPr>
        <p:spPr>
          <a:xfrm>
            <a:off x="243840" y="863590"/>
            <a:ext cx="8229600" cy="35702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…..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extract($_POST);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$sql="INSERT INTO movie_genres(movie_id,genre_id)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VALUES(?,?)";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$stmt=$conn-&gt;prepare($sql);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$stmt-&gt;bind_param("dd",$movie_id,$genre_id);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$stmt-&gt;execute();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if ($stmt-&gt;affected_rows &gt; 0)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$arr=["result"=&gt;"success","id"=&gt;$conn-&gt;insert_id];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} else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  $arr=["result"=&gt;"fail","Error"=&gt;$conn-&gt;error];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	echo json_encode($arr);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7" name="Google Shape;397;p26"/>
          <p:cNvCxnSpPr/>
          <p:nvPr/>
        </p:nvCxnSpPr>
        <p:spPr>
          <a:xfrm>
            <a:off x="0" y="576943"/>
            <a:ext cx="7336971" cy="15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descr="Google's Flutter framework spreads its wings and goes multi-platform |  TechCrunch" id="398" name="Google Shape;398;p2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26"/>
          <p:cNvSpPr txBox="1"/>
          <p:nvPr/>
        </p:nvSpPr>
        <p:spPr>
          <a:xfrm>
            <a:off x="0" y="0"/>
            <a:ext cx="8229600" cy="576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 lnSpcReduction="10000"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ct val="100000"/>
              <a:buFont typeface="Arial"/>
              <a:buNone/>
            </a:pPr>
            <a:r>
              <a:rPr b="1" lang="en-ID" sz="3600">
                <a:solidFill>
                  <a:srgbClr val="000090"/>
                </a:solidFill>
                <a:latin typeface="Arial"/>
                <a:ea typeface="Arial"/>
                <a:cs typeface="Arial"/>
                <a:sym typeface="Arial"/>
              </a:rPr>
              <a:t>Save movie genre and reread data</a:t>
            </a:r>
            <a:endParaRPr/>
          </a:p>
        </p:txBody>
      </p:sp>
      <p:cxnSp>
        <p:nvCxnSpPr>
          <p:cNvPr id="400" name="Google Shape;400;p26"/>
          <p:cNvCxnSpPr/>
          <p:nvPr/>
        </p:nvCxnSpPr>
        <p:spPr>
          <a:xfrm>
            <a:off x="0" y="576943"/>
            <a:ext cx="7336971" cy="15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descr="Google's Flutter framework spreads its wings and goes multi-platform |  TechCrunch" id="401" name="Google Shape;401;p2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26"/>
          <p:cNvSpPr/>
          <p:nvPr/>
        </p:nvSpPr>
        <p:spPr>
          <a:xfrm>
            <a:off x="243840" y="863590"/>
            <a:ext cx="8229600" cy="3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Calling web service.                                                     </a:t>
            </a:r>
            <a:r>
              <a:rPr lang="en-ID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onChange </a:t>
            </a:r>
            <a:br>
              <a:rPr lang="en-ID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D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									</a:t>
            </a:r>
            <a:r>
              <a:rPr lang="en-ID" sz="1500">
                <a:solidFill>
                  <a:schemeClr val="dk1"/>
                </a:solidFill>
              </a:rPr>
              <a:t>       </a:t>
            </a:r>
            <a:r>
              <a:rPr lang="en-ID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(gen</a:t>
            </a:r>
            <a:r>
              <a:rPr lang="en-ID" sz="1500">
                <a:solidFill>
                  <a:schemeClr val="dk1"/>
                </a:solidFill>
              </a:rPr>
              <a:t>erateComboGenre)</a:t>
            </a:r>
            <a:r>
              <a:rPr lang="en-ID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void addGenre(genre_id) async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final response = await http.post(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Uri.parse("https://ubaya.cloud/flutter/[NRP]/addmoviegenre.php"),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body: {'genre_id': genre_id.toString(), 'movie_id': widget.movieID.toString()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if (response.statusCode == 200)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print(response.body);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Map json = jsonDecode(response.body);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if (json['result'] == 'success')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ScaffoldMessenger.of(context)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 .showSnackBar(SnackBar(content: Text('Sukses menambah genre')));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setState(()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 bacaData();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 });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} else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throw Exception('Failed to read API');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}</a:t>
            </a:r>
            <a:endParaRPr sz="12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3" name="Google Shape;403;p26"/>
          <p:cNvSpPr/>
          <p:nvPr/>
        </p:nvSpPr>
        <p:spPr>
          <a:xfrm>
            <a:off x="5547006" y="960806"/>
            <a:ext cx="34965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ID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         </a:t>
            </a:r>
            <a:r>
              <a:rPr lang="en-ID" sz="1800">
                <a:solidFill>
                  <a:srgbClr val="BFBFBF"/>
                </a:solidFill>
                <a:latin typeface="Consolas"/>
                <a:ea typeface="Consolas"/>
                <a:cs typeface="Consolas"/>
                <a:sym typeface="Consolas"/>
              </a:rPr>
              <a:t>onChanged: (value)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rgbClr val="BFBFBF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ID" sz="1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addGenre(value);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rgbClr val="BFBFBF"/>
                </a:solidFill>
                <a:latin typeface="Consolas"/>
                <a:ea typeface="Consolas"/>
                <a:cs typeface="Consolas"/>
                <a:sym typeface="Consolas"/>
              </a:rPr>
              <a:t>     });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7"/>
          <p:cNvSpPr txBox="1"/>
          <p:nvPr>
            <p:ph type="title"/>
          </p:nvPr>
        </p:nvSpPr>
        <p:spPr>
          <a:xfrm>
            <a:off x="3567544" y="2180036"/>
            <a:ext cx="5424055" cy="7525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AE5F1"/>
              </a:buClr>
              <a:buSzPts val="5400"/>
              <a:buFont typeface="Arial"/>
              <a:buNone/>
            </a:pPr>
            <a:r>
              <a:rPr b="1" lang="en-ID" sz="5400">
                <a:solidFill>
                  <a:srgbClr val="DAE5F1"/>
                </a:solidFill>
              </a:rPr>
              <a:t>EXERCISE</a:t>
            </a:r>
            <a:endParaRPr/>
          </a:p>
        </p:txBody>
      </p:sp>
      <p:sp>
        <p:nvSpPr>
          <p:cNvPr id="409" name="Google Shape;409;p27"/>
          <p:cNvSpPr txBox="1"/>
          <p:nvPr/>
        </p:nvSpPr>
        <p:spPr>
          <a:xfrm>
            <a:off x="1627907" y="2012758"/>
            <a:ext cx="1789545" cy="13911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38CD5"/>
              </a:buClr>
              <a:buSzPts val="8000"/>
              <a:buFont typeface="Arial"/>
              <a:buNone/>
            </a:pPr>
            <a:r>
              <a:rPr b="1" lang="en-ID" sz="8000" cap="none">
                <a:solidFill>
                  <a:srgbClr val="538CD5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8"/>
          <p:cNvSpPr txBox="1"/>
          <p:nvPr>
            <p:ph type="title"/>
          </p:nvPr>
        </p:nvSpPr>
        <p:spPr>
          <a:xfrm>
            <a:off x="0" y="0"/>
            <a:ext cx="8229600" cy="576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ct val="100000"/>
              <a:buFont typeface="Arial"/>
              <a:buNone/>
            </a:pPr>
            <a:r>
              <a:rPr b="1" lang="en-ID" sz="3600">
                <a:solidFill>
                  <a:srgbClr val="000090"/>
                </a:solidFill>
              </a:rPr>
              <a:t>Exercise</a:t>
            </a:r>
            <a:endParaRPr/>
          </a:p>
        </p:txBody>
      </p:sp>
      <p:cxnSp>
        <p:nvCxnSpPr>
          <p:cNvPr id="415" name="Google Shape;415;p28"/>
          <p:cNvCxnSpPr/>
          <p:nvPr/>
        </p:nvCxnSpPr>
        <p:spPr>
          <a:xfrm>
            <a:off x="0" y="576943"/>
            <a:ext cx="7336971" cy="1588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descr="Google's Flutter framework spreads its wings and goes multi-platform |  TechCrunch" id="416" name="Google Shape;416;p28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blob:https://web.whatsapp.com/4be9237d-cfc1-462e-ba51-978e9348df04" id="417" name="Google Shape;417;p28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28"/>
          <p:cNvSpPr/>
          <p:nvPr/>
        </p:nvSpPr>
        <p:spPr>
          <a:xfrm>
            <a:off x="460375" y="831273"/>
            <a:ext cx="8374867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 webservice to delete a certain genre in the movie  (parameter: movie_id and genre_id).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 an X button in each genre in the movie. When user click the button call above web service and re read the data.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Upload your</a:t>
            </a:r>
            <a:r>
              <a:rPr lang="en-ID" sz="2000">
                <a:solidFill>
                  <a:schemeClr val="dk1"/>
                </a:solidFill>
              </a:rPr>
              <a:t> lib folder</a:t>
            </a:r>
            <a:r>
              <a:rPr lang="en-ID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ULS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lue-man-Questions-Comments" id="423" name="Google Shape;423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8657" y="547551"/>
            <a:ext cx="4474288" cy="4624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formatik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2010-04-12T23:12:02Z</dcterms:created>
  <dc:creator>Diana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0x0101000DE64AEEDD9B7A4D93545ACBE97D4615</vt:lpwstr>
  </property>
</Properties>
</file>