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Helvetica Neue"/>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4" roundtripDataSignature="AMtx7mgyLbH2i/NafVKJjl3SOT3Ewpjx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73" name="Google Shape;27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7"/>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4" name="Google Shape;24;p2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2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29"/>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p:nvPr>
            <p:ph idx="2" type="pic"/>
          </p:nvPr>
        </p:nvSpPr>
        <p:spPr>
          <a:xfrm>
            <a:off x="1792288" y="459581"/>
            <a:ext cx="5486400" cy="3086100"/>
          </a:xfrm>
          <a:prstGeom prst="rect">
            <a:avLst/>
          </a:prstGeom>
          <a:noFill/>
          <a:ln>
            <a:noFill/>
          </a:ln>
        </p:spPr>
      </p:sp>
      <p:sp>
        <p:nvSpPr>
          <p:cNvPr id="36" name="Google Shape;36;p29"/>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0"/>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1"/>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1"/>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1"/>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1"/>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4"/>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34"/>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5"/>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6"/>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6.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5.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14.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5.jp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799" y="1935264"/>
            <a:ext cx="8162926"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6000"/>
              <a:buFont typeface="Arial"/>
              <a:buNone/>
            </a:pPr>
            <a:r>
              <a:rPr lang="en-ID" sz="6000">
                <a:solidFill>
                  <a:schemeClr val="lt1"/>
                </a:solidFill>
              </a:rPr>
              <a:t>Timer and Indicators</a:t>
            </a:r>
            <a:endParaRPr b="1" sz="6000">
              <a:solidFill>
                <a:schemeClr val="lt1"/>
              </a:solidFill>
            </a:endParaRPr>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5</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000"/>
              <a:buFont typeface="Arial"/>
              <a:buNone/>
            </a:pPr>
            <a:r>
              <a:rPr b="0" i="0" lang="en-ID" sz="20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b="1" lang="en-ID" sz="6000">
                <a:solidFill>
                  <a:srgbClr val="DAE5F1"/>
                </a:solidFill>
              </a:rPr>
              <a:t>SIMPLE TIMER</a:t>
            </a:r>
            <a:endParaRPr/>
          </a:p>
        </p:txBody>
      </p:sp>
      <p:sp>
        <p:nvSpPr>
          <p:cNvPr id="96" name="Google Shape;96;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Timer</a:t>
            </a:r>
            <a:endParaRPr/>
          </a:p>
        </p:txBody>
      </p:sp>
      <p:cxnSp>
        <p:nvCxnSpPr>
          <p:cNvPr id="102" name="Google Shape;102;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03" name="Google Shape;103;p3"/>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ID" sz="2400">
                <a:latin typeface="Calibri"/>
                <a:ea typeface="Calibri"/>
                <a:cs typeface="Calibri"/>
                <a:sym typeface="Calibri"/>
              </a:rPr>
              <a:t>Some kind of clock to measure time intervals</a:t>
            </a:r>
            <a:endParaRPr/>
          </a:p>
          <a:p>
            <a:pPr indent="-342900" lvl="0" marL="342900" rtl="0" algn="l">
              <a:spcBef>
                <a:spcPts val="480"/>
              </a:spcBef>
              <a:spcAft>
                <a:spcPts val="0"/>
              </a:spcAft>
              <a:buClr>
                <a:schemeClr val="dk1"/>
              </a:buClr>
              <a:buSzPts val="2400"/>
              <a:buChar char="•"/>
            </a:pPr>
            <a:r>
              <a:rPr lang="en-ID" sz="2400">
                <a:latin typeface="Calibri"/>
                <a:ea typeface="Calibri"/>
                <a:cs typeface="Calibri"/>
                <a:sym typeface="Calibri"/>
              </a:rPr>
              <a:t>Two types:</a:t>
            </a:r>
            <a:endParaRPr/>
          </a:p>
          <a:p>
            <a:pPr indent="-285750" lvl="1" marL="742950" rtl="0" algn="l">
              <a:spcBef>
                <a:spcPts val="400"/>
              </a:spcBef>
              <a:spcAft>
                <a:spcPts val="0"/>
              </a:spcAft>
              <a:buClr>
                <a:schemeClr val="dk1"/>
              </a:buClr>
              <a:buSzPts val="2000"/>
              <a:buChar char="–"/>
            </a:pPr>
            <a:r>
              <a:rPr lang="en-ID" sz="2000">
                <a:latin typeface="Calibri"/>
                <a:ea typeface="Calibri"/>
                <a:cs typeface="Calibri"/>
                <a:sym typeface="Calibri"/>
              </a:rPr>
              <a:t>Stopwatch: count upwards from 0 to measure elapsed time</a:t>
            </a:r>
            <a:endParaRPr/>
          </a:p>
          <a:p>
            <a:pPr indent="-285750" lvl="1" marL="742950" rtl="0" algn="l">
              <a:spcBef>
                <a:spcPts val="400"/>
              </a:spcBef>
              <a:spcAft>
                <a:spcPts val="0"/>
              </a:spcAft>
              <a:buClr>
                <a:schemeClr val="dk1"/>
              </a:buClr>
              <a:buSzPts val="2000"/>
              <a:buChar char="–"/>
            </a:pPr>
            <a:r>
              <a:rPr lang="en-ID" sz="2000">
                <a:latin typeface="Calibri"/>
                <a:ea typeface="Calibri"/>
                <a:cs typeface="Calibri"/>
                <a:sym typeface="Calibri"/>
              </a:rPr>
              <a:t>Timer: counts down from a specified time</a:t>
            </a:r>
            <a:endParaRPr/>
          </a:p>
        </p:txBody>
      </p:sp>
      <p:sp>
        <p:nvSpPr>
          <p:cNvPr descr="Google's Flutter framework spreads its wings and goes multi-platform |  TechCrunch" id="104" name="Google Shape;104;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Preparation</a:t>
            </a:r>
            <a:endParaRPr/>
          </a:p>
        </p:txBody>
      </p:sp>
      <p:cxnSp>
        <p:nvCxnSpPr>
          <p:cNvPr id="110" name="Google Shape;110;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11" name="Google Shape;111;p4"/>
          <p:cNvSpPr txBox="1"/>
          <p:nvPr>
            <p:ph idx="1" type="body"/>
          </p:nvPr>
        </p:nvSpPr>
        <p:spPr>
          <a:xfrm>
            <a:off x="460375" y="817125"/>
            <a:ext cx="3412800" cy="396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We will implement timer in a simple Quiz screen. The screen will interact with user and dynamically changing. Therefore, we make it as a </a:t>
            </a:r>
            <a:r>
              <a:rPr b="1" lang="en-ID" sz="1800">
                <a:latin typeface="Calibri"/>
                <a:ea typeface="Calibri"/>
                <a:cs typeface="Calibri"/>
                <a:sym typeface="Calibri"/>
              </a:rPr>
              <a:t>stateful</a:t>
            </a:r>
            <a:r>
              <a:rPr lang="en-ID" sz="1800">
                <a:latin typeface="Calibri"/>
                <a:ea typeface="Calibri"/>
                <a:cs typeface="Calibri"/>
                <a:sym typeface="Calibri"/>
              </a:rPr>
              <a:t> widget. Add a menu in drawer to open it.</a:t>
            </a:r>
            <a:endParaRPr/>
          </a:p>
          <a:p>
            <a:pPr indent="-342900" lvl="0" marL="342900" rtl="0" algn="l">
              <a:spcBef>
                <a:spcPts val="320"/>
              </a:spcBef>
              <a:spcAft>
                <a:spcPts val="0"/>
              </a:spcAft>
              <a:buClr>
                <a:schemeClr val="dk1"/>
              </a:buClr>
              <a:buSzPts val="1600"/>
              <a:buNone/>
            </a:pPr>
            <a:r>
              <a:t/>
            </a:r>
            <a:endParaRPr sz="1600">
              <a:solidFill>
                <a:srgbClr val="0070C0"/>
              </a:solidFill>
            </a:endParaRPr>
          </a:p>
        </p:txBody>
      </p:sp>
      <p:sp>
        <p:nvSpPr>
          <p:cNvPr descr="Google's Flutter framework spreads its wings and goes multi-platform |  TechCrunch" id="112" name="Google Shape;112;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4"/>
          <p:cNvSpPr txBox="1"/>
          <p:nvPr/>
        </p:nvSpPr>
        <p:spPr>
          <a:xfrm>
            <a:off x="4338049" y="158933"/>
            <a:ext cx="4650300" cy="45252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900">
                <a:solidFill>
                  <a:srgbClr val="FF0000"/>
                </a:solidFill>
                <a:latin typeface="Consolas"/>
                <a:ea typeface="Consolas"/>
                <a:cs typeface="Consolas"/>
                <a:sym typeface="Consolas"/>
              </a:rPr>
              <a:t>import 'package:flutter/material.dart';</a:t>
            </a:r>
            <a:endParaRPr>
              <a:latin typeface="Consolas"/>
              <a:ea typeface="Consolas"/>
              <a:cs typeface="Consolas"/>
              <a:sym typeface="Consolas"/>
            </a:endParaRPr>
          </a:p>
          <a:p>
            <a:pPr indent="0" lvl="0" marL="0" marR="0" rtl="0" algn="l">
              <a:spcBef>
                <a:spcPts val="0"/>
              </a:spcBef>
              <a:spcAft>
                <a:spcPts val="0"/>
              </a:spcAft>
              <a:buNone/>
            </a:pPr>
            <a:r>
              <a:t/>
            </a:r>
            <a:endParaRPr sz="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class Quiz extends StatefulWidget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const Quiz({super.key});</a:t>
            </a:r>
            <a:endParaRPr>
              <a:latin typeface="Consolas"/>
              <a:ea typeface="Consolas"/>
              <a:cs typeface="Consolas"/>
              <a:sym typeface="Consolas"/>
            </a:endParaRPr>
          </a:p>
          <a:p>
            <a:pPr indent="0" lvl="0" marL="0" marR="0" rtl="0" algn="l">
              <a:spcBef>
                <a:spcPts val="0"/>
              </a:spcBef>
              <a:spcAft>
                <a:spcPts val="0"/>
              </a:spcAft>
              <a:buNone/>
            </a:pPr>
            <a:r>
              <a:t/>
            </a:r>
            <a:endParaRPr sz="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@override</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State&lt;StatefulWidget&gt; createState()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return _QuizState();</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t/>
            </a:r>
            <a:endParaRPr sz="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class _QuizState extends State&lt;Quiz&gt;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int _hitung = 0;</a:t>
            </a:r>
            <a:endParaRPr>
              <a:latin typeface="Consolas"/>
              <a:ea typeface="Consolas"/>
              <a:cs typeface="Consolas"/>
              <a:sym typeface="Consolas"/>
            </a:endParaRPr>
          </a:p>
          <a:p>
            <a:pPr indent="0" lvl="0" marL="0" marR="0" rtl="0" algn="l">
              <a:spcBef>
                <a:spcPts val="0"/>
              </a:spcBef>
              <a:spcAft>
                <a:spcPts val="0"/>
              </a:spcAft>
              <a:buNone/>
            </a:pPr>
            <a:r>
              <a:t/>
            </a:r>
            <a:endParaRPr sz="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@override</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Widget build(BuildContext context)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return Scaffold(</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appBar: AppBar(</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title: const Text('Quiz'),</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body: Center(</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child: Column(children: &lt;Widget&gt;[</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Text(_hitung.toString(),</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style: const TextStyle(</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fontSize: 24,</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t/>
            </a:r>
            <a:endParaRPr sz="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900">
                <a:solidFill>
                  <a:srgbClr val="FF0000"/>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Create Timer</a:t>
            </a:r>
            <a:endParaRPr/>
          </a:p>
        </p:txBody>
      </p:sp>
      <p:cxnSp>
        <p:nvCxnSpPr>
          <p:cNvPr id="119" name="Google Shape;119;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20" name="Google Shape;120;p5"/>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lang="en-ID" sz="1800"/>
              <a:t>Timer need import 'dart:async’;</a:t>
            </a:r>
            <a:endParaRPr/>
          </a:p>
          <a:p>
            <a:pPr indent="0" lvl="0" marL="0" rtl="0" algn="l">
              <a:spcBef>
                <a:spcPts val="220"/>
              </a:spcBef>
              <a:spcAft>
                <a:spcPts val="0"/>
              </a:spcAft>
              <a:buClr>
                <a:srgbClr val="FF0000"/>
              </a:buClr>
              <a:buSzPts val="1100"/>
              <a:buNone/>
            </a:pPr>
            <a:r>
              <a:rPr b="1" lang="en-ID" sz="1100">
                <a:solidFill>
                  <a:srgbClr val="FF0000"/>
                </a:solidFill>
                <a:latin typeface="Consolas"/>
                <a:ea typeface="Consolas"/>
                <a:cs typeface="Consolas"/>
                <a:sym typeface="Consolas"/>
              </a:rPr>
              <a:t>import 'dart:async’;</a:t>
            </a:r>
            <a:endParaRPr b="1"/>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late Timer _timer; // add “late” to initialize it later in initState() @override</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void initState()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super.initState();</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_timer = Timer.periodic(Duration(milliseconds: 1000), (timer)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setState(()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_hitung++;</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spcBef>
                <a:spcPts val="220"/>
              </a:spcBef>
              <a:spcAft>
                <a:spcPts val="0"/>
              </a:spcAft>
              <a:buClr>
                <a:schemeClr val="dk1"/>
              </a:buClr>
              <a:buSzPts val="1100"/>
              <a:buNone/>
            </a:pPr>
            <a:r>
              <a:t/>
            </a:r>
            <a:endParaRPr sz="1100">
              <a:solidFill>
                <a:srgbClr val="FF0000"/>
              </a:solidFill>
              <a:latin typeface="Consolas"/>
              <a:ea typeface="Consolas"/>
              <a:cs typeface="Consolas"/>
              <a:sym typeface="Consolas"/>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@override</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void dispose()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_timer.cancel();</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_hitung = 0;</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super.dispose();</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p:txBody>
      </p:sp>
      <p:sp>
        <p:nvSpPr>
          <p:cNvPr descr="Google's Flutter framework spreads its wings and goes multi-platform |  TechCrunch" id="121" name="Google Shape;121;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5"/>
          <p:cNvSpPr/>
          <p:nvPr/>
        </p:nvSpPr>
        <p:spPr>
          <a:xfrm>
            <a:off x="4445775" y="2416838"/>
            <a:ext cx="2629800" cy="76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ID"/>
              <a:t>Timer jalan perdetik / 1000 milliseconds</a:t>
            </a:r>
            <a:endParaRPr/>
          </a:p>
        </p:txBody>
      </p:sp>
      <p:sp>
        <p:nvSpPr>
          <p:cNvPr id="123" name="Google Shape;123;p5"/>
          <p:cNvSpPr/>
          <p:nvPr/>
        </p:nvSpPr>
        <p:spPr>
          <a:xfrm>
            <a:off x="2630225" y="3785800"/>
            <a:ext cx="3202200" cy="76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ID"/>
              <a:t>Timer dimatikan jika state ditutup/destroy/dispose biar penggunaan memori lebih efisien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Stop and Start button</a:t>
            </a:r>
            <a:endParaRPr/>
          </a:p>
        </p:txBody>
      </p:sp>
      <p:cxnSp>
        <p:nvCxnSpPr>
          <p:cNvPr id="129" name="Google Shape;129;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30" name="Google Shape;130;p6"/>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lang="en-ID" sz="1800"/>
              <a:t>To Stop timer you can use:</a:t>
            </a:r>
            <a:endParaRPr/>
          </a:p>
          <a:p>
            <a:pPr indent="0" lvl="0" marL="0" rtl="0" algn="l">
              <a:spcBef>
                <a:spcPts val="480"/>
              </a:spcBef>
              <a:spcAft>
                <a:spcPts val="0"/>
              </a:spcAft>
              <a:buClr>
                <a:srgbClr val="FF0000"/>
              </a:buClr>
              <a:buSzPts val="2400"/>
              <a:buNone/>
            </a:pPr>
            <a:r>
              <a:rPr lang="en-ID" sz="2400">
                <a:solidFill>
                  <a:srgbClr val="FF0000"/>
                </a:solidFill>
                <a:latin typeface="Consolas"/>
                <a:ea typeface="Consolas"/>
                <a:cs typeface="Consolas"/>
                <a:sym typeface="Consolas"/>
              </a:rPr>
              <a:t>_timer.cancel();</a:t>
            </a:r>
            <a:endParaRPr/>
          </a:p>
          <a:p>
            <a:pPr indent="0" lvl="0" marL="0" rtl="0" algn="l">
              <a:spcBef>
                <a:spcPts val="220"/>
              </a:spcBef>
              <a:spcAft>
                <a:spcPts val="0"/>
              </a:spcAft>
              <a:buClr>
                <a:schemeClr val="dk1"/>
              </a:buClr>
              <a:buSzPts val="1100"/>
              <a:buNone/>
            </a:pPr>
            <a:r>
              <a:t/>
            </a:r>
            <a:endParaRPr sz="1100">
              <a:solidFill>
                <a:srgbClr val="FF0000"/>
              </a:solidFill>
            </a:endParaRPr>
          </a:p>
          <a:p>
            <a:pPr indent="-342900" lvl="0" marL="342900" rtl="0" algn="l">
              <a:spcBef>
                <a:spcPts val="320"/>
              </a:spcBef>
              <a:spcAft>
                <a:spcPts val="0"/>
              </a:spcAft>
              <a:buClr>
                <a:schemeClr val="dk1"/>
              </a:buClr>
              <a:buSzPts val="1600"/>
              <a:buFont typeface="Arial"/>
              <a:buChar char="-"/>
            </a:pPr>
            <a:r>
              <a:rPr lang="en-ID" sz="1600"/>
              <a:t>Can you add stop button to stop the timer?</a:t>
            </a:r>
            <a:endParaRPr/>
          </a:p>
          <a:p>
            <a:pPr indent="-342900" lvl="0" marL="342900" rtl="0" algn="l">
              <a:spcBef>
                <a:spcPts val="320"/>
              </a:spcBef>
              <a:spcAft>
                <a:spcPts val="0"/>
              </a:spcAft>
              <a:buClr>
                <a:schemeClr val="dk1"/>
              </a:buClr>
              <a:buSzPts val="1600"/>
              <a:buFont typeface="Arial"/>
              <a:buChar char="-"/>
            </a:pPr>
            <a:r>
              <a:rPr lang="en-ID" sz="1600"/>
              <a:t>Can you add start button to start again the timer?</a:t>
            </a:r>
            <a:endParaRPr/>
          </a:p>
          <a:p>
            <a:pPr indent="-342900" lvl="0" marL="342900" rtl="0" algn="l">
              <a:spcBef>
                <a:spcPts val="320"/>
              </a:spcBef>
              <a:spcAft>
                <a:spcPts val="0"/>
              </a:spcAft>
              <a:buClr>
                <a:schemeClr val="dk1"/>
              </a:buClr>
              <a:buSzPts val="1600"/>
              <a:buFont typeface="Arial"/>
              <a:buChar char="-"/>
            </a:pPr>
            <a:r>
              <a:rPr lang="en-ID" sz="1600"/>
              <a:t>Can you make those above button replacing each other?</a:t>
            </a:r>
            <a:endParaRPr/>
          </a:p>
          <a:p>
            <a:pPr indent="-285750" lvl="1" marL="742950" rtl="0" algn="l">
              <a:spcBef>
                <a:spcPts val="240"/>
              </a:spcBef>
              <a:spcAft>
                <a:spcPts val="0"/>
              </a:spcAft>
              <a:buClr>
                <a:schemeClr val="dk1"/>
              </a:buClr>
              <a:buSzPts val="1200"/>
              <a:buFont typeface="Arial"/>
              <a:buChar char="-"/>
            </a:pPr>
            <a:r>
              <a:rPr lang="en-ID" sz="1200"/>
              <a:t>Hint :  use ? and : syntax   🡪 Condition ? When true : when false</a:t>
            </a:r>
            <a:endParaRPr/>
          </a:p>
        </p:txBody>
      </p:sp>
      <p:sp>
        <p:nvSpPr>
          <p:cNvPr descr="Google's Flutter framework spreads its wings and goes multi-platform |  TechCrunch" id="131" name="Google Shape;131;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32" name="Google Shape;132;p6"/>
          <p:cNvPicPr preferRelativeResize="0"/>
          <p:nvPr/>
        </p:nvPicPr>
        <p:blipFill rotWithShape="1">
          <a:blip r:embed="rId4">
            <a:alphaModFix/>
          </a:blip>
          <a:srcRect b="0" l="0" r="0" t="0"/>
          <a:stretch/>
        </p:blipFill>
        <p:spPr>
          <a:xfrm>
            <a:off x="1201783" y="3383948"/>
            <a:ext cx="2638697" cy="1401808"/>
          </a:xfrm>
          <a:prstGeom prst="rect">
            <a:avLst/>
          </a:prstGeom>
          <a:noFill/>
          <a:ln>
            <a:noFill/>
          </a:ln>
        </p:spPr>
      </p:pic>
      <p:pic>
        <p:nvPicPr>
          <p:cNvPr id="133" name="Google Shape;133;p6"/>
          <p:cNvPicPr preferRelativeResize="0"/>
          <p:nvPr/>
        </p:nvPicPr>
        <p:blipFill rotWithShape="1">
          <a:blip r:embed="rId5">
            <a:alphaModFix/>
          </a:blip>
          <a:srcRect b="0" l="0" r="0" t="0"/>
          <a:stretch/>
        </p:blipFill>
        <p:spPr>
          <a:xfrm>
            <a:off x="4114800" y="3383948"/>
            <a:ext cx="2638697" cy="1401808"/>
          </a:xfrm>
          <a:prstGeom prst="rect">
            <a:avLst/>
          </a:prstGeom>
          <a:noFill/>
          <a:ln>
            <a:noFill/>
          </a:ln>
        </p:spPr>
      </p:pic>
      <p:sp>
        <p:nvSpPr>
          <p:cNvPr id="134" name="Google Shape;134;p6"/>
          <p:cNvSpPr/>
          <p:nvPr/>
        </p:nvSpPr>
        <p:spPr>
          <a:xfrm>
            <a:off x="6225875" y="817113"/>
            <a:ext cx="2629800" cy="76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ID"/>
              <a:t>Don't</a:t>
            </a:r>
            <a:r>
              <a:rPr lang="en-ID"/>
              <a:t> forget to add menu in drawer to access this quiz screen (main.dart)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38" name="Shape 138"/>
        <p:cNvGrpSpPr/>
        <p:nvPr/>
      </p:nvGrpSpPr>
      <p:grpSpPr>
        <a:xfrm>
          <a:off x="0" y="0"/>
          <a:ext cx="0" cy="0"/>
          <a:chOff x="0" y="0"/>
          <a:chExt cx="0" cy="0"/>
        </a:xfrm>
      </p:grpSpPr>
      <p:sp>
        <p:nvSpPr>
          <p:cNvPr id="139" name="Google Shape;139;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Solution</a:t>
            </a:r>
            <a:endParaRPr/>
          </a:p>
        </p:txBody>
      </p:sp>
      <p:cxnSp>
        <p:nvCxnSpPr>
          <p:cNvPr id="140" name="Google Shape;140;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41" name="Google Shape;141;p7"/>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1400"/>
              <a:buNone/>
            </a:pPr>
            <a:r>
              <a:rPr lang="en-ID" sz="1400">
                <a:solidFill>
                  <a:srgbClr val="FF0000"/>
                </a:solidFill>
                <a:latin typeface="Consolas"/>
                <a:ea typeface="Consolas"/>
                <a:cs typeface="Consolas"/>
                <a:sym typeface="Consolas"/>
              </a:rPr>
              <a:t> 		ElevatedButton(</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onPressed: ()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setState(()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_timer.isActive ? _timer.cancel() : startTimer();</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child: Text(_timer.isActive ? "Stop" : "Start")</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p:txBody>
      </p:sp>
      <p:sp>
        <p:nvSpPr>
          <p:cNvPr descr="Google's Flutter framework spreads its wings and goes multi-platform |  TechCrunch" id="142" name="Google Shape;142;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 name="Shape 146"/>
        <p:cNvGrpSpPr/>
        <p:nvPr/>
      </p:nvGrpSpPr>
      <p:grpSpPr>
        <a:xfrm>
          <a:off x="0" y="0"/>
          <a:ext cx="0" cy="0"/>
          <a:chOff x="0" y="0"/>
          <a:chExt cx="0" cy="0"/>
        </a:xfrm>
      </p:grpSpPr>
      <p:sp>
        <p:nvSpPr>
          <p:cNvPr id="147" name="Google Shape;147;p8"/>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COUNT</a:t>
            </a:r>
            <a:r>
              <a:rPr b="1" lang="en-ID" sz="5400">
                <a:solidFill>
                  <a:srgbClr val="DAE5F1"/>
                </a:solidFill>
              </a:rPr>
              <a:t>DOWN TIMER</a:t>
            </a:r>
            <a:endParaRPr/>
          </a:p>
        </p:txBody>
      </p:sp>
      <p:sp>
        <p:nvSpPr>
          <p:cNvPr id="148" name="Google Shape;148;p8"/>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descr="Google's Flutter framework spreads its wings and goes multi-platform |  TechCrunch" id="153" name="Google Shape;153;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9"/>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Countdown timer</a:t>
            </a:r>
            <a:endParaRPr/>
          </a:p>
        </p:txBody>
      </p:sp>
      <p:cxnSp>
        <p:nvCxnSpPr>
          <p:cNvPr id="155" name="Google Shape;155;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56" name="Google Shape;156;p9"/>
          <p:cNvSpPr txBox="1"/>
          <p:nvPr/>
        </p:nvSpPr>
        <p:spPr>
          <a:xfrm>
            <a:off x="460375" y="894908"/>
            <a:ext cx="8151997" cy="3890847"/>
          </a:xfrm>
          <a:prstGeom prst="rect">
            <a:avLst/>
          </a:prstGeom>
          <a:noFill/>
          <a:ln>
            <a:noFill/>
          </a:ln>
        </p:spPr>
        <p:txBody>
          <a:bodyPr anchorCtr="0" anchor="t" bIns="45700" lIns="91425" spcFirstLastPara="1" rIns="91425" wrap="square" tIns="45700">
            <a:noAutofit/>
          </a:bodyPr>
          <a:lstStyle/>
          <a:p>
            <a:pPr indent="-342900" lvl="0" marL="457200" marR="0" rtl="0" algn="l">
              <a:spcBef>
                <a:spcPts val="0"/>
              </a:spcBef>
              <a:spcAft>
                <a:spcPts val="0"/>
              </a:spcAft>
              <a:buClr>
                <a:schemeClr val="dk1"/>
              </a:buClr>
              <a:buSzPts val="1800"/>
              <a:buChar char="●"/>
            </a:pPr>
            <a:r>
              <a:rPr lang="en-ID" sz="1800">
                <a:solidFill>
                  <a:schemeClr val="dk1"/>
                </a:solidFill>
                <a:latin typeface="Arial"/>
                <a:ea typeface="Arial"/>
                <a:cs typeface="Arial"/>
                <a:sym typeface="Arial"/>
              </a:rPr>
              <a:t>Countdown timer can be made by setting up the counter timer by a certain</a:t>
            </a:r>
            <a:r>
              <a:rPr lang="en-ID" sz="1800">
                <a:solidFill>
                  <a:schemeClr val="dk1"/>
                </a:solidFill>
              </a:rPr>
              <a:t> </a:t>
            </a:r>
            <a:r>
              <a:rPr lang="en-ID" sz="1800">
                <a:solidFill>
                  <a:schemeClr val="dk1"/>
                </a:solidFill>
                <a:latin typeface="Arial"/>
                <a:ea typeface="Arial"/>
                <a:cs typeface="Arial"/>
                <a:sym typeface="Arial"/>
              </a:rPr>
              <a:t>number.</a:t>
            </a:r>
            <a:endParaRPr/>
          </a:p>
          <a:p>
            <a:pPr indent="-342900" lvl="0" marL="457200" marR="0" rtl="0" algn="l">
              <a:spcBef>
                <a:spcPts val="0"/>
              </a:spcBef>
              <a:spcAft>
                <a:spcPts val="0"/>
              </a:spcAft>
              <a:buClr>
                <a:schemeClr val="dk1"/>
              </a:buClr>
              <a:buSzPts val="1800"/>
              <a:buChar char="●"/>
            </a:pPr>
            <a:r>
              <a:rPr lang="en-ID" sz="1800">
                <a:solidFill>
                  <a:schemeClr val="dk1"/>
                </a:solidFill>
                <a:latin typeface="Arial"/>
                <a:ea typeface="Arial"/>
                <a:cs typeface="Arial"/>
                <a:sym typeface="Arial"/>
              </a:rPr>
              <a:t>When the timer ticks, the counter variable is reduced. </a:t>
            </a:r>
            <a:endParaRPr/>
          </a:p>
          <a:p>
            <a:pPr indent="-342900" lvl="0" marL="457200" marR="0" rtl="0" algn="l">
              <a:spcBef>
                <a:spcPts val="0"/>
              </a:spcBef>
              <a:spcAft>
                <a:spcPts val="0"/>
              </a:spcAft>
              <a:buClr>
                <a:schemeClr val="dk1"/>
              </a:buClr>
              <a:buSzPts val="1800"/>
              <a:buChar char="●"/>
            </a:pPr>
            <a:r>
              <a:rPr lang="en-ID" sz="1800">
                <a:solidFill>
                  <a:schemeClr val="dk1"/>
                </a:solidFill>
                <a:latin typeface="Arial"/>
                <a:ea typeface="Arial"/>
                <a:cs typeface="Arial"/>
                <a:sym typeface="Arial"/>
              </a:rPr>
              <a:t>Usually when the counter reaches 0, an event is raised.</a:t>
            </a:r>
            <a:endParaRPr/>
          </a:p>
          <a:p>
            <a:pPr indent="-342900" lvl="0" marL="457200" marR="0" rtl="0" algn="l">
              <a:spcBef>
                <a:spcPts val="0"/>
              </a:spcBef>
              <a:spcAft>
                <a:spcPts val="0"/>
              </a:spcAft>
              <a:buClr>
                <a:schemeClr val="dk1"/>
              </a:buClr>
              <a:buSzPts val="1800"/>
              <a:buChar char="●"/>
            </a:pPr>
            <a:r>
              <a:rPr lang="en-ID" sz="1800">
                <a:solidFill>
                  <a:schemeClr val="dk1"/>
                </a:solidFill>
                <a:latin typeface="Arial"/>
                <a:ea typeface="Arial"/>
                <a:cs typeface="Arial"/>
                <a:sym typeface="Arial"/>
              </a:rPr>
              <a:t>For example: raising an alert and stopping the game.</a:t>
            </a:r>
            <a:br>
              <a:rPr lang="en-ID" sz="1800">
                <a:solidFill>
                  <a:schemeClr val="dk1"/>
                </a:solidFill>
                <a:latin typeface="Arial"/>
                <a:ea typeface="Arial"/>
                <a:cs typeface="Arial"/>
                <a:sym typeface="Arial"/>
              </a:rPr>
            </a:br>
            <a:endParaRPr/>
          </a:p>
          <a:p>
            <a:pPr indent="-342900" lvl="0" marL="457200" marR="0" rtl="0" algn="l">
              <a:spcBef>
                <a:spcPts val="0"/>
              </a:spcBef>
              <a:spcAft>
                <a:spcPts val="0"/>
              </a:spcAft>
              <a:buClr>
                <a:schemeClr val="dk1"/>
              </a:buClr>
              <a:buSzPts val="1800"/>
              <a:buChar char="●"/>
            </a:pPr>
            <a:r>
              <a:rPr lang="en-ID" sz="1800">
                <a:solidFill>
                  <a:schemeClr val="dk1"/>
                </a:solidFill>
                <a:latin typeface="Arial"/>
                <a:ea typeface="Arial"/>
                <a:cs typeface="Arial"/>
                <a:sym typeface="Arial"/>
              </a:rPr>
              <a:t>Can you change our previous timer with a countdown timer with initial </a:t>
            </a:r>
            <a:r>
              <a:rPr b="1" lang="en-ID" sz="1800">
                <a:solidFill>
                  <a:schemeClr val="dk1"/>
                </a:solidFill>
              </a:rPr>
              <a:t>value of 100</a:t>
            </a:r>
            <a:r>
              <a:rPr lang="en-ID" sz="1800">
                <a:solidFill>
                  <a:schemeClr val="dk1"/>
                </a:solidFill>
                <a:latin typeface="Arial"/>
                <a:ea typeface="Arial"/>
                <a:cs typeface="Arial"/>
                <a:sym typeface="Arial"/>
              </a:rPr>
              <a:t>?  Stop the timer and </a:t>
            </a:r>
            <a:r>
              <a:rPr b="1" lang="en-ID" sz="1800">
                <a:solidFill>
                  <a:schemeClr val="dk1"/>
                </a:solidFill>
              </a:rPr>
              <a:t>give an alert</a:t>
            </a:r>
            <a:r>
              <a:rPr lang="en-ID" sz="1800">
                <a:solidFill>
                  <a:schemeClr val="dk1"/>
                </a:solidFill>
                <a:latin typeface="Arial"/>
                <a:ea typeface="Arial"/>
                <a:cs typeface="Arial"/>
                <a:sym typeface="Arial"/>
              </a:rPr>
              <a:t> (see AlertDialog from last week) when the timer variable </a:t>
            </a:r>
            <a:r>
              <a:rPr b="1" lang="en-ID" sz="1800">
                <a:solidFill>
                  <a:schemeClr val="dk1"/>
                </a:solidFill>
              </a:rPr>
              <a:t>reaches 0</a:t>
            </a:r>
            <a:r>
              <a:rPr lang="en-ID" sz="18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descr="Google's Flutter framework spreads its wings and goes multi-platform |  TechCrunch" id="161" name="Google Shape;161;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10"/>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hour:minute:second</a:t>
            </a:r>
            <a:endParaRPr b="1" sz="3600">
              <a:solidFill>
                <a:srgbClr val="000090"/>
              </a:solidFill>
              <a:latin typeface="Arial"/>
              <a:ea typeface="Arial"/>
              <a:cs typeface="Arial"/>
              <a:sym typeface="Arial"/>
            </a:endParaRPr>
          </a:p>
        </p:txBody>
      </p:sp>
      <p:cxnSp>
        <p:nvCxnSpPr>
          <p:cNvPr id="163" name="Google Shape;163;p1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64" name="Google Shape;164;p10"/>
          <p:cNvSpPr txBox="1"/>
          <p:nvPr/>
        </p:nvSpPr>
        <p:spPr>
          <a:xfrm>
            <a:off x="460375" y="894908"/>
            <a:ext cx="8151997" cy="3890847"/>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800"/>
              <a:buFont typeface="Arial"/>
              <a:buNone/>
            </a:pPr>
            <a:r>
              <a:rPr lang="en-ID" sz="1800">
                <a:solidFill>
                  <a:schemeClr val="dk1"/>
                </a:solidFill>
                <a:latin typeface="Arial"/>
                <a:ea typeface="Arial"/>
                <a:cs typeface="Arial"/>
                <a:sym typeface="Arial"/>
              </a:rPr>
              <a:t>Usually, countdown timer is shown in hour:minute:second format. </a:t>
            </a:r>
            <a:endParaRPr/>
          </a:p>
          <a:p>
            <a:pPr indent="-342900" lvl="0" marL="342900" marR="0" rtl="0" algn="l">
              <a:spcBef>
                <a:spcPts val="360"/>
              </a:spcBef>
              <a:spcAft>
                <a:spcPts val="0"/>
              </a:spcAft>
              <a:buClr>
                <a:schemeClr val="dk1"/>
              </a:buClr>
              <a:buSzPts val="1800"/>
              <a:buFont typeface="Arial"/>
              <a:buNone/>
            </a:pPr>
            <a:r>
              <a:rPr lang="en-ID" sz="1800">
                <a:solidFill>
                  <a:schemeClr val="dk1"/>
                </a:solidFill>
                <a:latin typeface="Arial"/>
                <a:ea typeface="Arial"/>
                <a:cs typeface="Arial"/>
                <a:sym typeface="Arial"/>
              </a:rPr>
              <a:t>You can calculate the timer value with this function</a:t>
            </a:r>
            <a:endParaRPr/>
          </a:p>
          <a:p>
            <a:pPr indent="0" lvl="0" marL="0" marR="0" rtl="0" algn="l">
              <a:spcBef>
                <a:spcPts val="280"/>
              </a:spcBef>
              <a:spcAft>
                <a:spcPts val="0"/>
              </a:spcAft>
              <a:buClr>
                <a:schemeClr val="dk1"/>
              </a:buClr>
              <a:buSzPts val="1400"/>
              <a:buFont typeface="Arial"/>
              <a:buNone/>
            </a:pPr>
            <a:r>
              <a:t/>
            </a:r>
            <a:endParaRPr sz="1400">
              <a:solidFill>
                <a:srgbClr val="FF0000"/>
              </a:solidFill>
              <a:latin typeface="Arial"/>
              <a:ea typeface="Arial"/>
              <a:cs typeface="Arial"/>
              <a:sym typeface="Arial"/>
            </a:endParaRPr>
          </a:p>
          <a:p>
            <a:pPr indent="0" lvl="0" marL="0" marR="0" rtl="0" algn="l">
              <a:spcBef>
                <a:spcPts val="280"/>
              </a:spcBef>
              <a:spcAft>
                <a:spcPts val="0"/>
              </a:spcAft>
              <a:buClr>
                <a:srgbClr val="FF0000"/>
              </a:buClr>
              <a:buSzPts val="1400"/>
              <a:buFont typeface="Arial"/>
              <a:buNone/>
            </a:pPr>
            <a:r>
              <a:rPr lang="en-ID" sz="1300">
                <a:solidFill>
                  <a:srgbClr val="FF0000"/>
                </a:solidFill>
                <a:latin typeface="Consolas"/>
                <a:ea typeface="Consolas"/>
                <a:cs typeface="Consolas"/>
                <a:sym typeface="Consolas"/>
              </a:rPr>
              <a:t> String formatTime(int hitung) {</a:t>
            </a:r>
            <a:endParaRPr sz="1300">
              <a:latin typeface="Consolas"/>
              <a:ea typeface="Consolas"/>
              <a:cs typeface="Consolas"/>
              <a:sym typeface="Consolas"/>
            </a:endParaRPr>
          </a:p>
          <a:p>
            <a:pPr indent="0" lvl="0" marL="0" marR="0" rtl="0" algn="l">
              <a:spcBef>
                <a:spcPts val="280"/>
              </a:spcBef>
              <a:spcAft>
                <a:spcPts val="0"/>
              </a:spcAft>
              <a:buClr>
                <a:srgbClr val="FF0000"/>
              </a:buClr>
              <a:buSzPts val="1400"/>
              <a:buFont typeface="Arial"/>
              <a:buNone/>
            </a:pPr>
            <a:r>
              <a:rPr lang="en-ID" sz="1300">
                <a:solidFill>
                  <a:srgbClr val="FF0000"/>
                </a:solidFill>
                <a:latin typeface="Consolas"/>
                <a:ea typeface="Consolas"/>
                <a:cs typeface="Consolas"/>
                <a:sym typeface="Consolas"/>
              </a:rPr>
              <a:t>      var hours = (hitung ~/ 3600).toString().padLeft(2, '0');</a:t>
            </a:r>
            <a:endParaRPr sz="1300">
              <a:latin typeface="Consolas"/>
              <a:ea typeface="Consolas"/>
              <a:cs typeface="Consolas"/>
              <a:sym typeface="Consolas"/>
            </a:endParaRPr>
          </a:p>
          <a:p>
            <a:pPr indent="0" lvl="0" marL="0" marR="0" rtl="0" algn="l">
              <a:spcBef>
                <a:spcPts val="280"/>
              </a:spcBef>
              <a:spcAft>
                <a:spcPts val="0"/>
              </a:spcAft>
              <a:buClr>
                <a:srgbClr val="FF0000"/>
              </a:buClr>
              <a:buSzPts val="1400"/>
              <a:buFont typeface="Arial"/>
              <a:buNone/>
            </a:pPr>
            <a:r>
              <a:rPr lang="en-ID" sz="1300">
                <a:solidFill>
                  <a:srgbClr val="FF0000"/>
                </a:solidFill>
                <a:latin typeface="Consolas"/>
                <a:ea typeface="Consolas"/>
                <a:cs typeface="Consolas"/>
                <a:sym typeface="Consolas"/>
              </a:rPr>
              <a:t>      var minutes = ((hitung % 3600) ~/ 60).toString().padLeft(2, '0');	</a:t>
            </a:r>
            <a:endParaRPr sz="1300">
              <a:latin typeface="Consolas"/>
              <a:ea typeface="Consolas"/>
              <a:cs typeface="Consolas"/>
              <a:sym typeface="Consolas"/>
            </a:endParaRPr>
          </a:p>
          <a:p>
            <a:pPr indent="0" lvl="0" marL="0" marR="0" rtl="0" algn="l">
              <a:spcBef>
                <a:spcPts val="280"/>
              </a:spcBef>
              <a:spcAft>
                <a:spcPts val="0"/>
              </a:spcAft>
              <a:buClr>
                <a:srgbClr val="FF0000"/>
              </a:buClr>
              <a:buSzPts val="1400"/>
              <a:buFont typeface="Arial"/>
              <a:buNone/>
            </a:pPr>
            <a:r>
              <a:rPr lang="en-ID" sz="1300">
                <a:solidFill>
                  <a:srgbClr val="FF0000"/>
                </a:solidFill>
                <a:latin typeface="Consolas"/>
                <a:ea typeface="Consolas"/>
                <a:cs typeface="Consolas"/>
                <a:sym typeface="Consolas"/>
              </a:rPr>
              <a:t>      var seconds = (hitung % 60).toString().padLeft(2, '0');</a:t>
            </a:r>
            <a:endParaRPr sz="1300">
              <a:latin typeface="Consolas"/>
              <a:ea typeface="Consolas"/>
              <a:cs typeface="Consolas"/>
              <a:sym typeface="Consolas"/>
            </a:endParaRPr>
          </a:p>
          <a:p>
            <a:pPr indent="0" lvl="0" marL="0" marR="0" rtl="0" algn="l">
              <a:spcBef>
                <a:spcPts val="280"/>
              </a:spcBef>
              <a:spcAft>
                <a:spcPts val="0"/>
              </a:spcAft>
              <a:buClr>
                <a:srgbClr val="FF0000"/>
              </a:buClr>
              <a:buSzPts val="1400"/>
              <a:buFont typeface="Arial"/>
              <a:buNone/>
            </a:pPr>
            <a:r>
              <a:rPr lang="en-ID" sz="1300">
                <a:solidFill>
                  <a:srgbClr val="FF0000"/>
                </a:solidFill>
                <a:latin typeface="Consolas"/>
                <a:ea typeface="Consolas"/>
                <a:cs typeface="Consolas"/>
                <a:sym typeface="Consolas"/>
              </a:rPr>
              <a:t>      return "$hours:$minutes:$seconds";</a:t>
            </a:r>
            <a:endParaRPr sz="1300">
              <a:latin typeface="Consolas"/>
              <a:ea typeface="Consolas"/>
              <a:cs typeface="Consolas"/>
              <a:sym typeface="Consolas"/>
            </a:endParaRPr>
          </a:p>
          <a:p>
            <a:pPr indent="0" lvl="0" marL="0" marR="0" rtl="0" algn="l">
              <a:spcBef>
                <a:spcPts val="280"/>
              </a:spcBef>
              <a:spcAft>
                <a:spcPts val="0"/>
              </a:spcAft>
              <a:buClr>
                <a:srgbClr val="FF0000"/>
              </a:buClr>
              <a:buSzPts val="1400"/>
              <a:buFont typeface="Arial"/>
              <a:buNone/>
            </a:pPr>
            <a:r>
              <a:rPr lang="en-ID" sz="1300">
                <a:solidFill>
                  <a:srgbClr val="FF0000"/>
                </a:solidFill>
                <a:latin typeface="Consolas"/>
                <a:ea typeface="Consolas"/>
                <a:cs typeface="Consolas"/>
                <a:sym typeface="Consolas"/>
              </a:rPr>
              <a:t>  }</a:t>
            </a:r>
            <a:endParaRPr sz="1300">
              <a:solidFill>
                <a:schemeClr val="dk1"/>
              </a:solidFill>
              <a:latin typeface="Consolas"/>
              <a:ea typeface="Consolas"/>
              <a:cs typeface="Consolas"/>
              <a:sym typeface="Consolas"/>
            </a:endParaRPr>
          </a:p>
        </p:txBody>
      </p:sp>
      <p:pic>
        <p:nvPicPr>
          <p:cNvPr id="165" name="Google Shape;165;p10"/>
          <p:cNvPicPr preferRelativeResize="0"/>
          <p:nvPr/>
        </p:nvPicPr>
        <p:blipFill rotWithShape="1">
          <a:blip r:embed="rId4">
            <a:alphaModFix/>
          </a:blip>
          <a:srcRect b="0" l="0" r="0" t="0"/>
          <a:stretch/>
        </p:blipFill>
        <p:spPr>
          <a:xfrm>
            <a:off x="4698595" y="3504574"/>
            <a:ext cx="2411635" cy="1281181"/>
          </a:xfrm>
          <a:prstGeom prst="rect">
            <a:avLst/>
          </a:prstGeom>
          <a:noFill/>
          <a:ln>
            <a:noFill/>
          </a:ln>
        </p:spPr>
      </p:pic>
      <p:pic>
        <p:nvPicPr>
          <p:cNvPr id="166" name="Google Shape;166;p10"/>
          <p:cNvPicPr preferRelativeResize="0"/>
          <p:nvPr/>
        </p:nvPicPr>
        <p:blipFill rotWithShape="1">
          <a:blip r:embed="rId5">
            <a:alphaModFix/>
          </a:blip>
          <a:srcRect b="0" l="0" r="0" t="0"/>
          <a:stretch/>
        </p:blipFill>
        <p:spPr>
          <a:xfrm>
            <a:off x="7200948" y="1229983"/>
            <a:ext cx="1943052" cy="2732417"/>
          </a:xfrm>
          <a:prstGeom prst="rect">
            <a:avLst/>
          </a:prstGeom>
          <a:noFill/>
          <a:ln>
            <a:noFill/>
          </a:ln>
        </p:spPr>
      </p:pic>
      <p:sp>
        <p:nvSpPr>
          <p:cNvPr id="167" name="Google Shape;167;p10"/>
          <p:cNvSpPr txBox="1"/>
          <p:nvPr/>
        </p:nvSpPr>
        <p:spPr>
          <a:xfrm>
            <a:off x="75867" y="3515837"/>
            <a:ext cx="441659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 is a </a:t>
            </a:r>
            <a:r>
              <a:rPr i="1" lang="en-ID" sz="1800">
                <a:solidFill>
                  <a:schemeClr val="dk1"/>
                </a:solidFill>
                <a:latin typeface="Arial"/>
                <a:ea typeface="Arial"/>
                <a:cs typeface="Arial"/>
                <a:sym typeface="Arial"/>
              </a:rPr>
              <a:t>truncating division</a:t>
            </a:r>
            <a:r>
              <a:rPr lang="en-ID" sz="1800">
                <a:solidFill>
                  <a:schemeClr val="dk1"/>
                </a:solidFill>
                <a:latin typeface="Arial"/>
                <a:ea typeface="Arial"/>
                <a:cs typeface="Arial"/>
                <a:sym typeface="Arial"/>
              </a:rPr>
              <a:t> operator</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The division will be rounded towards zero</a:t>
            </a:r>
            <a:endParaRPr sz="18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descr="Google's Flutter framework spreads its wings and goes multi-platform |  TechCrunch" id="172" name="Google Shape;172;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11"/>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Solution</a:t>
            </a:r>
            <a:endParaRPr/>
          </a:p>
        </p:txBody>
      </p:sp>
      <p:cxnSp>
        <p:nvCxnSpPr>
          <p:cNvPr id="174" name="Google Shape;174;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75" name="Google Shape;175;p11"/>
          <p:cNvSpPr txBox="1"/>
          <p:nvPr/>
        </p:nvSpPr>
        <p:spPr>
          <a:xfrm>
            <a:off x="460375" y="894908"/>
            <a:ext cx="8151997" cy="3890847"/>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setState(() {</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if (_hitung == 0) {</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_timer.cancel();</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showDialog&lt;String&gt;(</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context: context,</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builder: (BuildContext context) =&gt; AlertDialog(</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title: Text('Quiz'),</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content: Text('Quiz Ended'),</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actions: &lt;Widget&gt;[</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TextButton(</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onPressed: () =&gt; Navigator.pop(context, 'OK'),</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child: const Text('OK'),</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 else {</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_hitung--;</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a:t>
            </a:r>
            <a:endParaRPr/>
          </a:p>
          <a:p>
            <a:pPr indent="-342900" lvl="0" marL="342900" marR="0" rtl="0" algn="l">
              <a:spcBef>
                <a:spcPts val="220"/>
              </a:spcBef>
              <a:spcAft>
                <a:spcPts val="0"/>
              </a:spcAft>
              <a:buClr>
                <a:srgbClr val="FF0000"/>
              </a:buClr>
              <a:buSzPts val="1100"/>
              <a:buFont typeface="Arial"/>
              <a:buNone/>
            </a:pPr>
            <a:r>
              <a:rPr lang="en-ID" sz="1100">
                <a:solidFill>
                  <a:srgbClr val="FF0000"/>
                </a:solidFill>
                <a:latin typeface="Consolas"/>
                <a:ea typeface="Consolas"/>
                <a:cs typeface="Consolas"/>
                <a:sym typeface="Consolas"/>
              </a:rPr>
              <a:t>      });</a:t>
            </a:r>
            <a:endParaRPr sz="1000">
              <a:solidFill>
                <a:srgbClr val="FF0000"/>
              </a:solidFill>
              <a:latin typeface="Consolas"/>
              <a:ea typeface="Consolas"/>
              <a:cs typeface="Consolas"/>
              <a:sym typeface="Consolas"/>
            </a:endParaRPr>
          </a:p>
        </p:txBody>
      </p:sp>
      <p:sp>
        <p:nvSpPr>
          <p:cNvPr id="176" name="Google Shape;176;p11"/>
          <p:cNvSpPr/>
          <p:nvPr/>
        </p:nvSpPr>
        <p:spPr>
          <a:xfrm>
            <a:off x="6225875" y="817139"/>
            <a:ext cx="2629800" cy="165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AutoNum type="arabicPeriod"/>
            </a:pPr>
            <a:r>
              <a:rPr lang="en-ID"/>
              <a:t>set _hitung to random number, i.e: 1761.</a:t>
            </a:r>
            <a:endParaRPr/>
          </a:p>
          <a:p>
            <a:pPr indent="-317500" lvl="0" marL="457200" rtl="0" algn="l">
              <a:spcBef>
                <a:spcPts val="0"/>
              </a:spcBef>
              <a:spcAft>
                <a:spcPts val="0"/>
              </a:spcAft>
              <a:buSzPts val="1400"/>
              <a:buAutoNum type="arabicPeriod"/>
            </a:pPr>
            <a:r>
              <a:rPr lang="en-ID"/>
              <a:t>use formatTime to format the time into hh:mm:ss</a:t>
            </a:r>
            <a:endParaRPr/>
          </a:p>
          <a:p>
            <a:pPr indent="-317500" lvl="0" marL="457200" rtl="0" algn="l">
              <a:spcBef>
                <a:spcPts val="0"/>
              </a:spcBef>
              <a:spcAft>
                <a:spcPts val="0"/>
              </a:spcAft>
              <a:buSzPts val="1400"/>
              <a:buAutoNum type="arabicPeriod"/>
            </a:pPr>
            <a:r>
              <a:rPr lang="en-ID"/>
              <a:t>Fix the start/stop button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p1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b="1" lang="en-ID" sz="6000">
                <a:solidFill>
                  <a:srgbClr val="DAE5F1"/>
                </a:solidFill>
              </a:rPr>
              <a:t>PERCENT INDICATORS</a:t>
            </a:r>
            <a:endParaRPr/>
          </a:p>
        </p:txBody>
      </p:sp>
      <p:sp>
        <p:nvSpPr>
          <p:cNvPr id="182" name="Google Shape;182;p1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descr="Google's Flutter framework spreads its wings and goes multi-platform |  TechCrunch" id="187" name="Google Shape;187;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13"/>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Percent Indicators</a:t>
            </a:r>
            <a:endParaRPr/>
          </a:p>
        </p:txBody>
      </p:sp>
      <p:cxnSp>
        <p:nvCxnSpPr>
          <p:cNvPr id="189" name="Google Shape;189;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90" name="Google Shape;190;p13"/>
          <p:cNvSpPr txBox="1"/>
          <p:nvPr/>
        </p:nvSpPr>
        <p:spPr>
          <a:xfrm>
            <a:off x="460375" y="894908"/>
            <a:ext cx="8151900" cy="38907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800"/>
              <a:buFont typeface="Arial"/>
              <a:buNone/>
            </a:pPr>
            <a:r>
              <a:rPr lang="en-ID" sz="1800">
                <a:solidFill>
                  <a:schemeClr val="dk1"/>
                </a:solidFill>
                <a:latin typeface="Calibri"/>
                <a:ea typeface="Calibri"/>
                <a:cs typeface="Calibri"/>
                <a:sym typeface="Calibri"/>
              </a:rPr>
              <a:t>Sometimes, to make a counter more visually attractive, an indicator may be added.</a:t>
            </a:r>
            <a:endParaRPr/>
          </a:p>
          <a:p>
            <a:pPr indent="-342900" lvl="0" marL="342900" marR="0" rtl="0" algn="l">
              <a:spcBef>
                <a:spcPts val="360"/>
              </a:spcBef>
              <a:spcAft>
                <a:spcPts val="0"/>
              </a:spcAft>
              <a:buClr>
                <a:schemeClr val="dk1"/>
              </a:buClr>
              <a:buSzPts val="1800"/>
              <a:buFont typeface="Arial"/>
              <a:buNone/>
            </a:pPr>
            <a:r>
              <a:rPr lang="en-ID" sz="1800">
                <a:solidFill>
                  <a:schemeClr val="dk1"/>
                </a:solidFill>
                <a:latin typeface="Calibri"/>
                <a:ea typeface="Calibri"/>
                <a:cs typeface="Calibri"/>
                <a:sym typeface="Calibri"/>
              </a:rPr>
              <a:t>We will use percent_indicator plugin in this example.</a:t>
            </a:r>
            <a:endParaRPr/>
          </a:p>
          <a:p>
            <a:pPr indent="-342900" lvl="0" marL="34290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342900" lvl="0" marL="342900" marR="0" rtl="0" algn="l">
              <a:spcBef>
                <a:spcPts val="360"/>
              </a:spcBef>
              <a:spcAft>
                <a:spcPts val="0"/>
              </a:spcAft>
              <a:buClr>
                <a:schemeClr val="dk1"/>
              </a:buClr>
              <a:buSzPts val="1800"/>
              <a:buFont typeface="Arial"/>
              <a:buNone/>
            </a:pPr>
            <a:r>
              <a:rPr lang="en-ID" sz="1800">
                <a:solidFill>
                  <a:schemeClr val="dk1"/>
                </a:solidFill>
                <a:latin typeface="Calibri"/>
                <a:ea typeface="Calibri"/>
                <a:cs typeface="Calibri"/>
                <a:sym typeface="Calibri"/>
              </a:rPr>
              <a:t>Add its dependency in pubspec.yaml</a:t>
            </a:r>
            <a:endParaRPr sz="1800">
              <a:solidFill>
                <a:schemeClr val="dk1"/>
              </a:solidFill>
              <a:latin typeface="Calibri"/>
              <a:ea typeface="Calibri"/>
              <a:cs typeface="Calibri"/>
              <a:sym typeface="Calibri"/>
            </a:endParaRPr>
          </a:p>
          <a:p>
            <a:pPr indent="-342900" lvl="0" marL="342900" marR="0" rtl="0" algn="l">
              <a:spcBef>
                <a:spcPts val="320"/>
              </a:spcBef>
              <a:spcAft>
                <a:spcPts val="0"/>
              </a:spcAft>
              <a:buClr>
                <a:srgbClr val="FF0000"/>
              </a:buClr>
              <a:buSzPts val="1600"/>
              <a:buFont typeface="Arial"/>
              <a:buNone/>
            </a:pPr>
            <a:r>
              <a:rPr lang="en-ID" sz="1600">
                <a:solidFill>
                  <a:srgbClr val="FF0000"/>
                </a:solidFill>
                <a:latin typeface="Consolas"/>
                <a:ea typeface="Consolas"/>
                <a:cs typeface="Consolas"/>
                <a:sym typeface="Consolas"/>
              </a:rPr>
              <a:t>percent_indicator: ^4.2.5</a:t>
            </a:r>
            <a:endParaRPr sz="1600">
              <a:solidFill>
                <a:srgbClr val="FF0000"/>
              </a:solidFill>
              <a:latin typeface="Consolas"/>
              <a:ea typeface="Consolas"/>
              <a:cs typeface="Consolas"/>
              <a:sym typeface="Consolas"/>
            </a:endParaRPr>
          </a:p>
          <a:p>
            <a:pPr indent="-342900" lvl="0" marL="342900" marR="0" rtl="0" algn="l">
              <a:spcBef>
                <a:spcPts val="36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342900" lvl="0" marL="342900" marR="0" rtl="0" algn="l">
              <a:spcBef>
                <a:spcPts val="360"/>
              </a:spcBef>
              <a:spcAft>
                <a:spcPts val="0"/>
              </a:spcAft>
              <a:buClr>
                <a:schemeClr val="dk1"/>
              </a:buClr>
              <a:buSzPts val="1800"/>
              <a:buFont typeface="Arial"/>
              <a:buNone/>
            </a:pPr>
            <a:r>
              <a:rPr lang="en-ID" sz="1800">
                <a:solidFill>
                  <a:schemeClr val="dk1"/>
                </a:solidFill>
                <a:latin typeface="Calibri"/>
                <a:ea typeface="Calibri"/>
                <a:cs typeface="Calibri"/>
                <a:sym typeface="Calibri"/>
              </a:rPr>
              <a:t>and add import in the quiz screen.</a:t>
            </a:r>
            <a:endParaRPr/>
          </a:p>
          <a:p>
            <a:pPr indent="-342900" lvl="0" marL="342900" marR="0" rtl="0" algn="l">
              <a:spcBef>
                <a:spcPts val="320"/>
              </a:spcBef>
              <a:spcAft>
                <a:spcPts val="0"/>
              </a:spcAft>
              <a:buClr>
                <a:srgbClr val="FF0000"/>
              </a:buClr>
              <a:buSzPts val="1600"/>
              <a:buFont typeface="Arial"/>
              <a:buNone/>
            </a:pPr>
            <a:r>
              <a:rPr b="1" lang="en-ID" sz="1600">
                <a:solidFill>
                  <a:srgbClr val="FF0000"/>
                </a:solidFill>
                <a:latin typeface="Consolas"/>
                <a:ea typeface="Consolas"/>
                <a:cs typeface="Consolas"/>
                <a:sym typeface="Consolas"/>
              </a:rPr>
              <a:t>import</a:t>
            </a:r>
            <a:r>
              <a:rPr lang="en-ID" sz="1600">
                <a:solidFill>
                  <a:srgbClr val="FF0000"/>
                </a:solidFill>
                <a:latin typeface="Consolas"/>
                <a:ea typeface="Consolas"/>
                <a:cs typeface="Consolas"/>
                <a:sym typeface="Consolas"/>
              </a:rPr>
              <a:t> 'package:percent_indicator/percent_indicator.dart';</a:t>
            </a:r>
            <a:endParaRPr sz="1800">
              <a:solidFill>
                <a:schemeClr val="dk1"/>
              </a:solidFill>
              <a:latin typeface="Arial"/>
              <a:ea typeface="Arial"/>
              <a:cs typeface="Arial"/>
              <a:sym typeface="Arial"/>
            </a:endParaRPr>
          </a:p>
        </p:txBody>
      </p:sp>
      <p:sp>
        <p:nvSpPr>
          <p:cNvPr id="191" name="Google Shape;191;p13"/>
          <p:cNvSpPr/>
          <p:nvPr/>
        </p:nvSpPr>
        <p:spPr>
          <a:xfrm>
            <a:off x="1676800" y="3688525"/>
            <a:ext cx="5448000" cy="967800"/>
          </a:xfrm>
          <a:prstGeom prst="roundRect">
            <a:avLst>
              <a:gd fmla="val 16667" name="adj"/>
            </a:avLst>
          </a:prstGeom>
          <a:solidFill>
            <a:srgbClr val="00B05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ID" sz="1600">
                <a:solidFill>
                  <a:schemeClr val="lt1"/>
                </a:solidFill>
              </a:rPr>
              <a:t>To </a:t>
            </a:r>
            <a:r>
              <a:rPr b="1" lang="en-ID" sz="1600">
                <a:solidFill>
                  <a:schemeClr val="lt1"/>
                </a:solidFill>
              </a:rPr>
              <a:t>learn</a:t>
            </a:r>
            <a:r>
              <a:rPr b="1" lang="en-ID" sz="1600">
                <a:solidFill>
                  <a:schemeClr val="lt1"/>
                </a:solidFill>
              </a:rPr>
              <a:t> more about this library, visit </a:t>
            </a:r>
            <a:r>
              <a:rPr b="1" lang="en-ID" sz="1600">
                <a:solidFill>
                  <a:schemeClr val="lt1"/>
                </a:solidFill>
              </a:rPr>
              <a:t>https://pub.dev/packages/percent_indicator</a:t>
            </a:r>
            <a:endParaRPr b="1" sz="1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descr="Google's Flutter framework spreads its wings and goes multi-platform |  TechCrunch" id="196" name="Google Shape;196;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 name="Google Shape;197;p14"/>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Circular and linear</a:t>
            </a:r>
            <a:endParaRPr/>
          </a:p>
        </p:txBody>
      </p:sp>
      <p:cxnSp>
        <p:nvCxnSpPr>
          <p:cNvPr id="198" name="Google Shape;198;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99" name="Google Shape;199;p14"/>
          <p:cNvSpPr txBox="1"/>
          <p:nvPr/>
        </p:nvSpPr>
        <p:spPr>
          <a:xfrm>
            <a:off x="460376" y="894908"/>
            <a:ext cx="3702322" cy="389084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CircularPercentIndicator(</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  radius: 120.0,</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  lineWidth: 20.0,</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  percent: 1 - (_hitung / _initValue),</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  center: Text(formatTime(_hitung)),</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  progressColor: Colors.red,</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a:t>
            </a:r>
            <a:endParaRPr/>
          </a:p>
          <a:p>
            <a:pPr indent="0" lvl="0" marL="0" marR="0" rtl="0" algn="l">
              <a:spcBef>
                <a:spcPts val="240"/>
              </a:spcBef>
              <a:spcAft>
                <a:spcPts val="0"/>
              </a:spcAft>
              <a:buClr>
                <a:srgbClr val="FF0000"/>
              </a:buClr>
              <a:buSzPts val="1200"/>
              <a:buFont typeface="Arial"/>
              <a:buNone/>
            </a:pPr>
            <a:br>
              <a:rPr lang="en-ID" sz="1200">
                <a:solidFill>
                  <a:srgbClr val="FF0000"/>
                </a:solidFill>
                <a:latin typeface="Consolas"/>
                <a:ea typeface="Consolas"/>
                <a:cs typeface="Consolas"/>
                <a:sym typeface="Consolas"/>
              </a:rPr>
            </a:br>
            <a:endParaRPr sz="1200">
              <a:solidFill>
                <a:srgbClr val="FF0000"/>
              </a:solidFill>
              <a:latin typeface="Consolas"/>
              <a:ea typeface="Consolas"/>
              <a:cs typeface="Consolas"/>
              <a:sym typeface="Consolas"/>
            </a:endParaRPr>
          </a:p>
          <a:p>
            <a:pPr indent="0" lvl="0" marL="0" marR="0" rtl="0" algn="l">
              <a:spcBef>
                <a:spcPts val="240"/>
              </a:spcBef>
              <a:spcAft>
                <a:spcPts val="0"/>
              </a:spcAft>
              <a:buClr>
                <a:schemeClr val="dk1"/>
              </a:buClr>
              <a:buSzPts val="1200"/>
              <a:buFont typeface="Arial"/>
              <a:buNone/>
            </a:pPr>
            <a:br>
              <a:rPr lang="en-ID" sz="1200">
                <a:solidFill>
                  <a:schemeClr val="dk1"/>
                </a:solidFill>
                <a:latin typeface="Consolas"/>
                <a:ea typeface="Consolas"/>
                <a:cs typeface="Consolas"/>
                <a:sym typeface="Consolas"/>
              </a:rPr>
            </a:br>
            <a:endParaRPr sz="1200">
              <a:solidFill>
                <a:schemeClr val="dk1"/>
              </a:solidFill>
              <a:latin typeface="Consolas"/>
              <a:ea typeface="Consolas"/>
              <a:cs typeface="Consolas"/>
              <a:sym typeface="Consolas"/>
            </a:endParaRPr>
          </a:p>
          <a:p>
            <a:pPr indent="0" lvl="0" marL="0" marR="0" rtl="0" algn="l">
              <a:spcBef>
                <a:spcPts val="240"/>
              </a:spcBef>
              <a:spcAft>
                <a:spcPts val="0"/>
              </a:spcAft>
              <a:buClr>
                <a:schemeClr val="dk1"/>
              </a:buClr>
              <a:buSzPts val="1200"/>
              <a:buFont typeface="Arial"/>
              <a:buNone/>
            </a:pPr>
            <a:r>
              <a:t/>
            </a:r>
            <a:endParaRPr sz="1200">
              <a:solidFill>
                <a:schemeClr val="dk1"/>
              </a:solidFill>
              <a:latin typeface="Consolas"/>
              <a:ea typeface="Consolas"/>
              <a:cs typeface="Consolas"/>
              <a:sym typeface="Consolas"/>
            </a:endParaRPr>
          </a:p>
        </p:txBody>
      </p:sp>
      <p:pic>
        <p:nvPicPr>
          <p:cNvPr id="200" name="Google Shape;200;p14"/>
          <p:cNvPicPr preferRelativeResize="0"/>
          <p:nvPr/>
        </p:nvPicPr>
        <p:blipFill rotWithShape="1">
          <a:blip r:embed="rId4">
            <a:alphaModFix/>
          </a:blip>
          <a:srcRect b="0" l="0" r="0" t="0"/>
          <a:stretch/>
        </p:blipFill>
        <p:spPr>
          <a:xfrm>
            <a:off x="852311" y="2606029"/>
            <a:ext cx="2694254" cy="2179726"/>
          </a:xfrm>
          <a:prstGeom prst="rect">
            <a:avLst/>
          </a:prstGeom>
          <a:noFill/>
          <a:ln>
            <a:noFill/>
          </a:ln>
        </p:spPr>
      </p:pic>
      <p:pic>
        <p:nvPicPr>
          <p:cNvPr id="201" name="Google Shape;201;p14"/>
          <p:cNvPicPr preferRelativeResize="0"/>
          <p:nvPr/>
        </p:nvPicPr>
        <p:blipFill rotWithShape="1">
          <a:blip r:embed="rId5">
            <a:alphaModFix/>
          </a:blip>
          <a:srcRect b="19163" l="0" r="0" t="0"/>
          <a:stretch/>
        </p:blipFill>
        <p:spPr>
          <a:xfrm>
            <a:off x="4554633" y="3145382"/>
            <a:ext cx="2615992" cy="1710825"/>
          </a:xfrm>
          <a:prstGeom prst="rect">
            <a:avLst/>
          </a:prstGeom>
          <a:noFill/>
          <a:ln>
            <a:noFill/>
          </a:ln>
        </p:spPr>
      </p:pic>
      <p:sp>
        <p:nvSpPr>
          <p:cNvPr id="202" name="Google Shape;202;p14"/>
          <p:cNvSpPr/>
          <p:nvPr/>
        </p:nvSpPr>
        <p:spPr>
          <a:xfrm>
            <a:off x="3404634" y="1153886"/>
            <a:ext cx="4915989" cy="156966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LinearPercentIndicator(</a:t>
            </a:r>
            <a:endParaRPr/>
          </a:p>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center: Text(formatTime(_hitung)),</a:t>
            </a:r>
            <a:endParaRPr/>
          </a:p>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width: MediaQuery.of(context).size.width,</a:t>
            </a:r>
            <a:endParaRPr/>
          </a:p>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lineHeight: 20.0,</a:t>
            </a:r>
            <a:endParaRPr/>
          </a:p>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percent: 1 - (_hitung / _initValue),</a:t>
            </a:r>
            <a:endParaRPr/>
          </a:p>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backgroundColor: Colors.grey,</a:t>
            </a:r>
            <a:endParaRPr/>
          </a:p>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progressColor: Colors.red,</a:t>
            </a:r>
            <a:endParaRPr/>
          </a:p>
          <a:p>
            <a:pPr indent="0" lvl="0" marL="457200" marR="0" rtl="0" algn="l">
              <a:spcBef>
                <a:spcPts val="0"/>
              </a:spcBef>
              <a:spcAft>
                <a:spcPts val="0"/>
              </a:spcAft>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p:txBody>
      </p:sp>
      <p:sp>
        <p:nvSpPr>
          <p:cNvPr id="203" name="Google Shape;203;p14"/>
          <p:cNvSpPr txBox="1"/>
          <p:nvPr/>
        </p:nvSpPr>
        <p:spPr>
          <a:xfrm>
            <a:off x="4305870" y="710242"/>
            <a:ext cx="4014753" cy="369332"/>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Don’t forget create _initValue variable</a:t>
            </a:r>
            <a:endParaRPr/>
          </a:p>
        </p:txBody>
      </p:sp>
      <p:sp>
        <p:nvSpPr>
          <p:cNvPr id="204" name="Google Shape;204;p14"/>
          <p:cNvSpPr/>
          <p:nvPr/>
        </p:nvSpPr>
        <p:spPr>
          <a:xfrm>
            <a:off x="2638697" y="1480457"/>
            <a:ext cx="1288869" cy="391886"/>
          </a:xfrm>
          <a:prstGeom prst="ellipse">
            <a:avLst/>
          </a:prstGeom>
          <a:noFill/>
          <a:ln cap="flat" cmpd="sng" w="9525">
            <a:solidFill>
              <a:srgbClr val="00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5" name="Google Shape;205;p14"/>
          <p:cNvCxnSpPr>
            <a:stCxn id="204" idx="0"/>
            <a:endCxn id="203" idx="1"/>
          </p:cNvCxnSpPr>
          <p:nvPr/>
        </p:nvCxnSpPr>
        <p:spPr>
          <a:xfrm flipH="1" rot="10800000">
            <a:off x="3283132" y="894857"/>
            <a:ext cx="1022700" cy="585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sp>
        <p:nvSpPr>
          <p:cNvPr id="210" name="Google Shape;210;p15"/>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lang="en-ID" sz="4800">
                <a:solidFill>
                  <a:srgbClr val="DAE5F1"/>
                </a:solidFill>
              </a:rPr>
              <a:t>MULTIPLE CHOICE </a:t>
            </a:r>
            <a:r>
              <a:rPr b="1" lang="en-ID" sz="4800">
                <a:solidFill>
                  <a:srgbClr val="DAE5F1"/>
                </a:solidFill>
              </a:rPr>
              <a:t>QUIZ</a:t>
            </a:r>
            <a:endParaRPr/>
          </a:p>
        </p:txBody>
      </p:sp>
      <p:sp>
        <p:nvSpPr>
          <p:cNvPr id="211" name="Google Shape;211;p15"/>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 name="Shape 215"/>
        <p:cNvGrpSpPr/>
        <p:nvPr/>
      </p:nvGrpSpPr>
      <p:grpSpPr>
        <a:xfrm>
          <a:off x="0" y="0"/>
          <a:ext cx="0" cy="0"/>
          <a:chOff x="0" y="0"/>
          <a:chExt cx="0" cy="0"/>
        </a:xfrm>
      </p:grpSpPr>
      <p:sp>
        <p:nvSpPr>
          <p:cNvPr id="216" name="Google Shape;216;p1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Data Preparation</a:t>
            </a:r>
            <a:endParaRPr/>
          </a:p>
        </p:txBody>
      </p:sp>
      <p:cxnSp>
        <p:nvCxnSpPr>
          <p:cNvPr id="217" name="Google Shape;217;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18" name="Google Shape;218;p16"/>
          <p:cNvSpPr txBox="1"/>
          <p:nvPr>
            <p:ph idx="1" type="body"/>
          </p:nvPr>
        </p:nvSpPr>
        <p:spPr>
          <a:xfrm>
            <a:off x="460375" y="902464"/>
            <a:ext cx="8151997" cy="3883291"/>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600"/>
              <a:buNone/>
            </a:pPr>
            <a:r>
              <a:rPr lang="en-ID" sz="1600">
                <a:latin typeface="Calibri"/>
                <a:ea typeface="Calibri"/>
                <a:cs typeface="Calibri"/>
                <a:sym typeface="Calibri"/>
              </a:rPr>
              <a:t>We will start to build our quiz by preparing the questions, equipped with its options and its answer. It will be easier using array of objects. Therefore, we prepare the class first:</a:t>
            </a:r>
            <a:endParaRPr/>
          </a:p>
          <a:p>
            <a:pPr indent="-342900" lvl="0" marL="342900" rtl="0" algn="l">
              <a:spcBef>
                <a:spcPts val="400"/>
              </a:spcBef>
              <a:spcAft>
                <a:spcPts val="0"/>
              </a:spcAft>
              <a:buClr>
                <a:schemeClr val="dk1"/>
              </a:buClr>
              <a:buSzPts val="2000"/>
              <a:buNone/>
            </a:pPr>
            <a:r>
              <a:t/>
            </a:r>
            <a:endParaRPr sz="2000"/>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class Question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narration;</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optionA;</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optionB;</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optionC;</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optionD;</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answer;</a:t>
            </a:r>
            <a:endParaRPr/>
          </a:p>
          <a:p>
            <a:pPr indent="0" lvl="0" marL="0" rtl="0" algn="l">
              <a:spcBef>
                <a:spcPts val="280"/>
              </a:spcBef>
              <a:spcAft>
                <a:spcPts val="0"/>
              </a:spcAft>
              <a:buClr>
                <a:schemeClr val="dk1"/>
              </a:buClr>
              <a:buSzPts val="1400"/>
              <a:buNone/>
            </a:pPr>
            <a:r>
              <a:t/>
            </a:r>
            <a:endParaRPr sz="1400">
              <a:solidFill>
                <a:srgbClr val="FF0000"/>
              </a:solidFill>
              <a:latin typeface="Consolas"/>
              <a:ea typeface="Consolas"/>
              <a:cs typeface="Consolas"/>
              <a:sym typeface="Consolas"/>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Question(this.narration, this.optionA,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this.optionB, this.optionC, this.optionD, this.answer);</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a:t>
            </a:r>
            <a:endParaRPr sz="2000"/>
          </a:p>
          <a:p>
            <a:pPr indent="-342900" lvl="0" marL="342900" rtl="0" algn="l">
              <a:spcBef>
                <a:spcPts val="280"/>
              </a:spcBef>
              <a:spcAft>
                <a:spcPts val="0"/>
              </a:spcAft>
              <a:buClr>
                <a:schemeClr val="dk1"/>
              </a:buClr>
              <a:buSzPts val="1400"/>
              <a:buNone/>
            </a:pPr>
            <a:r>
              <a:t/>
            </a:r>
            <a:endParaRPr sz="1400"/>
          </a:p>
          <a:p>
            <a:pPr indent="-342900" lvl="0" marL="342900" rtl="0" algn="l">
              <a:spcBef>
                <a:spcPts val="280"/>
              </a:spcBef>
              <a:spcAft>
                <a:spcPts val="0"/>
              </a:spcAft>
              <a:buClr>
                <a:schemeClr val="dk1"/>
              </a:buClr>
              <a:buSzPts val="1400"/>
              <a:buNone/>
            </a:pPr>
            <a:r>
              <a:t/>
            </a:r>
            <a:endParaRPr sz="1400"/>
          </a:p>
        </p:txBody>
      </p:sp>
      <p:sp>
        <p:nvSpPr>
          <p:cNvPr descr="Google's Flutter framework spreads its wings and goes multi-platform |  TechCrunch" id="219" name="Google Shape;219;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1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Data Preparation (2)</a:t>
            </a:r>
            <a:endParaRPr/>
          </a:p>
        </p:txBody>
      </p:sp>
      <p:cxnSp>
        <p:nvCxnSpPr>
          <p:cNvPr id="225" name="Google Shape;225;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26" name="Google Shape;226;p17"/>
          <p:cNvSpPr txBox="1"/>
          <p:nvPr>
            <p:ph idx="1" type="body"/>
          </p:nvPr>
        </p:nvSpPr>
        <p:spPr>
          <a:xfrm>
            <a:off x="460375" y="902464"/>
            <a:ext cx="8587831" cy="3883291"/>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400"/>
              <a:buNone/>
            </a:pPr>
            <a:r>
              <a:rPr lang="en-ID" sz="1400"/>
              <a:t>Prepare the variable for storing the question, current question number, and the score.</a:t>
            </a:r>
            <a:endParaRPr/>
          </a:p>
          <a:p>
            <a:pPr indent="-342900" lvl="0" marL="342900" rtl="0" algn="l">
              <a:spcBef>
                <a:spcPts val="280"/>
              </a:spcBef>
              <a:spcAft>
                <a:spcPts val="0"/>
              </a:spcAft>
              <a:buClr>
                <a:schemeClr val="dk1"/>
              </a:buClr>
              <a:buSzPts val="1400"/>
              <a:buNone/>
            </a:pPr>
            <a:r>
              <a:rPr lang="en-ID" sz="1400"/>
              <a:t>Also add the questions variable with several data.</a:t>
            </a:r>
            <a:endParaRPr/>
          </a:p>
          <a:p>
            <a:pPr indent="-342900" lvl="0" marL="342900" rtl="0" algn="l">
              <a:spcBef>
                <a:spcPts val="400"/>
              </a:spcBef>
              <a:spcAft>
                <a:spcPts val="0"/>
              </a:spcAft>
              <a:buClr>
                <a:schemeClr val="dk1"/>
              </a:buClr>
              <a:buSzPts val="2000"/>
              <a:buNone/>
            </a:pPr>
            <a:r>
              <a:t/>
            </a:r>
            <a:endParaRPr sz="2000"/>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List&lt;Question&gt; _questions =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int _question_no = 0;</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int _point=0;</a:t>
            </a:r>
            <a:endParaRPr/>
          </a:p>
          <a:p>
            <a:pPr indent="0" lvl="0" marL="0" rtl="0" algn="l">
              <a:spcBef>
                <a:spcPts val="280"/>
              </a:spcBef>
              <a:spcAft>
                <a:spcPts val="0"/>
              </a:spcAft>
              <a:buClr>
                <a:srgbClr val="FF0000"/>
              </a:buClr>
              <a:buSzPts val="1400"/>
              <a:buNone/>
            </a:pPr>
            <a:r>
              <a:rPr lang="en-ID" sz="1400">
                <a:solidFill>
                  <a:srgbClr val="FF0000"/>
                </a:solidFill>
              </a:rPr>
              <a:t>  </a:t>
            </a:r>
            <a:r>
              <a:rPr lang="en-ID" sz="1400"/>
              <a:t>=========================</a:t>
            </a:r>
            <a:endParaRPr/>
          </a:p>
          <a:p>
            <a:pPr indent="0" lvl="0" marL="0" rtl="0" algn="l">
              <a:spcBef>
                <a:spcPts val="280"/>
              </a:spcBef>
              <a:spcAft>
                <a:spcPts val="0"/>
              </a:spcAft>
              <a:buClr>
                <a:schemeClr val="dk1"/>
              </a:buClr>
              <a:buSzPts val="1400"/>
              <a:buNone/>
            </a:pPr>
            <a:r>
              <a:rPr lang="en-ID" sz="1400"/>
              <a:t>Add this in initState():</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_questions.add(Question("Not a member of Avenger ", 'Ironman','Spiderman', 'Thor', 'Hulk Hogan', 'Hulk Hogan'));</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_questions.add(Question("Not a member of Teletubbies", 'Dipsy', 'Patrick','Laalaa', 'Poo', 'Patrick'));</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_questions.add(Question("Not a member of justice league", 'batman', 'aquades','superman', 'flash', 'aquades'));</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_questions.add(Question("Not a member of BTS", 'Jungkook','Jimin', 'Gong Yoo', 'Suga', 'Gong Yoo'));</a:t>
            </a:r>
            <a:endParaRPr sz="1400"/>
          </a:p>
        </p:txBody>
      </p:sp>
      <p:sp>
        <p:nvSpPr>
          <p:cNvPr descr="Google's Flutter framework spreads its wings and goes multi-platform |  TechCrunch" id="227" name="Google Shape;227;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id="232" name="Google Shape;232;p1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 the interface</a:t>
            </a:r>
            <a:endParaRPr/>
          </a:p>
        </p:txBody>
      </p:sp>
      <p:cxnSp>
        <p:nvCxnSpPr>
          <p:cNvPr id="233" name="Google Shape;233;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34" name="Google Shape;234;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18"/>
          <p:cNvSpPr/>
          <p:nvPr/>
        </p:nvSpPr>
        <p:spPr>
          <a:xfrm>
            <a:off x="307975" y="737281"/>
            <a:ext cx="7534094"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TextButton(onPressed: () {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Text("A. ${_questions[_question_no].optionA}")),</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TextButton(onPressed: () {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Text("B. ${_questions[_question_no].optionB}")),</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TextButton(onPressed: () {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Text("C. ${_questions[_question_no].optionC}")),</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TextButton(onPressed: () {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Text("D. ${_questions[_question_no].optionD}")),</a:t>
            </a:r>
            <a:endParaRPr>
              <a:latin typeface="Consolas"/>
              <a:ea typeface="Consolas"/>
              <a:cs typeface="Consolas"/>
              <a:sym typeface="Consolas"/>
            </a:endParaRPr>
          </a:p>
        </p:txBody>
      </p:sp>
      <p:pic>
        <p:nvPicPr>
          <p:cNvPr id="236" name="Google Shape;236;p18"/>
          <p:cNvPicPr preferRelativeResize="0"/>
          <p:nvPr/>
        </p:nvPicPr>
        <p:blipFill rotWithShape="1">
          <a:blip r:embed="rId4">
            <a:alphaModFix/>
          </a:blip>
          <a:srcRect b="0" l="0" r="0" t="0"/>
          <a:stretch/>
        </p:blipFill>
        <p:spPr>
          <a:xfrm>
            <a:off x="6766560" y="2571750"/>
            <a:ext cx="2314721" cy="241116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 name="Shape 240"/>
        <p:cNvGrpSpPr/>
        <p:nvPr/>
      </p:nvGrpSpPr>
      <p:grpSpPr>
        <a:xfrm>
          <a:off x="0" y="0"/>
          <a:ext cx="0" cy="0"/>
          <a:chOff x="0" y="0"/>
          <a:chExt cx="0" cy="0"/>
        </a:xfrm>
      </p:grpSpPr>
      <p:sp>
        <p:nvSpPr>
          <p:cNvPr id="241" name="Google Shape;241;p1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Exercise</a:t>
            </a:r>
            <a:endParaRPr/>
          </a:p>
        </p:txBody>
      </p:sp>
      <p:cxnSp>
        <p:nvCxnSpPr>
          <p:cNvPr id="242" name="Google Shape;242;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3" name="Google Shape;243;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 name="Google Shape;244;p19"/>
          <p:cNvSpPr/>
          <p:nvPr/>
        </p:nvSpPr>
        <p:spPr>
          <a:xfrm>
            <a:off x="307975" y="1540698"/>
            <a:ext cx="8644436"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ID" sz="1800">
                <a:solidFill>
                  <a:schemeClr val="dk1"/>
                </a:solidFill>
                <a:latin typeface="Arial"/>
                <a:ea typeface="Arial"/>
                <a:cs typeface="Arial"/>
                <a:sym typeface="Arial"/>
              </a:rPr>
              <a:t>We will simulate the timer and question first. When timer is up, we will </a:t>
            </a:r>
            <a:r>
              <a:rPr b="1" lang="en-ID" sz="1800">
                <a:solidFill>
                  <a:schemeClr val="dk1"/>
                </a:solidFill>
              </a:rPr>
              <a:t>display next question</a:t>
            </a:r>
            <a:r>
              <a:rPr lang="en-ID" sz="1800">
                <a:solidFill>
                  <a:schemeClr val="dk1"/>
                </a:solidFill>
                <a:latin typeface="Arial"/>
                <a:ea typeface="Arial"/>
                <a:cs typeface="Arial"/>
                <a:sym typeface="Arial"/>
              </a:rPr>
              <a:t>, and timer will be </a:t>
            </a:r>
            <a:r>
              <a:rPr b="1" lang="en-ID" sz="1800">
                <a:solidFill>
                  <a:schemeClr val="dk1"/>
                </a:solidFill>
              </a:rPr>
              <a:t>maximum</a:t>
            </a:r>
            <a:r>
              <a:rPr lang="en-ID" sz="1800">
                <a:solidFill>
                  <a:schemeClr val="dk1"/>
                </a:solidFill>
                <a:latin typeface="Arial"/>
                <a:ea typeface="Arial"/>
                <a:cs typeface="Arial"/>
                <a:sym typeface="Arial"/>
              </a:rPr>
              <a:t>  again and </a:t>
            </a:r>
            <a:r>
              <a:rPr b="1" lang="en-ID" sz="1800">
                <a:solidFill>
                  <a:schemeClr val="dk1"/>
                </a:solidFill>
              </a:rPr>
              <a:t>decreased gradually</a:t>
            </a:r>
            <a:r>
              <a:rPr lang="en-ID" sz="1800">
                <a:solidFill>
                  <a:schemeClr val="dk1"/>
                </a:solidFill>
                <a:latin typeface="Arial"/>
                <a:ea typeface="Arial"/>
                <a:cs typeface="Arial"/>
                <a:sym typeface="Arial"/>
              </a:rPr>
              <a:t>. When we already in the last question and </a:t>
            </a:r>
            <a:r>
              <a:rPr b="1" lang="en-ID" sz="1800">
                <a:solidFill>
                  <a:schemeClr val="dk1"/>
                </a:solidFill>
              </a:rPr>
              <a:t>timer is up</a:t>
            </a:r>
            <a:r>
              <a:rPr lang="en-ID" sz="1800">
                <a:solidFill>
                  <a:schemeClr val="dk1"/>
                </a:solidFill>
                <a:latin typeface="Arial"/>
                <a:ea typeface="Arial"/>
                <a:cs typeface="Arial"/>
                <a:sym typeface="Arial"/>
              </a:rPr>
              <a:t>, the game will </a:t>
            </a:r>
            <a:r>
              <a:rPr b="1" lang="en-ID" sz="1800">
                <a:solidFill>
                  <a:schemeClr val="dk1"/>
                </a:solidFill>
              </a:rPr>
              <a:t>stop</a:t>
            </a:r>
            <a:r>
              <a:rPr lang="en-ID" sz="1800">
                <a:solidFill>
                  <a:schemeClr val="dk1"/>
                </a:solidFill>
                <a:latin typeface="Arial"/>
                <a:ea typeface="Arial"/>
                <a:cs typeface="Arial"/>
                <a:sym typeface="Arial"/>
              </a:rPr>
              <a:t>.</a:t>
            </a:r>
            <a:endParaRPr/>
          </a:p>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800"/>
              <a:buFont typeface="Arial"/>
              <a:buNone/>
            </a:pPr>
            <a:r>
              <a:rPr lang="en-ID" sz="1800">
                <a:solidFill>
                  <a:schemeClr val="dk1"/>
                </a:solidFill>
                <a:latin typeface="Arial"/>
                <a:ea typeface="Arial"/>
                <a:cs typeface="Arial"/>
                <a:sym typeface="Arial"/>
              </a:rPr>
              <a:t>It will be nice if you put code that handle end of the game in a function, because it will be called also from another event. do you know what the event is?</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marR="0" rtl="0" algn="l">
              <a:spcBef>
                <a:spcPts val="0"/>
              </a:spcBef>
              <a:spcAft>
                <a:spcPts val="0"/>
              </a:spcAft>
              <a:buNone/>
            </a:pPr>
            <a:r>
              <a:t/>
            </a:r>
            <a:endParaRPr sz="14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4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6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200">
              <a:solidFill>
                <a:schemeClr val="dk1"/>
              </a:solidFill>
              <a:latin typeface="Helvetica Neue"/>
              <a:ea typeface="Helvetica Neue"/>
              <a:cs typeface="Helvetica Neue"/>
              <a:sym typeface="Helvetica Neue"/>
            </a:endParaRPr>
          </a:p>
        </p:txBody>
      </p:sp>
      <p:sp>
        <p:nvSpPr>
          <p:cNvPr id="245" name="Google Shape;245;p19"/>
          <p:cNvSpPr txBox="1"/>
          <p:nvPr/>
        </p:nvSpPr>
        <p:spPr>
          <a:xfrm>
            <a:off x="307974" y="937839"/>
            <a:ext cx="667629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D" sz="2400">
                <a:solidFill>
                  <a:srgbClr val="000090"/>
                </a:solidFill>
                <a:latin typeface="Arial"/>
                <a:ea typeface="Arial"/>
                <a:cs typeface="Arial"/>
                <a:sym typeface="Arial"/>
              </a:rPr>
              <a:t>Display next question when time is up</a:t>
            </a:r>
            <a:endParaRPr sz="24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9" name="Shape 249"/>
        <p:cNvGrpSpPr/>
        <p:nvPr/>
      </p:nvGrpSpPr>
      <p:grpSpPr>
        <a:xfrm>
          <a:off x="0" y="0"/>
          <a:ext cx="0" cy="0"/>
          <a:chOff x="0" y="0"/>
          <a:chExt cx="0" cy="0"/>
        </a:xfrm>
      </p:grpSpPr>
      <p:sp>
        <p:nvSpPr>
          <p:cNvPr id="250" name="Google Shape;250;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Adding onPressed</a:t>
            </a:r>
            <a:endParaRPr b="1" sz="3600">
              <a:solidFill>
                <a:srgbClr val="000090"/>
              </a:solidFill>
            </a:endParaRPr>
          </a:p>
        </p:txBody>
      </p:sp>
      <p:cxnSp>
        <p:nvCxnSpPr>
          <p:cNvPr id="251" name="Google Shape;251;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52" name="Google Shape;252;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3" name="Google Shape;253;p20"/>
          <p:cNvSpPr/>
          <p:nvPr/>
        </p:nvSpPr>
        <p:spPr>
          <a:xfrm>
            <a:off x="460374" y="609804"/>
            <a:ext cx="8229599" cy="42165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Calibri"/>
                <a:ea typeface="Calibri"/>
                <a:cs typeface="Calibri"/>
                <a:sym typeface="Calibri"/>
              </a:rPr>
              <a:t>onPressed behaviour in each buttons are similar, except for the option text which the user selected. Therefore, it is more convenient if we use a function with parameter.</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void checkAnswer(String answer)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(answer == _questions[_question_no].answer)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_point += 100;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if(_question_no==_questions.length-1)</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endGame();</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else</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//jika belum</a:t>
            </a:r>
            <a:endParaRPr b="0" sz="1200">
              <a:solidFill>
                <a:srgbClr val="FF0000"/>
              </a:solidFill>
              <a:latin typeface="Consolas"/>
              <a:ea typeface="Consolas"/>
              <a:cs typeface="Consolas"/>
              <a:sym typeface="Consolas"/>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_question_no++;</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_hitung=_initValue;</a:t>
            </a:r>
            <a:endParaRPr/>
          </a:p>
          <a:p>
            <a:pPr indent="0" lvl="0" marL="0" marR="0" rtl="0" algn="l">
              <a:spcBef>
                <a:spcPts val="0"/>
              </a:spcBef>
              <a:spcAft>
                <a:spcPts val="0"/>
              </a:spcAft>
              <a:buNone/>
            </a:pPr>
            <a:r>
              <a:rPr b="0"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t/>
            </a:r>
            <a:endParaRPr sz="1200">
              <a:solidFill>
                <a:schemeClr val="dk1"/>
              </a:solidFill>
              <a:latin typeface="Helvetica Neue"/>
              <a:ea typeface="Helvetica Neue"/>
              <a:cs typeface="Helvetica Neue"/>
              <a:sym typeface="Helvetica Neue"/>
            </a:endParaRPr>
          </a:p>
        </p:txBody>
      </p:sp>
      <p:sp>
        <p:nvSpPr>
          <p:cNvPr id="254" name="Google Shape;254;p20"/>
          <p:cNvSpPr/>
          <p:nvPr/>
        </p:nvSpPr>
        <p:spPr>
          <a:xfrm>
            <a:off x="1535067" y="2699656"/>
            <a:ext cx="884283" cy="339272"/>
          </a:xfrm>
          <a:prstGeom prst="ellipse">
            <a:avLst/>
          </a:prstGeom>
          <a:noFill/>
          <a:ln cap="flat" cmpd="sng" w="9525">
            <a:solidFill>
              <a:srgbClr val="00B05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sp>
        <p:nvSpPr>
          <p:cNvPr id="259" name="Google Shape;259;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Adding onPressed (2)</a:t>
            </a:r>
            <a:endParaRPr/>
          </a:p>
        </p:txBody>
      </p:sp>
      <p:cxnSp>
        <p:nvCxnSpPr>
          <p:cNvPr id="260" name="Google Shape;260;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1" name="Google Shape;261;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2" name="Google Shape;262;p21"/>
          <p:cNvSpPr/>
          <p:nvPr/>
        </p:nvSpPr>
        <p:spPr>
          <a:xfrm>
            <a:off x="460375" y="609804"/>
            <a:ext cx="6393272"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chemeClr val="dk1"/>
                </a:solidFill>
                <a:latin typeface="Consolas"/>
                <a:ea typeface="Consolas"/>
                <a:cs typeface="Consolas"/>
                <a:sym typeface="Consolas"/>
              </a:rPr>
              <a:t>        TextButton(</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onPressed: () {</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lang="en-ID" sz="1200">
                <a:solidFill>
                  <a:srgbClr val="FF0000"/>
                </a:solidFill>
                <a:latin typeface="Consolas"/>
                <a:ea typeface="Consolas"/>
                <a:cs typeface="Consolas"/>
                <a:sym typeface="Consolas"/>
              </a:rPr>
              <a:t>checkAnswer(_questions[_question_no].optionA);</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child: Text("A. " + _questions[_question_no].optionA)),</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TextButton(</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checkAnswer(_questions[_question_no].optionB);</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child: Text("B. " + _questions[_question_no].optionB)),</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TextButton(</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checkAnswer(_questions[_question_no].optionC);</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child: Text("C. " + _questions[_question_no].optionC)),</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TextButton(</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checkAnswer(_questions[_question_no].optionD);</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child: Text("D. " + _questions[_question_no].optionD)),</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p:txBody>
      </p:sp>
      <p:sp>
        <p:nvSpPr>
          <p:cNvPr id="263" name="Google Shape;263;p21"/>
          <p:cNvSpPr txBox="1"/>
          <p:nvPr/>
        </p:nvSpPr>
        <p:spPr>
          <a:xfrm>
            <a:off x="6958149" y="568234"/>
            <a:ext cx="1854926" cy="1477328"/>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Add the player score in the modal dialog when the game is ended.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 name="Shape 267"/>
        <p:cNvGrpSpPr/>
        <p:nvPr/>
      </p:nvGrpSpPr>
      <p:grpSpPr>
        <a:xfrm>
          <a:off x="0" y="0"/>
          <a:ext cx="0" cy="0"/>
          <a:chOff x="0" y="0"/>
          <a:chExt cx="0" cy="0"/>
        </a:xfrm>
      </p:grpSpPr>
      <p:sp>
        <p:nvSpPr>
          <p:cNvPr id="268" name="Google Shape;268;p2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lang="en-ID" sz="4800">
                <a:solidFill>
                  <a:srgbClr val="DAE5F1"/>
                </a:solidFill>
              </a:rPr>
              <a:t>EXERCISE</a:t>
            </a:r>
            <a:endParaRPr b="1" sz="4800">
              <a:solidFill>
                <a:srgbClr val="DAE5F1"/>
              </a:solidFill>
            </a:endParaRPr>
          </a:p>
        </p:txBody>
      </p:sp>
      <p:sp>
        <p:nvSpPr>
          <p:cNvPr id="269" name="Google Shape;269;p2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05</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4" name="Shape 274"/>
        <p:cNvGrpSpPr/>
        <p:nvPr/>
      </p:nvGrpSpPr>
      <p:grpSpPr>
        <a:xfrm>
          <a:off x="0" y="0"/>
          <a:ext cx="0" cy="0"/>
          <a:chOff x="0" y="0"/>
          <a:chExt cx="0" cy="0"/>
        </a:xfrm>
      </p:grpSpPr>
      <p:sp>
        <p:nvSpPr>
          <p:cNvPr id="275" name="Google Shape;275;p2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Adding Picture</a:t>
            </a:r>
            <a:endParaRPr/>
          </a:p>
        </p:txBody>
      </p:sp>
      <p:cxnSp>
        <p:nvCxnSpPr>
          <p:cNvPr id="276" name="Google Shape;276;p2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77" name="Google Shape;277;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23"/>
          <p:cNvSpPr txBox="1"/>
          <p:nvPr/>
        </p:nvSpPr>
        <p:spPr>
          <a:xfrm>
            <a:off x="155575" y="855023"/>
            <a:ext cx="5174071" cy="373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ID" sz="1600">
                <a:solidFill>
                  <a:schemeClr val="dk1"/>
                </a:solidFill>
                <a:latin typeface="Calibri"/>
                <a:ea typeface="Calibri"/>
                <a:cs typeface="Calibri"/>
                <a:sym typeface="Calibri"/>
              </a:rPr>
              <a:t>Advanced challenge: </a:t>
            </a:r>
            <a:br>
              <a:rPr lang="en-ID" sz="1600">
                <a:solidFill>
                  <a:schemeClr val="dk1"/>
                </a:solidFill>
                <a:latin typeface="Calibri"/>
                <a:ea typeface="Calibri"/>
                <a:cs typeface="Calibri"/>
                <a:sym typeface="Calibri"/>
              </a:rPr>
            </a:br>
            <a:r>
              <a:rPr lang="en-ID" sz="1600">
                <a:solidFill>
                  <a:schemeClr val="dk1"/>
                </a:solidFill>
                <a:latin typeface="Calibri"/>
                <a:ea typeface="Calibri"/>
                <a:cs typeface="Calibri"/>
                <a:sym typeface="Calibri"/>
              </a:rPr>
              <a:t>Add more question up to 10 questions, displays just 5 of them randomly. </a:t>
            </a:r>
            <a:endParaRPr/>
          </a:p>
          <a:p>
            <a:pPr indent="0" lvl="0" marL="0" marR="0" rtl="0" algn="l">
              <a:spcBef>
                <a:spcPts val="0"/>
              </a:spcBef>
              <a:spcAft>
                <a:spcPts val="0"/>
              </a:spcAft>
              <a:buNone/>
            </a:pPr>
            <a:r>
              <a:rPr b="0" i="0" lang="en-ID" sz="1600" u="none" cap="none" strike="noStrike">
                <a:solidFill>
                  <a:schemeClr val="dk1"/>
                </a:solidFill>
                <a:latin typeface="Calibri"/>
                <a:ea typeface="Calibri"/>
                <a:cs typeface="Calibri"/>
                <a:sym typeface="Calibri"/>
              </a:rPr>
              <a:t>For each question, display a picture related to the question.</a:t>
            </a:r>
            <a:endParaRPr/>
          </a:p>
          <a:p>
            <a:pPr indent="0" lvl="0" marL="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descr="blob:https://web.whatsapp.com/4be9237d-cfc1-462e-ba51-978e9348df04" id="279" name="Google Shape;279;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Bts as The Teletubbies | ARMY's Amino" id="280" name="Google Shape;280;p23"/>
          <p:cNvPicPr preferRelativeResize="0"/>
          <p:nvPr/>
        </p:nvPicPr>
        <p:blipFill rotWithShape="1">
          <a:blip r:embed="rId4">
            <a:alphaModFix/>
          </a:blip>
          <a:srcRect b="0" l="0" r="0" t="0"/>
          <a:stretch/>
        </p:blipFill>
        <p:spPr>
          <a:xfrm>
            <a:off x="5452065" y="721406"/>
            <a:ext cx="3334883" cy="336186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4" name="Shape 284"/>
        <p:cNvGrpSpPr/>
        <p:nvPr/>
      </p:nvGrpSpPr>
      <p:grpSpPr>
        <a:xfrm>
          <a:off x="0" y="0"/>
          <a:ext cx="0" cy="0"/>
          <a:chOff x="0" y="0"/>
          <a:chExt cx="0" cy="0"/>
        </a:xfrm>
      </p:grpSpPr>
      <p:sp>
        <p:nvSpPr>
          <p:cNvPr id="285" name="Google Shape;285;p24"/>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pic>
        <p:nvPicPr>
          <p:cNvPr descr="Blue-man-Questions-Comments" id="286" name="Google Shape;286;p24"/>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0x0101004CDBB0EA5517DF4B873B215CB2C55DE6</vt:lpwstr>
  </property>
</Properties>
</file>