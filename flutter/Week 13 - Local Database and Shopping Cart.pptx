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9" roundtripDataSignature="AMtx7mi75shv3pfE/t8WEG8y7aJOwrni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D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b27cfee06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g3b27cfee066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4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/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5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2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6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2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7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7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27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37" name="Google Shape;37;p2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7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8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8"/>
          <p:cNvSpPr txBox="1"/>
          <p:nvPr>
            <p:ph idx="1" type="body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3" name="Google Shape;43;p28"/>
          <p:cNvSpPr txBox="1"/>
          <p:nvPr>
            <p:ph idx="2" type="body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4" name="Google Shape;44;p2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8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9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9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29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1" name="Google Shape;51;p29"/>
          <p:cNvSpPr txBox="1"/>
          <p:nvPr>
            <p:ph idx="3" type="body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29"/>
          <p:cNvSpPr txBox="1"/>
          <p:nvPr>
            <p:ph idx="4" type="body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3" name="Google Shape;53;p2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9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9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0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0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0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0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2"/>
          <p:cNvSpPr txBox="1"/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2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8" name="Google Shape;68;p32"/>
          <p:cNvSpPr txBox="1"/>
          <p:nvPr>
            <p:ph idx="2" type="body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3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>
              <a:solidFill>
                <a:srgbClr val="88A44E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3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3"/>
          <p:cNvSpPr txBox="1"/>
          <p:nvPr>
            <p:ph idx="1" type="body"/>
          </p:nvPr>
        </p:nvSpPr>
        <p:spPr>
          <a:xfrm rot="5400000">
            <a:off x="2874764" y="-1217413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4"/>
          <p:cNvSpPr txBox="1"/>
          <p:nvPr>
            <p:ph type="title"/>
          </p:nvPr>
        </p:nvSpPr>
        <p:spPr>
          <a:xfrm rot="5400000">
            <a:off x="5463778" y="1371601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4"/>
          <p:cNvSpPr txBox="1"/>
          <p:nvPr>
            <p:ph idx="1" type="body"/>
          </p:nvPr>
        </p:nvSpPr>
        <p:spPr>
          <a:xfrm rot="5400000">
            <a:off x="1272778" y="-609599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3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Relationship Id="rId4" Type="http://schemas.openxmlformats.org/officeDocument/2006/relationships/hyperlink" Target="https://pub.dev/packages/sqflite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jpg"/><Relationship Id="rId4" Type="http://schemas.openxmlformats.org/officeDocument/2006/relationships/image" Target="../media/image6.png"/><Relationship Id="rId5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jpg"/><Relationship Id="rId4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jpg"/><Relationship Id="rId4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jp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685799" y="1597819"/>
            <a:ext cx="8266612" cy="12729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b="1" lang="en-ID" sz="3600">
                <a:solidFill>
                  <a:schemeClr val="lt1"/>
                </a:solidFill>
              </a:rPr>
              <a:t>Local Database and Shopping Cart</a:t>
            </a:r>
            <a:endParaRPr/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4685145" y="3468832"/>
            <a:ext cx="3962400" cy="1103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</a:pPr>
            <a:r>
              <a:rPr lang="en-ID" sz="1600">
                <a:solidFill>
                  <a:srgbClr val="FFFFFF"/>
                </a:solidFill>
              </a:rPr>
              <a:t>Week 13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rgbClr val="C6D9F1"/>
              </a:buClr>
              <a:buSzPts val="1600"/>
              <a:buNone/>
            </a:pPr>
            <a:r>
              <a:rPr lang="en-ID" sz="1600">
                <a:solidFill>
                  <a:srgbClr val="C6D9F1"/>
                </a:solidFill>
              </a:rPr>
              <a:t>Program Studi Teknik Informatika</a:t>
            </a:r>
            <a:endParaRPr sz="1600">
              <a:solidFill>
                <a:srgbClr val="C6D9F1"/>
              </a:solidFill>
            </a:endParaRPr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rgbClr val="C6D9F1"/>
              </a:buClr>
              <a:buSzPts val="1600"/>
              <a:buNone/>
            </a:pPr>
            <a:r>
              <a:rPr lang="en-ID" sz="1600">
                <a:solidFill>
                  <a:srgbClr val="C6D9F1"/>
                </a:solidFill>
              </a:rPr>
              <a:t>Fakultas Teknik – Universitas Surabaya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685799" y="1166090"/>
            <a:ext cx="5721927" cy="4616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0" i="0" lang="en-ID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Emerging Technology : Flutter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>
            <p:ph type="title"/>
          </p:nvPr>
        </p:nvSpPr>
        <p:spPr>
          <a:xfrm>
            <a:off x="3567544" y="2180036"/>
            <a:ext cx="5424055" cy="7525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AE5F1"/>
              </a:buClr>
              <a:buSzPts val="4800"/>
              <a:buFont typeface="Arial"/>
              <a:buNone/>
            </a:pPr>
            <a:r>
              <a:rPr b="1" lang="en-ID" sz="4800">
                <a:solidFill>
                  <a:srgbClr val="DAE5F1"/>
                </a:solidFill>
              </a:rPr>
              <a:t>LOCAL DATABASE</a:t>
            </a:r>
            <a:endParaRPr/>
          </a:p>
        </p:txBody>
      </p:sp>
      <p:sp>
        <p:nvSpPr>
          <p:cNvPr id="96" name="Google Shape;96;p2"/>
          <p:cNvSpPr txBox="1"/>
          <p:nvPr/>
        </p:nvSpPr>
        <p:spPr>
          <a:xfrm>
            <a:off x="1627907" y="2012758"/>
            <a:ext cx="1789545" cy="13911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38CD5"/>
              </a:buClr>
              <a:buSzPts val="8000"/>
              <a:buFont typeface="Arial"/>
              <a:buNone/>
            </a:pPr>
            <a:r>
              <a:rPr b="1" i="0" lang="en-ID" sz="8000" u="none" cap="none" strike="noStrike">
                <a:solidFill>
                  <a:srgbClr val="538CD5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1" name="Google Shape;101;p3"/>
          <p:cNvCxnSpPr/>
          <p:nvPr/>
        </p:nvCxnSpPr>
        <p:spPr>
          <a:xfrm>
            <a:off x="0" y="576943"/>
            <a:ext cx="7336971" cy="1588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descr="Google's Flutter framework spreads its wings and goes multi-platform |  TechCrunch" id="102" name="Google Shape;102;p3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"/>
          <p:cNvSpPr txBox="1"/>
          <p:nvPr/>
        </p:nvSpPr>
        <p:spPr>
          <a:xfrm>
            <a:off x="0" y="0"/>
            <a:ext cx="8229600" cy="5769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 lnSpcReduction="1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ct val="100000"/>
              <a:buFont typeface="Arial"/>
              <a:buNone/>
            </a:pPr>
            <a:r>
              <a:rPr b="1" lang="en-ID" sz="3600" u="none">
                <a:solidFill>
                  <a:srgbClr val="000090"/>
                </a:solidFill>
                <a:latin typeface="Arial"/>
                <a:ea typeface="Arial"/>
                <a:cs typeface="Arial"/>
                <a:sym typeface="Arial"/>
              </a:rPr>
              <a:t>Local Database</a:t>
            </a:r>
            <a:endParaRPr/>
          </a:p>
        </p:txBody>
      </p:sp>
      <p:cxnSp>
        <p:nvCxnSpPr>
          <p:cNvPr id="104" name="Google Shape;104;p3"/>
          <p:cNvCxnSpPr/>
          <p:nvPr/>
        </p:nvCxnSpPr>
        <p:spPr>
          <a:xfrm>
            <a:off x="0" y="576943"/>
            <a:ext cx="7336971" cy="1588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descr="Google's Flutter framework spreads its wings and goes multi-platform |  TechCrunch" id="105" name="Google Shape;105;p3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307975" y="993550"/>
            <a:ext cx="7921500" cy="25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Sometimes, we need to store data locally. Such data may have quite </a:t>
            </a:r>
            <a:r>
              <a:rPr b="1" lang="en-ID" sz="1800">
                <a:solidFill>
                  <a:schemeClr val="dk1"/>
                </a:solidFill>
              </a:rPr>
              <a:t>complex structure</a:t>
            </a:r>
            <a:r>
              <a:rPr lang="en-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so shared preferences might not suffice, but it’s overkill to store them at the server.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Examples: data that should persist even without Internet connection: shopping cart, games, news articles that have been downloaded/synchronized (when the app connects to the Internet) to read whenever, etc.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this kind of data, we usually use local database. A popular one is SQLite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1" name="Google Shape;111;p4"/>
          <p:cNvCxnSpPr/>
          <p:nvPr/>
        </p:nvCxnSpPr>
        <p:spPr>
          <a:xfrm>
            <a:off x="0" y="576943"/>
            <a:ext cx="7336971" cy="1588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descr="Google's Flutter framework spreads its wings and goes multi-platform |  TechCrunch" id="112" name="Google Shape;112;p4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4"/>
          <p:cNvSpPr txBox="1"/>
          <p:nvPr/>
        </p:nvSpPr>
        <p:spPr>
          <a:xfrm>
            <a:off x="0" y="0"/>
            <a:ext cx="8229600" cy="5769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 lnSpcReduction="1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ct val="100000"/>
              <a:buFont typeface="Arial"/>
              <a:buNone/>
            </a:pPr>
            <a:r>
              <a:rPr b="1" lang="en-ID" sz="3600">
                <a:solidFill>
                  <a:srgbClr val="000090"/>
                </a:solidFill>
                <a:latin typeface="Arial"/>
                <a:ea typeface="Arial"/>
                <a:cs typeface="Arial"/>
                <a:sym typeface="Arial"/>
              </a:rPr>
              <a:t> Scenario</a:t>
            </a:r>
            <a:endParaRPr/>
          </a:p>
        </p:txBody>
      </p:sp>
      <p:cxnSp>
        <p:nvCxnSpPr>
          <p:cNvPr id="114" name="Google Shape;114;p4"/>
          <p:cNvCxnSpPr/>
          <p:nvPr/>
        </p:nvCxnSpPr>
        <p:spPr>
          <a:xfrm>
            <a:off x="0" y="576943"/>
            <a:ext cx="7336971" cy="1588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descr="Google's Flutter framework spreads its wings and goes multi-platform |  TechCrunch" id="115" name="Google Shape;115;p4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307975" y="737281"/>
            <a:ext cx="8490968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Let’s continue our movie app by adding shopping cart to buy popular movies digitally as physical DVD (for collection purposes).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will simply store </a:t>
            </a:r>
            <a:r>
              <a:rPr b="1" lang="en-ID" sz="1800">
                <a:solidFill>
                  <a:schemeClr val="dk1"/>
                </a:solidFill>
              </a:rPr>
              <a:t>movie_id, title</a:t>
            </a:r>
            <a:r>
              <a:rPr lang="en-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(so our app doesn’t need to connect to the server database), and </a:t>
            </a:r>
            <a:r>
              <a:rPr b="1" lang="en-ID" sz="1800">
                <a:solidFill>
                  <a:schemeClr val="dk1"/>
                </a:solidFill>
              </a:rPr>
              <a:t>quantity</a:t>
            </a:r>
            <a:r>
              <a:rPr lang="en-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will add a Buy button on pop movie list and movie detail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1" name="Google Shape;121;p5"/>
          <p:cNvCxnSpPr/>
          <p:nvPr/>
        </p:nvCxnSpPr>
        <p:spPr>
          <a:xfrm>
            <a:off x="0" y="576943"/>
            <a:ext cx="7336971" cy="1588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descr="Google's Flutter framework spreads its wings and goes multi-platform |  TechCrunch" id="122" name="Google Shape;122;p5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5"/>
          <p:cNvSpPr txBox="1"/>
          <p:nvPr>
            <p:ph type="title"/>
          </p:nvPr>
        </p:nvSpPr>
        <p:spPr>
          <a:xfrm>
            <a:off x="0" y="0"/>
            <a:ext cx="8229600" cy="5769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ct val="100000"/>
              <a:buFont typeface="Arial"/>
              <a:buNone/>
            </a:pPr>
            <a:r>
              <a:rPr b="1" lang="en-ID" sz="3600">
                <a:solidFill>
                  <a:srgbClr val="000090"/>
                </a:solidFill>
              </a:rPr>
              <a:t>Plugin</a:t>
            </a:r>
            <a:endParaRPr/>
          </a:p>
        </p:txBody>
      </p:sp>
      <p:cxnSp>
        <p:nvCxnSpPr>
          <p:cNvPr id="124" name="Google Shape;124;p5"/>
          <p:cNvCxnSpPr/>
          <p:nvPr/>
        </p:nvCxnSpPr>
        <p:spPr>
          <a:xfrm>
            <a:off x="0" y="576943"/>
            <a:ext cx="7336971" cy="1588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descr="Google's Flutter framework spreads its wings and goes multi-platform |  TechCrunch" id="125" name="Google Shape;125;p5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247015" y="757057"/>
            <a:ext cx="8339636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 popular plugin to use SQLite with Flutter is sqflite.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https://pub.dev/packages/sqflite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 this to pubspec.yaml: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sqflite: ^2.4.2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 any page that will use it: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D" sz="180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en-ID" sz="180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'package:sqflite/sqflite.dart';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1" name="Google Shape;131;p6"/>
          <p:cNvCxnSpPr/>
          <p:nvPr/>
        </p:nvCxnSpPr>
        <p:spPr>
          <a:xfrm>
            <a:off x="0" y="576943"/>
            <a:ext cx="7336971" cy="1588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descr="Google's Flutter framework spreads its wings and goes multi-platform |  TechCrunch" id="132" name="Google Shape;132;p6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6"/>
          <p:cNvSpPr txBox="1"/>
          <p:nvPr>
            <p:ph type="title"/>
          </p:nvPr>
        </p:nvSpPr>
        <p:spPr>
          <a:xfrm>
            <a:off x="0" y="0"/>
            <a:ext cx="8229600" cy="5769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ct val="100000"/>
              <a:buFont typeface="Arial"/>
              <a:buNone/>
            </a:pPr>
            <a:r>
              <a:rPr b="1" lang="en-ID" sz="3600">
                <a:solidFill>
                  <a:srgbClr val="000090"/>
                </a:solidFill>
              </a:rPr>
              <a:t>Database helper</a:t>
            </a:r>
            <a:endParaRPr/>
          </a:p>
        </p:txBody>
      </p:sp>
      <p:cxnSp>
        <p:nvCxnSpPr>
          <p:cNvPr id="134" name="Google Shape;134;p6"/>
          <p:cNvCxnSpPr/>
          <p:nvPr/>
        </p:nvCxnSpPr>
        <p:spPr>
          <a:xfrm>
            <a:off x="0" y="576943"/>
            <a:ext cx="7336971" cy="1588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descr="Google's Flutter framework spreads its wings and goes multi-platform |  TechCrunch" id="135" name="Google Shape;135;p6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247015" y="757057"/>
            <a:ext cx="8339636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Often times, to perform database operations, we create a separate file commonly referred to as </a:t>
            </a:r>
            <a:r>
              <a:rPr b="1" lang="en-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database helper</a:t>
            </a:r>
            <a:r>
              <a:rPr lang="en-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Let’s create such a helper named class/</a:t>
            </a:r>
            <a:r>
              <a:rPr b="1" lang="en-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cart.dart</a:t>
            </a:r>
            <a:r>
              <a:rPr lang="en-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Prepare the imports and the class itself:</a:t>
            </a:r>
            <a:endParaRPr/>
          </a:p>
        </p:txBody>
      </p:sp>
      <p:sp>
        <p:nvSpPr>
          <p:cNvPr id="137" name="Google Shape;137;p6"/>
          <p:cNvSpPr/>
          <p:nvPr/>
        </p:nvSpPr>
        <p:spPr>
          <a:xfrm>
            <a:off x="460375" y="2040085"/>
            <a:ext cx="8339636" cy="21236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class DatabaseHelper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	static const _databaseName = "cart.db";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	static const _databaseVersion = 1;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	DatabaseHelper._privateConstructor();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	static final DatabaseHelper instance = DatabaseHelper._privateConstructor();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	static Database? _database;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	// functions here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sz="12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2" name="Google Shape;142;p7"/>
          <p:cNvCxnSpPr/>
          <p:nvPr/>
        </p:nvCxnSpPr>
        <p:spPr>
          <a:xfrm>
            <a:off x="0" y="576943"/>
            <a:ext cx="7336971" cy="1588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descr="Google's Flutter framework spreads its wings and goes multi-platform |  TechCrunch" id="143" name="Google Shape;143;p7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7"/>
          <p:cNvSpPr txBox="1"/>
          <p:nvPr>
            <p:ph type="title"/>
          </p:nvPr>
        </p:nvSpPr>
        <p:spPr>
          <a:xfrm>
            <a:off x="0" y="0"/>
            <a:ext cx="8229600" cy="5769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ct val="100000"/>
              <a:buFont typeface="Arial"/>
              <a:buNone/>
            </a:pPr>
            <a:r>
              <a:rPr b="1" lang="en-ID" sz="3600">
                <a:solidFill>
                  <a:srgbClr val="000090"/>
                </a:solidFill>
              </a:rPr>
              <a:t> Database helper (2)</a:t>
            </a:r>
            <a:endParaRPr/>
          </a:p>
        </p:txBody>
      </p:sp>
      <p:cxnSp>
        <p:nvCxnSpPr>
          <p:cNvPr id="145" name="Google Shape;145;p7"/>
          <p:cNvCxnSpPr/>
          <p:nvPr/>
        </p:nvCxnSpPr>
        <p:spPr>
          <a:xfrm>
            <a:off x="0" y="576943"/>
            <a:ext cx="7336971" cy="1588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descr="Google's Flutter framework spreads its wings and goes multi-platform |  TechCrunch" id="146" name="Google Shape;146;p7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247015" y="2065481"/>
            <a:ext cx="4665643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Future&lt;Database?&gt; get database async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if (_database != null) return _database;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_database = await _initDatabase();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return _database;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_initDatabase() async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String path = join(await getDatabasesPath(), </a:t>
            </a:r>
            <a:b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			  _databaseName);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return await openDatabase(path,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version: _databaseVersion, onCreate: </a:t>
            </a:r>
            <a:b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			_onCreate);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247015" y="757057"/>
            <a:ext cx="833963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Initialize the database and prepare for reading. If the database does not exist, it will be created along with the tables</a:t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4464425" y="1581914"/>
            <a:ext cx="4432560" cy="21236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Future _onCreate(Database db, int version) async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await db.execute('''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CREATE TABLE cart  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id INTEGER PRIMARY KEY AUTOINCREMENT,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movie_id INTEGER NOT NULL,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title TEXT NOT NULL,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jumlah TEXT NOT NULL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''');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0" name="Google Shape;150;p7"/>
          <p:cNvSpPr txBox="1"/>
          <p:nvPr/>
        </p:nvSpPr>
        <p:spPr>
          <a:xfrm>
            <a:off x="247015" y="1547663"/>
            <a:ext cx="459524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import 'package:path/path.dart';</a:t>
            </a:r>
            <a:endParaRPr/>
          </a:p>
        </p:txBody>
      </p:sp>
      <p:sp>
        <p:nvSpPr>
          <p:cNvPr id="151" name="Google Shape;151;p7"/>
          <p:cNvSpPr txBox="1"/>
          <p:nvPr/>
        </p:nvSpPr>
        <p:spPr>
          <a:xfrm>
            <a:off x="247015" y="1746163"/>
            <a:ext cx="4595246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----------------------------------------------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6" name="Google Shape;156;p8"/>
          <p:cNvCxnSpPr/>
          <p:nvPr/>
        </p:nvCxnSpPr>
        <p:spPr>
          <a:xfrm>
            <a:off x="0" y="576943"/>
            <a:ext cx="7336971" cy="1588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descr="Google's Flutter framework spreads its wings and goes multi-platform |  TechCrunch" id="157" name="Google Shape;157;p8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8"/>
          <p:cNvSpPr txBox="1"/>
          <p:nvPr>
            <p:ph type="title"/>
          </p:nvPr>
        </p:nvSpPr>
        <p:spPr>
          <a:xfrm>
            <a:off x="0" y="0"/>
            <a:ext cx="8229600" cy="5769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ct val="100000"/>
              <a:buFont typeface="Arial"/>
              <a:buNone/>
            </a:pPr>
            <a:r>
              <a:rPr b="1" lang="en-ID" sz="3600">
                <a:solidFill>
                  <a:srgbClr val="000090"/>
                </a:solidFill>
              </a:rPr>
              <a:t> Database helper (3)</a:t>
            </a:r>
            <a:endParaRPr/>
          </a:p>
        </p:txBody>
      </p:sp>
      <p:cxnSp>
        <p:nvCxnSpPr>
          <p:cNvPr id="159" name="Google Shape;159;p8"/>
          <p:cNvCxnSpPr/>
          <p:nvPr/>
        </p:nvCxnSpPr>
        <p:spPr>
          <a:xfrm>
            <a:off x="0" y="576943"/>
            <a:ext cx="7336971" cy="1588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descr="Google's Flutter framework spreads its wings and goes multi-platform |  TechCrunch" id="160" name="Google Shape;160;p8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247016" y="1581914"/>
            <a:ext cx="7285898" cy="2246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Future&lt;int?&gt; addCart(Map&lt;String, dynamic&gt; row) async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Database? db = await instance.database;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return await db!.insert('cart', row);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Future&lt;List&lt;Map&lt;String, dynamic&gt;&gt;?&gt; viewCart() async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Database? db = await instance.database;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return await db!.query('cart');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/>
          </a:p>
        </p:txBody>
      </p:sp>
      <p:sp>
        <p:nvSpPr>
          <p:cNvPr id="162" name="Google Shape;162;p8"/>
          <p:cNvSpPr/>
          <p:nvPr/>
        </p:nvSpPr>
        <p:spPr>
          <a:xfrm>
            <a:off x="247015" y="757057"/>
            <a:ext cx="8339636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Next, we prepare functions for CRUD. We will need functions to insert and view all data. Insert is used when user adds a movie to the cart. View all data is used on a new page to see the cart contents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"/>
          <p:cNvSpPr txBox="1"/>
          <p:nvPr>
            <p:ph type="title"/>
          </p:nvPr>
        </p:nvSpPr>
        <p:spPr>
          <a:xfrm>
            <a:off x="3567544" y="2180036"/>
            <a:ext cx="5424055" cy="7525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AE5F1"/>
              </a:buClr>
              <a:buSzPts val="4800"/>
              <a:buFont typeface="Arial"/>
              <a:buNone/>
            </a:pPr>
            <a:r>
              <a:rPr b="1" lang="en-ID" sz="4800">
                <a:solidFill>
                  <a:srgbClr val="DAE5F1"/>
                </a:solidFill>
              </a:rPr>
              <a:t>SHOPPING CART</a:t>
            </a:r>
            <a:endParaRPr/>
          </a:p>
        </p:txBody>
      </p:sp>
      <p:sp>
        <p:nvSpPr>
          <p:cNvPr id="168" name="Google Shape;168;p9"/>
          <p:cNvSpPr txBox="1"/>
          <p:nvPr/>
        </p:nvSpPr>
        <p:spPr>
          <a:xfrm>
            <a:off x="1627907" y="2012758"/>
            <a:ext cx="1789545" cy="13911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38CD5"/>
              </a:buClr>
              <a:buSzPts val="8000"/>
              <a:buFont typeface="Arial"/>
              <a:buNone/>
            </a:pPr>
            <a:r>
              <a:rPr b="1" lang="en-ID" sz="8000" cap="none">
                <a:solidFill>
                  <a:srgbClr val="538CD5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3" name="Google Shape;173;p10"/>
          <p:cNvCxnSpPr/>
          <p:nvPr/>
        </p:nvCxnSpPr>
        <p:spPr>
          <a:xfrm>
            <a:off x="0" y="576943"/>
            <a:ext cx="7336971" cy="1588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descr="Google's Flutter framework spreads its wings and goes multi-platform |  TechCrunch" id="174" name="Google Shape;174;p10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0"/>
          <p:cNvSpPr txBox="1"/>
          <p:nvPr>
            <p:ph type="title"/>
          </p:nvPr>
        </p:nvSpPr>
        <p:spPr>
          <a:xfrm>
            <a:off x="0" y="0"/>
            <a:ext cx="8229600" cy="5769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ct val="100000"/>
              <a:buFont typeface="Arial"/>
              <a:buNone/>
            </a:pPr>
            <a:r>
              <a:rPr b="1" lang="en-ID" sz="3600">
                <a:solidFill>
                  <a:srgbClr val="000090"/>
                </a:solidFill>
              </a:rPr>
              <a:t> Update popularmovie.dart</a:t>
            </a:r>
            <a:endParaRPr b="1" sz="3600">
              <a:solidFill>
                <a:srgbClr val="000090"/>
              </a:solidFill>
            </a:endParaRPr>
          </a:p>
        </p:txBody>
      </p:sp>
      <p:cxnSp>
        <p:nvCxnSpPr>
          <p:cNvPr id="176" name="Google Shape;176;p10"/>
          <p:cNvCxnSpPr/>
          <p:nvPr/>
        </p:nvCxnSpPr>
        <p:spPr>
          <a:xfrm>
            <a:off x="0" y="576943"/>
            <a:ext cx="7336971" cy="1588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descr="Google's Flutter framework spreads its wings and goes multi-platform |  TechCrunch" id="177" name="Google Shape;177;p10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0"/>
          <p:cNvSpPr/>
          <p:nvPr/>
        </p:nvSpPr>
        <p:spPr>
          <a:xfrm>
            <a:off x="247015" y="1680387"/>
            <a:ext cx="4499156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final dbHelper = DatabaseHelper.instance;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b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void addCart(movie_id, title) async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Map&lt;String, dynamic&gt; row =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'movie_id': movie_id,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'title': title,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'jumlah':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};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await dbHelper.addCart(row);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if (!mounted) return;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ScaffoldMessenger.of(context)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.showSnackBar(SnackBar(content: Text('Sukses manambah barang')));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/>
          </a:p>
        </p:txBody>
      </p:sp>
      <p:sp>
        <p:nvSpPr>
          <p:cNvPr id="179" name="Google Shape;179;p10"/>
          <p:cNvSpPr/>
          <p:nvPr/>
        </p:nvSpPr>
        <p:spPr>
          <a:xfrm>
            <a:off x="247015" y="757057"/>
            <a:ext cx="833963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 a helper object and an Add to Cart button. Insert data to cart is invoked when user clicks this button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0"/>
          <p:cNvSpPr/>
          <p:nvPr/>
        </p:nvSpPr>
        <p:spPr>
          <a:xfrm>
            <a:off x="3570514" y="1895830"/>
            <a:ext cx="5573486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		subtitle: Column(children: [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         Text(PMs[index].overview),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         ElevatedButton(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onPressed: ()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addCart(PMs[index].id, PMs[index].title);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},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child: Text("Add to cart"))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       ]),</a:t>
            </a:r>
            <a:endParaRPr/>
          </a:p>
        </p:txBody>
      </p:sp>
      <p:cxnSp>
        <p:nvCxnSpPr>
          <p:cNvPr id="181" name="Google Shape;181;p10"/>
          <p:cNvCxnSpPr/>
          <p:nvPr/>
        </p:nvCxnSpPr>
        <p:spPr>
          <a:xfrm>
            <a:off x="4328161" y="1680387"/>
            <a:ext cx="0" cy="288617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6" name="Google Shape;186;p11"/>
          <p:cNvCxnSpPr/>
          <p:nvPr/>
        </p:nvCxnSpPr>
        <p:spPr>
          <a:xfrm>
            <a:off x="0" y="576943"/>
            <a:ext cx="7336971" cy="1588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descr="Google's Flutter framework spreads its wings and goes multi-platform |  TechCrunch" id="187" name="Google Shape;187;p11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1"/>
          <p:cNvSpPr txBox="1"/>
          <p:nvPr>
            <p:ph type="title"/>
          </p:nvPr>
        </p:nvSpPr>
        <p:spPr>
          <a:xfrm>
            <a:off x="0" y="0"/>
            <a:ext cx="8229600" cy="5769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ct val="100000"/>
              <a:buFont typeface="Arial"/>
              <a:buNone/>
            </a:pPr>
            <a:r>
              <a:rPr b="1" lang="en-ID" sz="3600">
                <a:solidFill>
                  <a:srgbClr val="000090"/>
                </a:solidFill>
              </a:rPr>
              <a:t> Create Page ViewCart</a:t>
            </a:r>
            <a:endParaRPr b="1" sz="3600">
              <a:solidFill>
                <a:srgbClr val="000090"/>
              </a:solidFill>
            </a:endParaRPr>
          </a:p>
        </p:txBody>
      </p:sp>
      <p:cxnSp>
        <p:nvCxnSpPr>
          <p:cNvPr id="189" name="Google Shape;189;p11"/>
          <p:cNvCxnSpPr/>
          <p:nvPr/>
        </p:nvCxnSpPr>
        <p:spPr>
          <a:xfrm>
            <a:off x="0" y="576943"/>
            <a:ext cx="7336971" cy="1588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descr="Google's Flutter framework spreads its wings and goes multi-platform |  TechCrunch" id="190" name="Google Shape;190;p11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1"/>
          <p:cNvSpPr/>
          <p:nvPr/>
        </p:nvSpPr>
        <p:spPr>
          <a:xfrm>
            <a:off x="247015" y="1153886"/>
            <a:ext cx="4499156" cy="347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class ViewCart extends StatefulWidget {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const ViewCart({super.key});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@override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State&lt;ViewCart&gt; createState() =&gt; _ViewCartState();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class _ViewCartState extends State&lt;ViewCart&gt; {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final dbHelper = DatabaseHelper.instance;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List? _rsCart;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Future&lt;String&gt; _bacaData() async {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_rsCart = (await dbHelper.viewCart())!;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setState(() {});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if (_rsCart == null) {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throw Exception('Failed to load data');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} else {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return "sukses";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/>
          </a:p>
        </p:txBody>
      </p:sp>
      <p:sp>
        <p:nvSpPr>
          <p:cNvPr id="192" name="Google Shape;192;p11"/>
          <p:cNvSpPr/>
          <p:nvPr/>
        </p:nvSpPr>
        <p:spPr>
          <a:xfrm>
            <a:off x="247015" y="757057"/>
            <a:ext cx="833963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check if the data is stored in our SQLite database, create a new page to see the history. Use ListBuilder to display data from cart table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1"/>
          <p:cNvSpPr/>
          <p:nvPr/>
        </p:nvSpPr>
        <p:spPr>
          <a:xfrm>
            <a:off x="4150658" y="1280277"/>
            <a:ext cx="3861227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override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void initState()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_bacaData();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Widget _itemCart(index)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return Column(children: &lt;Widget&gt;[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Text(_rsCart?[index]['title']),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Text('jumlah=${_rsCart?[index]['jumlah']}'),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Divider(),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]);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8" name="Google Shape;198;p12"/>
          <p:cNvCxnSpPr/>
          <p:nvPr/>
        </p:nvCxnSpPr>
        <p:spPr>
          <a:xfrm>
            <a:off x="0" y="576943"/>
            <a:ext cx="7336971" cy="1588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descr="Google's Flutter framework spreads its wings and goes multi-platform |  TechCrunch" id="199" name="Google Shape;199;p12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2"/>
          <p:cNvSpPr txBox="1"/>
          <p:nvPr>
            <p:ph type="title"/>
          </p:nvPr>
        </p:nvSpPr>
        <p:spPr>
          <a:xfrm>
            <a:off x="0" y="0"/>
            <a:ext cx="8229600" cy="5769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ct val="100000"/>
              <a:buFont typeface="Arial"/>
              <a:buNone/>
            </a:pPr>
            <a:r>
              <a:rPr b="1" lang="en-ID" sz="3600">
                <a:solidFill>
                  <a:srgbClr val="000090"/>
                </a:solidFill>
              </a:rPr>
              <a:t>Continued…</a:t>
            </a:r>
            <a:endParaRPr/>
          </a:p>
        </p:txBody>
      </p:sp>
      <p:cxnSp>
        <p:nvCxnSpPr>
          <p:cNvPr id="201" name="Google Shape;201;p12"/>
          <p:cNvCxnSpPr/>
          <p:nvPr/>
        </p:nvCxnSpPr>
        <p:spPr>
          <a:xfrm>
            <a:off x="0" y="576943"/>
            <a:ext cx="7336971" cy="1588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descr="Google's Flutter framework spreads its wings and goes multi-platform |  TechCrunch" id="202" name="Google Shape;202;p12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2"/>
          <p:cNvSpPr/>
          <p:nvPr/>
        </p:nvSpPr>
        <p:spPr>
          <a:xfrm>
            <a:off x="307975" y="873463"/>
            <a:ext cx="7901903" cy="3970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@override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Widget build(BuildContext context)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return Scaffold(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appBar: AppBar(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title: const Text('Cart'),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body: SingleChildScrollView(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 child: Container(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     height: MediaQuery.of(context).size.height,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     child: _rsCart != null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         ? ListView.builder(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itemCount: _rsCart?.length,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itemBuilder: (BuildContext ctxt, int index)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return _itemCart(index);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})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         : Text('belum ada data'))));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8" name="Google Shape;208;p13"/>
          <p:cNvCxnSpPr/>
          <p:nvPr/>
        </p:nvCxnSpPr>
        <p:spPr>
          <a:xfrm>
            <a:off x="0" y="576943"/>
            <a:ext cx="7336971" cy="1588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descr="Google's Flutter framework spreads its wings and goes multi-platform |  TechCrunch" id="209" name="Google Shape;209;p13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3"/>
          <p:cNvSpPr txBox="1"/>
          <p:nvPr>
            <p:ph type="title"/>
          </p:nvPr>
        </p:nvSpPr>
        <p:spPr>
          <a:xfrm>
            <a:off x="0" y="0"/>
            <a:ext cx="8229600" cy="5769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ct val="100000"/>
              <a:buFont typeface="Arial"/>
              <a:buNone/>
            </a:pPr>
            <a:r>
              <a:rPr b="1" lang="en-ID" sz="3600">
                <a:solidFill>
                  <a:srgbClr val="000090"/>
                </a:solidFill>
              </a:rPr>
              <a:t>Test</a:t>
            </a:r>
            <a:endParaRPr/>
          </a:p>
        </p:txBody>
      </p:sp>
      <p:cxnSp>
        <p:nvCxnSpPr>
          <p:cNvPr id="211" name="Google Shape;211;p13"/>
          <p:cNvCxnSpPr/>
          <p:nvPr/>
        </p:nvCxnSpPr>
        <p:spPr>
          <a:xfrm>
            <a:off x="0" y="576943"/>
            <a:ext cx="7336971" cy="1588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descr="Google's Flutter framework spreads its wings and goes multi-platform |  TechCrunch" id="212" name="Google Shape;212;p13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3" name="Google Shape;21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63905" y="841754"/>
            <a:ext cx="2128407" cy="394796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3"/>
          <p:cNvSpPr/>
          <p:nvPr/>
        </p:nvSpPr>
        <p:spPr>
          <a:xfrm>
            <a:off x="2725783" y="4450080"/>
            <a:ext cx="3058885" cy="48768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5" name="Google Shape;215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62771" y="840166"/>
            <a:ext cx="2166829" cy="4096006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3"/>
          <p:cNvSpPr txBox="1"/>
          <p:nvPr/>
        </p:nvSpPr>
        <p:spPr>
          <a:xfrm>
            <a:off x="307975" y="993548"/>
            <a:ext cx="2130425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 some movies to cart, then view the cart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1" name="Google Shape;221;p14"/>
          <p:cNvCxnSpPr/>
          <p:nvPr/>
        </p:nvCxnSpPr>
        <p:spPr>
          <a:xfrm>
            <a:off x="0" y="576943"/>
            <a:ext cx="7336971" cy="1588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descr="Google's Flutter framework spreads its wings and goes multi-platform |  TechCrunch" id="222" name="Google Shape;222;p14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4"/>
          <p:cNvSpPr txBox="1"/>
          <p:nvPr>
            <p:ph type="title"/>
          </p:nvPr>
        </p:nvSpPr>
        <p:spPr>
          <a:xfrm>
            <a:off x="0" y="0"/>
            <a:ext cx="8229600" cy="5769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ct val="100000"/>
              <a:buFont typeface="Arial"/>
              <a:buNone/>
            </a:pPr>
            <a:r>
              <a:rPr b="1" lang="en-ID" sz="3600">
                <a:solidFill>
                  <a:srgbClr val="000090"/>
                </a:solidFill>
              </a:rPr>
              <a:t>Increase Qty Button</a:t>
            </a:r>
            <a:endParaRPr/>
          </a:p>
        </p:txBody>
      </p:sp>
      <p:cxnSp>
        <p:nvCxnSpPr>
          <p:cNvPr id="224" name="Google Shape;224;p14"/>
          <p:cNvCxnSpPr/>
          <p:nvPr/>
        </p:nvCxnSpPr>
        <p:spPr>
          <a:xfrm>
            <a:off x="0" y="576943"/>
            <a:ext cx="7336971" cy="1588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descr="Google's Flutter framework spreads its wings and goes multi-platform |  TechCrunch" id="225" name="Google Shape;225;p14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4"/>
          <p:cNvSpPr/>
          <p:nvPr/>
        </p:nvSpPr>
        <p:spPr>
          <a:xfrm>
            <a:off x="307975" y="2105134"/>
            <a:ext cx="3889557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Future tambahJumlah(movie_id) async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Database? db = await instance.database;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await db?.execute('''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UPDATE cart SET jumlah=jumlah+1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WHERE movie_id=${movie_id}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''');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7" name="Google Shape;227;p14"/>
          <p:cNvSpPr/>
          <p:nvPr/>
        </p:nvSpPr>
        <p:spPr>
          <a:xfrm>
            <a:off x="247015" y="757057"/>
            <a:ext cx="833963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Usually, on cart we can add/remove the item quantity by clicking + or – button. Prepare a function in the helper to add the quantity on a specified movie_id by 1. Add the + button for each item in the cart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4"/>
          <p:cNvSpPr/>
          <p:nvPr/>
        </p:nvSpPr>
        <p:spPr>
          <a:xfrm>
            <a:off x="4197531" y="1813663"/>
            <a:ext cx="5303519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Row(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children: [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Text('jumlah=' + _rsCart?[index]['jumlah']),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ElevatedButton(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onPressed: ()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dbHelper</a:t>
            </a:r>
            <a:endParaRPr sz="12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.tambahJumlah(_rsCart?[index]['movie_id'])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.then((value) =&gt; _bacaData());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},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child: Text("+"))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],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),</a:t>
            </a:r>
            <a:endParaRPr/>
          </a:p>
        </p:txBody>
      </p:sp>
      <p:cxnSp>
        <p:nvCxnSpPr>
          <p:cNvPr id="229" name="Google Shape;229;p14"/>
          <p:cNvCxnSpPr/>
          <p:nvPr/>
        </p:nvCxnSpPr>
        <p:spPr>
          <a:xfrm>
            <a:off x="4114800" y="1926608"/>
            <a:ext cx="0" cy="2854398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4" name="Google Shape;234;p15"/>
          <p:cNvCxnSpPr/>
          <p:nvPr/>
        </p:nvCxnSpPr>
        <p:spPr>
          <a:xfrm>
            <a:off x="0" y="576943"/>
            <a:ext cx="7336971" cy="1588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descr="Google's Flutter framework spreads its wings and goes multi-platform |  TechCrunch" id="235" name="Google Shape;235;p15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5"/>
          <p:cNvSpPr txBox="1"/>
          <p:nvPr>
            <p:ph type="title"/>
          </p:nvPr>
        </p:nvSpPr>
        <p:spPr>
          <a:xfrm>
            <a:off x="0" y="0"/>
            <a:ext cx="8229600" cy="5769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ct val="100000"/>
              <a:buFont typeface="Arial"/>
              <a:buNone/>
            </a:pPr>
            <a:r>
              <a:rPr b="1" lang="en-ID" sz="3600">
                <a:solidFill>
                  <a:srgbClr val="000090"/>
                </a:solidFill>
              </a:rPr>
              <a:t>Test</a:t>
            </a:r>
            <a:endParaRPr/>
          </a:p>
        </p:txBody>
      </p:sp>
      <p:cxnSp>
        <p:nvCxnSpPr>
          <p:cNvPr id="237" name="Google Shape;237;p15"/>
          <p:cNvCxnSpPr/>
          <p:nvPr/>
        </p:nvCxnSpPr>
        <p:spPr>
          <a:xfrm>
            <a:off x="0" y="576943"/>
            <a:ext cx="7336971" cy="1588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descr="Google's Flutter framework spreads its wings and goes multi-platform |  TechCrunch" id="238" name="Google Shape;238;p15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5"/>
          <p:cNvSpPr txBox="1"/>
          <p:nvPr/>
        </p:nvSpPr>
        <p:spPr>
          <a:xfrm>
            <a:off x="307975" y="993548"/>
            <a:ext cx="2955930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 some quantity to some movies.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Restart the app (or navigate back to this page) to prove that the data is stored on the local database</a:t>
            </a:r>
            <a:endParaRPr/>
          </a:p>
        </p:txBody>
      </p:sp>
      <p:pic>
        <p:nvPicPr>
          <p:cNvPr id="240" name="Google Shape;24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76028" y="721406"/>
            <a:ext cx="2231339" cy="4217951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5"/>
          <p:cNvSpPr txBox="1"/>
          <p:nvPr/>
        </p:nvSpPr>
        <p:spPr>
          <a:xfrm>
            <a:off x="5772603" y="980485"/>
            <a:ext cx="295593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you implement the - button?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6"/>
          <p:cNvSpPr txBox="1"/>
          <p:nvPr>
            <p:ph type="title"/>
          </p:nvPr>
        </p:nvSpPr>
        <p:spPr>
          <a:xfrm>
            <a:off x="3567544" y="2180036"/>
            <a:ext cx="5424055" cy="7525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AE5F1"/>
              </a:buClr>
              <a:buSzPts val="4800"/>
              <a:buFont typeface="Arial"/>
              <a:buNone/>
            </a:pPr>
            <a:r>
              <a:rPr b="1" lang="en-ID" sz="4800">
                <a:solidFill>
                  <a:srgbClr val="DAE5F1"/>
                </a:solidFill>
              </a:rPr>
              <a:t>CHECKOUT</a:t>
            </a:r>
            <a:endParaRPr/>
          </a:p>
        </p:txBody>
      </p:sp>
      <p:sp>
        <p:nvSpPr>
          <p:cNvPr id="247" name="Google Shape;247;p16"/>
          <p:cNvSpPr txBox="1"/>
          <p:nvPr/>
        </p:nvSpPr>
        <p:spPr>
          <a:xfrm>
            <a:off x="1627907" y="2012758"/>
            <a:ext cx="1789545" cy="13911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38CD5"/>
              </a:buClr>
              <a:buSzPts val="8000"/>
              <a:buFont typeface="Arial"/>
              <a:buNone/>
            </a:pPr>
            <a:r>
              <a:rPr b="1" lang="en-ID" sz="8000" cap="none">
                <a:solidFill>
                  <a:srgbClr val="538CD5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2" name="Google Shape;252;p17"/>
          <p:cNvCxnSpPr/>
          <p:nvPr/>
        </p:nvCxnSpPr>
        <p:spPr>
          <a:xfrm>
            <a:off x="0" y="576943"/>
            <a:ext cx="7336971" cy="1588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descr="Google's Flutter framework spreads its wings and goes multi-platform |  TechCrunch" id="253" name="Google Shape;253;p17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7"/>
          <p:cNvSpPr txBox="1"/>
          <p:nvPr>
            <p:ph type="title"/>
          </p:nvPr>
        </p:nvSpPr>
        <p:spPr>
          <a:xfrm>
            <a:off x="0" y="0"/>
            <a:ext cx="8229600" cy="5769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ct val="100000"/>
              <a:buFont typeface="Arial"/>
              <a:buNone/>
            </a:pPr>
            <a:r>
              <a:rPr b="1" lang="en-ID" sz="3600">
                <a:solidFill>
                  <a:srgbClr val="000090"/>
                </a:solidFill>
              </a:rPr>
              <a:t>Sales and Sales Items</a:t>
            </a:r>
            <a:endParaRPr/>
          </a:p>
        </p:txBody>
      </p:sp>
      <p:cxnSp>
        <p:nvCxnSpPr>
          <p:cNvPr id="255" name="Google Shape;255;p17"/>
          <p:cNvCxnSpPr/>
          <p:nvPr/>
        </p:nvCxnSpPr>
        <p:spPr>
          <a:xfrm>
            <a:off x="0" y="576943"/>
            <a:ext cx="7336971" cy="1588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descr="Google's Flutter framework spreads its wings and goes multi-platform |  TechCrunch" id="256" name="Google Shape;256;p17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7"/>
          <p:cNvSpPr txBox="1"/>
          <p:nvPr/>
        </p:nvSpPr>
        <p:spPr>
          <a:xfrm>
            <a:off x="307975" y="993548"/>
            <a:ext cx="60489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 the next step, user check outs the cart. Items on their cart will be stored on the server database, and cart will be emptied.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sale transaction usually consists of a header and detail of transaction. Modify the database so the header will be stored in “penjualan” table, and transaction detail to “item_penjualan” table. Usually, they relate to the same key, e.g., transaction ID. To simplify, the transaction </a:t>
            </a:r>
            <a:r>
              <a:rPr b="1" lang="en-ID" sz="1600">
                <a:solidFill>
                  <a:schemeClr val="dk1"/>
                </a:solidFill>
              </a:rPr>
              <a:t>ID is auto-incremented</a:t>
            </a:r>
            <a:r>
              <a:rPr lang="en-ID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which will be returned when the header is successfully stored. The same ID will be used to insert the transaction detail.</a:t>
            </a:r>
            <a:endParaRPr/>
          </a:p>
        </p:txBody>
      </p:sp>
      <p:pic>
        <p:nvPicPr>
          <p:cNvPr id="258" name="Google Shape;25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41361" y="1636849"/>
            <a:ext cx="2466807" cy="2360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3" name="Google Shape;263;p18"/>
          <p:cNvCxnSpPr/>
          <p:nvPr/>
        </p:nvCxnSpPr>
        <p:spPr>
          <a:xfrm>
            <a:off x="0" y="576943"/>
            <a:ext cx="7336971" cy="1588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descr="Google's Flutter framework spreads its wings and goes multi-platform |  TechCrunch" id="264" name="Google Shape;264;p18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8"/>
          <p:cNvSpPr txBox="1"/>
          <p:nvPr>
            <p:ph type="title"/>
          </p:nvPr>
        </p:nvSpPr>
        <p:spPr>
          <a:xfrm>
            <a:off x="0" y="0"/>
            <a:ext cx="8229600" cy="5769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ct val="100000"/>
              <a:buFont typeface="Arial"/>
              <a:buNone/>
            </a:pPr>
            <a:r>
              <a:rPr b="1" lang="en-ID" sz="3600">
                <a:solidFill>
                  <a:srgbClr val="000090"/>
                </a:solidFill>
              </a:rPr>
              <a:t>Web Service</a:t>
            </a:r>
            <a:endParaRPr/>
          </a:p>
        </p:txBody>
      </p:sp>
      <p:cxnSp>
        <p:nvCxnSpPr>
          <p:cNvPr id="266" name="Google Shape;266;p18"/>
          <p:cNvCxnSpPr/>
          <p:nvPr/>
        </p:nvCxnSpPr>
        <p:spPr>
          <a:xfrm>
            <a:off x="0" y="576943"/>
            <a:ext cx="7336971" cy="1588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descr="Google's Flutter framework spreads its wings and goes multi-platform |  TechCrunch" id="267" name="Google Shape;267;p18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8"/>
          <p:cNvSpPr txBox="1"/>
          <p:nvPr/>
        </p:nvSpPr>
        <p:spPr>
          <a:xfrm>
            <a:off x="307975" y="993548"/>
            <a:ext cx="8148048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simplify the data transfer to the server, we will construct a string like this: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movie_id_1,qty_1|movie_id_2,qty_2|movie_id_N,qty_N|etc.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web service only requires user_id and items parameters. The items parameter will be split to data for each item, which will be split again to movie_id and qty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3" name="Google Shape;273;p19"/>
          <p:cNvCxnSpPr/>
          <p:nvPr/>
        </p:nvCxnSpPr>
        <p:spPr>
          <a:xfrm>
            <a:off x="0" y="576943"/>
            <a:ext cx="7336971" cy="1588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descr="Google's Flutter framework spreads its wings and goes multi-platform |  TechCrunch" id="274" name="Google Shape;274;p19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9"/>
          <p:cNvSpPr txBox="1"/>
          <p:nvPr>
            <p:ph type="title"/>
          </p:nvPr>
        </p:nvSpPr>
        <p:spPr>
          <a:xfrm>
            <a:off x="0" y="0"/>
            <a:ext cx="8229600" cy="5769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ct val="100000"/>
              <a:buFont typeface="Arial"/>
              <a:buNone/>
            </a:pPr>
            <a:r>
              <a:rPr b="1" lang="en-ID" sz="3600">
                <a:solidFill>
                  <a:srgbClr val="000090"/>
                </a:solidFill>
              </a:rPr>
              <a:t>Web Service (2)</a:t>
            </a:r>
            <a:endParaRPr/>
          </a:p>
        </p:txBody>
      </p:sp>
      <p:cxnSp>
        <p:nvCxnSpPr>
          <p:cNvPr id="276" name="Google Shape;276;p19"/>
          <p:cNvCxnSpPr/>
          <p:nvPr/>
        </p:nvCxnSpPr>
        <p:spPr>
          <a:xfrm>
            <a:off x="0" y="576943"/>
            <a:ext cx="7336971" cy="1588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descr="Google's Flutter framework spreads its wings and goes multi-platform |  TechCrunch" id="277" name="Google Shape;277;p19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9"/>
          <p:cNvSpPr txBox="1"/>
          <p:nvPr/>
        </p:nvSpPr>
        <p:spPr>
          <a:xfrm>
            <a:off x="230337" y="631406"/>
            <a:ext cx="8148048" cy="42473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75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&lt;?php</a:t>
            </a:r>
            <a:endParaRPr sz="75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75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header("Access-Control-Allow-Origin: *");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75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. . . . Connection here . . . 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75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if (!isset($_POST['user_id']) || !isset($_POST['items']))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75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echo json_encode(["result"=&gt;"error","message"=&gt;"Missing parameters"]);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75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exit;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75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75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extract($_POST);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75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$sql = "INSERT INTO penjualan(user_id,tanggal) VALUES (?,now())";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75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$stmt = $conn-&gt;prepare($sql);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75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if (!$stmt)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75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echo json_encode(["result" =&gt; "error", "message" =&gt; "Prepare failed: " . $conn-&gt;error]);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75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exit;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75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75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$stmt-&gt;bind_param("s", $user_id);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75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if (!$stmt-&gt;execute())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75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echo json_encode(["result" =&gt; "error", "message" =&gt; "Execute failed: " . $stmt-&gt;error]);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75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exit;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75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75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$penjualan_id = $conn-&gt;insert_id;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75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$arr_item = explode("|", $items);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75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foreach ($arr_item as $item)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75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$arrdata = explode(",", $item);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75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if (count($arrdata) != 2) continue;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75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$sql = "INSERT INTO item_penjualan(penjualan_id,movie_id,jumlah) VALUES (?,?,?)";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75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$stmt = $conn-&gt;prepare($sql);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75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if (!$stmt) continue;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75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$stmt-&gt;bind_param("iii", $penjualan_id, $arrdata[0], $arrdata[1]);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75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$stmt-&gt;execute();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75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75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$arr = ["result"=&gt;"success","message"=&gt;"Data penjualan berhasil ditambahkan"];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75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echo json_encode($arr);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75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?&gt;</a:t>
            </a:r>
            <a:endParaRPr/>
          </a:p>
        </p:txBody>
      </p:sp>
      <p:sp>
        <p:nvSpPr>
          <p:cNvPr id="279" name="Google Shape;279;p19"/>
          <p:cNvSpPr txBox="1"/>
          <p:nvPr/>
        </p:nvSpPr>
        <p:spPr>
          <a:xfrm>
            <a:off x="6323849" y="1526059"/>
            <a:ext cx="1961002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Check it first using Postman or Thunder Client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4" name="Google Shape;284;p20"/>
          <p:cNvCxnSpPr/>
          <p:nvPr/>
        </p:nvCxnSpPr>
        <p:spPr>
          <a:xfrm>
            <a:off x="0" y="576943"/>
            <a:ext cx="7336971" cy="1588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descr="Google's Flutter framework spreads its wings and goes multi-platform |  TechCrunch" id="285" name="Google Shape;285;p20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0"/>
          <p:cNvSpPr txBox="1"/>
          <p:nvPr>
            <p:ph type="title"/>
          </p:nvPr>
        </p:nvSpPr>
        <p:spPr>
          <a:xfrm>
            <a:off x="0" y="0"/>
            <a:ext cx="8229600" cy="5769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ct val="100000"/>
              <a:buFont typeface="Arial"/>
              <a:buNone/>
            </a:pPr>
            <a:r>
              <a:rPr b="1" lang="en-ID" sz="3600">
                <a:solidFill>
                  <a:srgbClr val="000090"/>
                </a:solidFill>
              </a:rPr>
              <a:t>Submit</a:t>
            </a:r>
            <a:endParaRPr/>
          </a:p>
        </p:txBody>
      </p:sp>
      <p:cxnSp>
        <p:nvCxnSpPr>
          <p:cNvPr id="287" name="Google Shape;287;p20"/>
          <p:cNvCxnSpPr/>
          <p:nvPr/>
        </p:nvCxnSpPr>
        <p:spPr>
          <a:xfrm>
            <a:off x="0" y="576943"/>
            <a:ext cx="7336971" cy="1588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descr="Google's Flutter framework spreads its wings and goes multi-platform |  TechCrunch" id="288" name="Google Shape;288;p20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0"/>
          <p:cNvSpPr txBox="1"/>
          <p:nvPr/>
        </p:nvSpPr>
        <p:spPr>
          <a:xfrm>
            <a:off x="307975" y="721406"/>
            <a:ext cx="8148000" cy="41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void _submit() async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_rsCart = await dbHelper.viewCart();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String items = "";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_rsCart?.forEach((item)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items = items +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item['movie_id'].toString() +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',' +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item['jumlah'].toString() +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"|";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});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final response = await http.post(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Uri.parse("https://ubaya.cloud/flutter/[NRP]/checkout.php"),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body: {'user_id': activeUser, 'items': items});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if (response.statusCode == 200)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Map json = jsonDecode(response.body);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if (json['result'] == 'success')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ScaffoldMessenger.of(context)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 .showSnackBar(SnackBar(content: Text('Sukses Checkout')));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4" name="Google Shape;294;p21"/>
          <p:cNvCxnSpPr/>
          <p:nvPr/>
        </p:nvCxnSpPr>
        <p:spPr>
          <a:xfrm>
            <a:off x="0" y="576943"/>
            <a:ext cx="7336971" cy="1588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descr="Google's Flutter framework spreads its wings and goes multi-platform |  TechCrunch" id="295" name="Google Shape;295;p21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1"/>
          <p:cNvSpPr txBox="1"/>
          <p:nvPr>
            <p:ph type="title"/>
          </p:nvPr>
        </p:nvSpPr>
        <p:spPr>
          <a:xfrm>
            <a:off x="0" y="0"/>
            <a:ext cx="8229600" cy="5769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ct val="100000"/>
              <a:buFont typeface="Arial"/>
              <a:buNone/>
            </a:pPr>
            <a:r>
              <a:rPr b="1" lang="en-ID" sz="3600">
                <a:solidFill>
                  <a:srgbClr val="000090"/>
                </a:solidFill>
              </a:rPr>
              <a:t>Submit (2)</a:t>
            </a:r>
            <a:endParaRPr/>
          </a:p>
        </p:txBody>
      </p:sp>
      <p:cxnSp>
        <p:nvCxnSpPr>
          <p:cNvPr id="297" name="Google Shape;297;p21"/>
          <p:cNvCxnSpPr/>
          <p:nvPr/>
        </p:nvCxnSpPr>
        <p:spPr>
          <a:xfrm>
            <a:off x="0" y="576943"/>
            <a:ext cx="7336971" cy="1588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descr="Google's Flutter framework spreads its wings and goes multi-platform |  TechCrunch" id="298" name="Google Shape;298;p21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21"/>
          <p:cNvSpPr txBox="1"/>
          <p:nvPr/>
        </p:nvSpPr>
        <p:spPr>
          <a:xfrm>
            <a:off x="307975" y="721406"/>
            <a:ext cx="8148000" cy="44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 a Submit button below the Container. Wrap the Container with a Column, decrease its height, then add a Submit button below it. Call the submit() function when the button is clicked. If the check out is successful, call the empty cart function (after the snackbar)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ID" sz="1800">
                <a:solidFill>
                  <a:schemeClr val="dk1"/>
                </a:solidFill>
              </a:rPr>
            </a:br>
            <a:r>
              <a:rPr lang="en-ID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appBar: …., </a:t>
            </a:r>
            <a:br>
              <a:rPr lang="en-ID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ID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body: ….,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1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bottomNavigationBar: Padding(</a:t>
            </a:r>
            <a:endParaRPr sz="18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1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padding: const EdgeInsets.all(16),</a:t>
            </a:r>
            <a:endParaRPr sz="18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1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child: ElevatedButton(</a:t>
            </a:r>
            <a:endParaRPr sz="18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1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onPressed: _submit,</a:t>
            </a:r>
            <a:endParaRPr sz="18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1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child: const Text("Checkout"),</a:t>
            </a:r>
            <a:endParaRPr sz="18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1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),</a:t>
            </a:r>
            <a:endParaRPr sz="18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1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),</a:t>
            </a:r>
            <a:endParaRPr sz="18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4" name="Google Shape;304;g3b27cfee066_0_0"/>
          <p:cNvCxnSpPr/>
          <p:nvPr/>
        </p:nvCxnSpPr>
        <p:spPr>
          <a:xfrm>
            <a:off x="0" y="576943"/>
            <a:ext cx="7337100" cy="15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</p:cxnSp>
      <p:sp>
        <p:nvSpPr>
          <p:cNvPr descr="Google's Flutter framework spreads its wings and goes multi-platform |  TechCrunch" id="305" name="Google Shape;305;g3b27cfee066_0_0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g3b27cfee066_0_0"/>
          <p:cNvSpPr txBox="1"/>
          <p:nvPr>
            <p:ph type="title"/>
          </p:nvPr>
        </p:nvSpPr>
        <p:spPr>
          <a:xfrm>
            <a:off x="0" y="0"/>
            <a:ext cx="8229600" cy="5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ct val="100000"/>
              <a:buFont typeface="Arial"/>
              <a:buNone/>
            </a:pPr>
            <a:r>
              <a:rPr b="1" lang="en-ID" sz="3600">
                <a:solidFill>
                  <a:srgbClr val="000090"/>
                </a:solidFill>
              </a:rPr>
              <a:t>Submit (2)</a:t>
            </a:r>
            <a:endParaRPr/>
          </a:p>
        </p:txBody>
      </p:sp>
      <p:cxnSp>
        <p:nvCxnSpPr>
          <p:cNvPr id="307" name="Google Shape;307;g3b27cfee066_0_0"/>
          <p:cNvCxnSpPr/>
          <p:nvPr/>
        </p:nvCxnSpPr>
        <p:spPr>
          <a:xfrm>
            <a:off x="0" y="576943"/>
            <a:ext cx="7337100" cy="15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</p:cxnSp>
      <p:sp>
        <p:nvSpPr>
          <p:cNvPr descr="Google's Flutter framework spreads its wings and goes multi-platform |  TechCrunch" id="308" name="Google Shape;308;g3b27cfee066_0_0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g3b27cfee066_0_0"/>
          <p:cNvSpPr txBox="1"/>
          <p:nvPr/>
        </p:nvSpPr>
        <p:spPr>
          <a:xfrm>
            <a:off x="307975" y="721406"/>
            <a:ext cx="81480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 a Submit button below the Container. Wrap the Container with a Column, decrease its height, then add a Submit button below it. Call the submit() function when the button is clicked. If the check out is successful, call the empty cart function (after the snackbar)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g3b27cfee066_0_0"/>
          <p:cNvSpPr/>
          <p:nvPr/>
        </p:nvSpPr>
        <p:spPr>
          <a:xfrm>
            <a:off x="460374" y="2772496"/>
            <a:ext cx="5580300" cy="18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Future emptyCart() async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Database? db = await instance.database;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await db?.execute('''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DELETE FROM cart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''');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11" name="Google Shape;311;g3b27cfee066_0_0"/>
          <p:cNvCxnSpPr/>
          <p:nvPr/>
        </p:nvCxnSpPr>
        <p:spPr>
          <a:xfrm flipH="1">
            <a:off x="592163" y="2899954"/>
            <a:ext cx="6916800" cy="18375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</p:cxnSp>
      <p:sp>
        <p:nvSpPr>
          <p:cNvPr id="312" name="Google Shape;312;g3b27cfee066_0_0"/>
          <p:cNvSpPr/>
          <p:nvPr/>
        </p:nvSpPr>
        <p:spPr>
          <a:xfrm>
            <a:off x="1766846" y="4427823"/>
            <a:ext cx="587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dbHelper.emptyCart().then((value) =&gt; _bacaData());</a:t>
            </a:r>
            <a:endParaRPr sz="16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2"/>
          <p:cNvSpPr txBox="1"/>
          <p:nvPr/>
        </p:nvSpPr>
        <p:spPr>
          <a:xfrm>
            <a:off x="4862945" y="778274"/>
            <a:ext cx="3946237" cy="40708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lue-man-Questions-Comments" id="318" name="Google Shape;31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8657" y="547551"/>
            <a:ext cx="4474288" cy="4624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nformatika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2010-04-12T23:12:02Z</dcterms:created>
  <dc:creator>Diana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0x0101004CDBB0EA5517DF4B873B215CB2C55DE6</vt:lpwstr>
  </property>
</Properties>
</file>