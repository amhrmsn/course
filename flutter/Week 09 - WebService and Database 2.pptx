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8" roundtripDataSignature="AMtx7mhz94vjYKZqm6OpQ+0JSsFGg/6v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97a1b6568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997a1b6568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4"/>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6"/>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6"/>
          <p:cNvSpPr/>
          <p:nvPr>
            <p:ph idx="2" type="pic"/>
          </p:nvPr>
        </p:nvSpPr>
        <p:spPr>
          <a:xfrm>
            <a:off x="1792288" y="459581"/>
            <a:ext cx="5486400" cy="3086100"/>
          </a:xfrm>
          <a:prstGeom prst="rect">
            <a:avLst/>
          </a:prstGeom>
          <a:noFill/>
          <a:ln>
            <a:noFill/>
          </a:ln>
        </p:spPr>
      </p:sp>
      <p:sp>
        <p:nvSpPr>
          <p:cNvPr id="36" name="Google Shape;36;p36"/>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7"/>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7"/>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8"/>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8"/>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4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41"/>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11.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0.jp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1597826"/>
            <a:ext cx="8163000" cy="1527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Arial"/>
              <a:buNone/>
            </a:pPr>
            <a:r>
              <a:rPr b="1" lang="en-ID" sz="3500">
                <a:solidFill>
                  <a:schemeClr val="lt1"/>
                </a:solidFill>
              </a:rPr>
              <a:t>Web Service and Database Handling</a:t>
            </a:r>
            <a:br>
              <a:rPr b="1" lang="en-ID" sz="3500">
                <a:solidFill>
                  <a:schemeClr val="lt1"/>
                </a:solidFill>
              </a:rPr>
            </a:br>
            <a:r>
              <a:rPr b="1" lang="en-ID" sz="3500">
                <a:solidFill>
                  <a:schemeClr val="lt1"/>
                </a:solidFill>
              </a:rPr>
              <a:t>part 2 - Parameters and Nested JSON</a:t>
            </a:r>
            <a:endParaRPr sz="4300"/>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9</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00" cy="461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400"/>
              <a:buFont typeface="Arial"/>
              <a:buNone/>
            </a:pPr>
            <a:r>
              <a:rPr b="0" i="0" lang="en-ID" sz="24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400"/>
              <a:buFont typeface="Arial"/>
              <a:buNone/>
            </a:pPr>
            <a:r>
              <a:rPr b="1" lang="en-ID" sz="4400">
                <a:solidFill>
                  <a:srgbClr val="DAE5F1"/>
                </a:solidFill>
              </a:rPr>
              <a:t>PARAMETERIZED WEB SERVICE</a:t>
            </a:r>
            <a:endParaRPr/>
          </a:p>
        </p:txBody>
      </p:sp>
      <p:sp>
        <p:nvSpPr>
          <p:cNvPr id="96" name="Google Shape;96;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Parameterized Web Service</a:t>
            </a:r>
            <a:endParaRPr/>
          </a:p>
        </p:txBody>
      </p:sp>
      <p:cxnSp>
        <p:nvCxnSpPr>
          <p:cNvPr id="102" name="Google Shape;102;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03" name="Google Shape;103;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3"/>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100"/>
              <a:buNone/>
            </a:pPr>
            <a:r>
              <a:rPr lang="en-ID" sz="2000"/>
              <a:t>It is very common for web service to take requests equipped with </a:t>
            </a:r>
            <a:r>
              <a:rPr b="1" lang="en-ID" sz="2000"/>
              <a:t>parameters</a:t>
            </a:r>
            <a:r>
              <a:rPr lang="en-ID" sz="2000"/>
              <a:t> as input for </a:t>
            </a:r>
            <a:r>
              <a:rPr b="1" lang="en-ID" sz="2000"/>
              <a:t>filtering the response</a:t>
            </a:r>
            <a:r>
              <a:rPr lang="en-ID" sz="2000"/>
              <a:t> from database server and also as data for </a:t>
            </a:r>
            <a:r>
              <a:rPr b="1" lang="en-ID" sz="2000"/>
              <a:t>inserting</a:t>
            </a:r>
            <a:r>
              <a:rPr lang="en-ID" sz="2000"/>
              <a:t> something to database, etc.. .</a:t>
            </a:r>
            <a:endParaRPr/>
          </a:p>
          <a:p>
            <a:pPr indent="0" lvl="0" marL="0" rtl="0" algn="just">
              <a:lnSpc>
                <a:spcPct val="90000"/>
              </a:lnSpc>
              <a:spcBef>
                <a:spcPts val="1000"/>
              </a:spcBef>
              <a:spcAft>
                <a:spcPts val="0"/>
              </a:spcAft>
              <a:buClr>
                <a:schemeClr val="dk1"/>
              </a:buClr>
              <a:buSzPts val="1100"/>
              <a:buNone/>
            </a:pPr>
            <a:r>
              <a:rPr lang="en-ID" sz="2000"/>
              <a:t>For simple example, we will add a parameter in a web service we already prepared in previous week for </a:t>
            </a:r>
            <a:r>
              <a:rPr b="1" lang="en-ID" sz="2000"/>
              <a:t>filtering the title of the movie</a:t>
            </a:r>
            <a:r>
              <a:rPr lang="en-ID" sz="2000"/>
              <a:t>. Movies listed on the web service are movies which title contain word in the parameter.</a:t>
            </a:r>
            <a:endParaRPr sz="2000">
              <a:latin typeface="Calibri"/>
              <a:ea typeface="Calibri"/>
              <a:cs typeface="Calibri"/>
              <a:sym typeface="Calibri"/>
            </a:endParaRPr>
          </a:p>
          <a:p>
            <a:pPr indent="0" lvl="0" marL="0" rtl="0" algn="just">
              <a:spcBef>
                <a:spcPts val="533"/>
              </a:spcBef>
              <a:spcAft>
                <a:spcPts val="0"/>
              </a:spcAft>
              <a:buClr>
                <a:schemeClr val="dk1"/>
              </a:buClr>
              <a:buSzPts val="2667"/>
              <a:buNone/>
            </a:pPr>
            <a:r>
              <a:t/>
            </a:r>
            <a:endParaRPr sz="1400">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web service</a:t>
            </a:r>
            <a:endParaRPr/>
          </a:p>
        </p:txBody>
      </p:sp>
      <p:cxnSp>
        <p:nvCxnSpPr>
          <p:cNvPr id="110" name="Google Shape;110;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11" name="Google Shape;111;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4"/>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100"/>
              <a:buNone/>
            </a:pPr>
            <a:r>
              <a:rPr lang="en-ID" sz="2000"/>
              <a:t>Add in our previous web service a WHERE sentence to filter the movie title.</a:t>
            </a:r>
            <a:endParaRPr/>
          </a:p>
          <a:p>
            <a:pPr indent="0" lvl="0" marL="0" rtl="0" algn="l">
              <a:lnSpc>
                <a:spcPct val="120000"/>
              </a:lnSpc>
              <a:spcBef>
                <a:spcPts val="1000"/>
              </a:spcBef>
              <a:spcAft>
                <a:spcPts val="0"/>
              </a:spcAft>
              <a:buClr>
                <a:schemeClr val="dk1"/>
              </a:buClr>
              <a:buSzPts val="1100"/>
              <a:buNone/>
            </a:pPr>
            <a:r>
              <a:rPr lang="en-ID" sz="2000">
                <a:latin typeface="Consolas"/>
                <a:ea typeface="Consolas"/>
                <a:cs typeface="Consolas"/>
                <a:sym typeface="Consolas"/>
              </a:rPr>
              <a:t>   </a:t>
            </a:r>
            <a:r>
              <a:rPr lang="en-ID" sz="2000">
                <a:solidFill>
                  <a:srgbClr val="FF0000"/>
                </a:solidFill>
                <a:latin typeface="Consolas"/>
                <a:ea typeface="Consolas"/>
                <a:cs typeface="Consolas"/>
                <a:sym typeface="Consolas"/>
              </a:rPr>
              <a:t>$cari="%".$_POST['cari']."%"; </a:t>
            </a:r>
            <a:endParaRPr/>
          </a:p>
          <a:p>
            <a:pPr indent="0" lvl="0" marL="0" rtl="0" algn="l">
              <a:lnSpc>
                <a:spcPct val="120000"/>
              </a:lnSpc>
              <a:spcBef>
                <a:spcPts val="1000"/>
              </a:spcBef>
              <a:spcAft>
                <a:spcPts val="0"/>
              </a:spcAft>
              <a:buClr>
                <a:schemeClr val="dk1"/>
              </a:buClr>
              <a:buSzPts val="1100"/>
              <a:buNone/>
            </a:pPr>
            <a:r>
              <a:rPr lang="en-ID" sz="2000">
                <a:latin typeface="Consolas"/>
                <a:ea typeface="Consolas"/>
                <a:cs typeface="Consolas"/>
                <a:sym typeface="Consolas"/>
              </a:rPr>
              <a:t>	$sql = "SELECT * FROM movie </a:t>
            </a:r>
            <a:r>
              <a:rPr lang="en-ID" sz="2000">
                <a:solidFill>
                  <a:srgbClr val="FF0000"/>
                </a:solidFill>
                <a:latin typeface="Consolas"/>
                <a:ea typeface="Consolas"/>
                <a:cs typeface="Consolas"/>
                <a:sym typeface="Consolas"/>
              </a:rPr>
              <a:t>where title like ? </a:t>
            </a:r>
            <a:r>
              <a:rPr lang="en-ID" sz="2000">
                <a:latin typeface="Consolas"/>
                <a:ea typeface="Consolas"/>
                <a:cs typeface="Consolas"/>
                <a:sym typeface="Consolas"/>
              </a:rPr>
              <a:t>";</a:t>
            </a:r>
            <a:endParaRPr/>
          </a:p>
          <a:p>
            <a:pPr indent="0" lvl="0" marL="0" rtl="0" algn="l">
              <a:lnSpc>
                <a:spcPct val="120000"/>
              </a:lnSpc>
              <a:spcBef>
                <a:spcPts val="1000"/>
              </a:spcBef>
              <a:spcAft>
                <a:spcPts val="0"/>
              </a:spcAft>
              <a:buClr>
                <a:schemeClr val="dk1"/>
              </a:buClr>
              <a:buSzPts val="1100"/>
              <a:buNone/>
            </a:pPr>
            <a:r>
              <a:rPr lang="en-ID" sz="2000">
                <a:latin typeface="Consolas"/>
                <a:ea typeface="Consolas"/>
                <a:cs typeface="Consolas"/>
                <a:sym typeface="Consolas"/>
              </a:rPr>
              <a:t>	$stmt = $conn-&gt;prepare($sql);</a:t>
            </a:r>
            <a:endParaRPr/>
          </a:p>
          <a:p>
            <a:pPr indent="0" lvl="0" marL="0" rtl="0" algn="l">
              <a:lnSpc>
                <a:spcPct val="120000"/>
              </a:lnSpc>
              <a:spcBef>
                <a:spcPts val="1000"/>
              </a:spcBef>
              <a:spcAft>
                <a:spcPts val="0"/>
              </a:spcAft>
              <a:buClr>
                <a:schemeClr val="dk1"/>
              </a:buClr>
              <a:buSzPts val="1100"/>
              <a:buNone/>
            </a:pPr>
            <a:r>
              <a:rPr lang="en-ID" sz="2000">
                <a:latin typeface="Consolas"/>
                <a:ea typeface="Consolas"/>
                <a:cs typeface="Consolas"/>
                <a:sym typeface="Consolas"/>
              </a:rPr>
              <a:t>   </a:t>
            </a:r>
            <a:r>
              <a:rPr lang="en-ID" sz="2000">
                <a:solidFill>
                  <a:srgbClr val="FF0000"/>
                </a:solidFill>
                <a:latin typeface="Consolas"/>
                <a:ea typeface="Consolas"/>
                <a:cs typeface="Consolas"/>
                <a:sym typeface="Consolas"/>
              </a:rPr>
              <a:t>$stmt-&gt;bind_param("s",$cari);</a:t>
            </a:r>
            <a:endParaRPr/>
          </a:p>
          <a:p>
            <a:pPr indent="0" lvl="0" marL="0" rtl="0" algn="l">
              <a:lnSpc>
                <a:spcPct val="120000"/>
              </a:lnSpc>
              <a:spcBef>
                <a:spcPts val="1000"/>
              </a:spcBef>
              <a:spcAft>
                <a:spcPts val="0"/>
              </a:spcAft>
              <a:buClr>
                <a:schemeClr val="dk1"/>
              </a:buClr>
              <a:buSzPts val="1100"/>
              <a:buNone/>
            </a:pPr>
            <a:r>
              <a:rPr lang="en-ID" sz="2000">
                <a:latin typeface="Consolas"/>
                <a:ea typeface="Consolas"/>
                <a:cs typeface="Consolas"/>
                <a:sym typeface="Consolas"/>
              </a:rPr>
              <a:t>	$stmt-&gt;execute();</a:t>
            </a:r>
            <a:endParaRPr/>
          </a:p>
        </p:txBody>
      </p:sp>
      <p:sp>
        <p:nvSpPr>
          <p:cNvPr id="113" name="Google Shape;113;p4"/>
          <p:cNvSpPr txBox="1"/>
          <p:nvPr/>
        </p:nvSpPr>
        <p:spPr>
          <a:xfrm>
            <a:off x="1563189" y="4359729"/>
            <a:ext cx="5103222"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make sure it run well. try it first with postman</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textbox</a:t>
            </a:r>
            <a:endParaRPr/>
          </a:p>
        </p:txBody>
      </p:sp>
      <p:cxnSp>
        <p:nvCxnSpPr>
          <p:cNvPr id="119" name="Google Shape;119;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20" name="Google Shape;120;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 name="Google Shape;121;p5"/>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20000"/>
              </a:lnSpc>
              <a:spcBef>
                <a:spcPts val="0"/>
              </a:spcBef>
              <a:spcAft>
                <a:spcPts val="0"/>
              </a:spcAft>
              <a:buClr>
                <a:schemeClr val="dk1"/>
              </a:buClr>
              <a:buSzPct val="59459"/>
              <a:buNone/>
            </a:pPr>
            <a:r>
              <a:rPr lang="en-ID" sz="2000"/>
              <a:t>Add a textbox for inputting filter text. When user press enter, it will request data to webservice.</a:t>
            </a:r>
            <a:endParaRPr/>
          </a:p>
          <a:p>
            <a:pPr indent="0" lvl="0" marL="0" rtl="0" algn="l">
              <a:lnSpc>
                <a:spcPct val="120000"/>
              </a:lnSpc>
              <a:spcBef>
                <a:spcPts val="1000"/>
              </a:spcBef>
              <a:spcAft>
                <a:spcPts val="0"/>
              </a:spcAft>
              <a:buClr>
                <a:schemeClr val="dk1"/>
              </a:buClr>
              <a:buSzPct val="74324"/>
              <a:buNone/>
            </a:pPr>
            <a:r>
              <a:t/>
            </a:r>
            <a:endParaRPr sz="1600">
              <a:solidFill>
                <a:srgbClr val="FF0000"/>
              </a:solidFill>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TextFormField(</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decoration: const InputDecoration(</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icon: Icon(Icons.search),</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labelText: 'Judul mengandung kata:',</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onFieldSubmitted: (value) {</a:t>
            </a:r>
            <a:br>
              <a:rPr lang="en-ID" sz="1600">
                <a:solidFill>
                  <a:srgbClr val="FF0000"/>
                </a:solidFill>
                <a:latin typeface="Consolas"/>
                <a:ea typeface="Consolas"/>
                <a:cs typeface="Consolas"/>
                <a:sym typeface="Consolas"/>
              </a:rPr>
            </a:br>
            <a:r>
              <a:rPr lang="en-ID" sz="1600">
                <a:solidFill>
                  <a:srgbClr val="FF0000"/>
                </a:solidFill>
                <a:latin typeface="Consolas"/>
                <a:ea typeface="Consolas"/>
                <a:cs typeface="Consolas"/>
                <a:sym typeface="Consolas"/>
              </a:rPr>
              <a:t>	   setState(() {</a:t>
            </a:r>
            <a:endParaRPr sz="1600">
              <a:solidFill>
                <a:srgbClr val="FF0000"/>
              </a:solidFill>
              <a:latin typeface="Consolas"/>
              <a:ea typeface="Consolas"/>
              <a:cs typeface="Consolas"/>
              <a:sym typeface="Consolas"/>
            </a:endParaRPr>
          </a:p>
          <a:p>
            <a:pPr indent="0" lvl="0" marL="0" rtl="0" algn="l">
              <a:spcBef>
                <a:spcPts val="296"/>
              </a:spcBef>
              <a:spcAft>
                <a:spcPts val="0"/>
              </a:spcAft>
              <a:buClr>
                <a:schemeClr val="dk1"/>
              </a:buClr>
              <a:buSzPct val="68750"/>
              <a:buFont typeface="Arial"/>
              <a:buNone/>
            </a:pPr>
            <a:r>
              <a:rPr lang="en-ID" sz="1600">
                <a:solidFill>
                  <a:srgbClr val="FF0000"/>
                </a:solidFill>
                <a:latin typeface="Consolas"/>
                <a:ea typeface="Consolas"/>
                <a:cs typeface="Consolas"/>
                <a:sym typeface="Consolas"/>
              </a:rPr>
              <a:t>           _txtCari = value;</a:t>
            </a:r>
            <a:endParaRPr sz="1600">
              <a:solidFill>
                <a:srgbClr val="FF0000"/>
              </a:solidFill>
              <a:latin typeface="Consolas"/>
              <a:ea typeface="Consolas"/>
              <a:cs typeface="Consolas"/>
              <a:sym typeface="Consolas"/>
            </a:endParaRPr>
          </a:p>
          <a:p>
            <a:pPr indent="0" lvl="0" marL="0" rtl="0" algn="l">
              <a:spcBef>
                <a:spcPts val="296"/>
              </a:spcBef>
              <a:spcAft>
                <a:spcPts val="0"/>
              </a:spcAft>
              <a:buClr>
                <a:schemeClr val="dk1"/>
              </a:buClr>
              <a:buSzPct val="68750"/>
              <a:buFont typeface="Arial"/>
              <a:buNone/>
            </a:pPr>
            <a:r>
              <a:rPr lang="en-ID" sz="1600">
                <a:solidFill>
                  <a:srgbClr val="FF0000"/>
                </a:solidFill>
                <a:latin typeface="Consolas"/>
                <a:ea typeface="Consolas"/>
                <a:cs typeface="Consolas"/>
                <a:sym typeface="Consolas"/>
              </a:rPr>
              <a:t>        });</a:t>
            </a:r>
            <a:endParaRPr sz="1600">
              <a:solidFill>
                <a:srgbClr val="FF0000"/>
              </a:solidFill>
              <a:latin typeface="Consolas"/>
              <a:ea typeface="Consolas"/>
              <a:cs typeface="Consolas"/>
              <a:sym typeface="Consolas"/>
            </a:endParaRPr>
          </a:p>
          <a:p>
            <a:pPr indent="0" lvl="0" marL="0" rtl="0" algn="l">
              <a:spcBef>
                <a:spcPts val="296"/>
              </a:spcBef>
              <a:spcAft>
                <a:spcPts val="0"/>
              </a:spcAft>
              <a:buClr>
                <a:srgbClr val="FF0000"/>
              </a:buClr>
              <a:buSzPct val="100000"/>
              <a:buNone/>
            </a:pPr>
            <a:r>
              <a:t/>
            </a:r>
            <a:endParaRPr sz="1600">
              <a:solidFill>
                <a:srgbClr val="FF0000"/>
              </a:solidFill>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PMs.clear();</a:t>
            </a:r>
            <a:endParaRPr sz="1600">
              <a:solidFill>
                <a:srgbClr val="FF0000"/>
              </a:solidFill>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bacaData();</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sz="1600">
              <a:latin typeface="Consolas"/>
              <a:ea typeface="Consolas"/>
              <a:cs typeface="Consolas"/>
              <a:sym typeface="Consolas"/>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sz="1600">
              <a:latin typeface="Consolas"/>
              <a:ea typeface="Consolas"/>
              <a:cs typeface="Consolas"/>
              <a:sym typeface="Consolas"/>
            </a:endParaRPr>
          </a:p>
        </p:txBody>
      </p:sp>
      <p:sp>
        <p:nvSpPr>
          <p:cNvPr id="122" name="Google Shape;122;p5"/>
          <p:cNvSpPr txBox="1"/>
          <p:nvPr/>
        </p:nvSpPr>
        <p:spPr>
          <a:xfrm>
            <a:off x="5009323" y="1570000"/>
            <a:ext cx="3324000" cy="31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Prepare local variable</a:t>
            </a:r>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String _txtcari='';</a:t>
            </a:r>
            <a:endParaRPr sz="18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Font typeface="Arial"/>
              <a:buNone/>
            </a:pPr>
            <a:r>
              <a:rPr lang="en-ID" sz="1800">
                <a:solidFill>
                  <a:schemeClr val="dk1"/>
                </a:solidFill>
              </a:rPr>
              <a:t>Update initState</a:t>
            </a:r>
            <a:endParaRPr>
              <a:solidFill>
                <a:schemeClr val="dk1"/>
              </a:solidFill>
            </a:endParaRPr>
          </a:p>
          <a:p>
            <a:pPr indent="0" lvl="0" marL="0" rtl="0" algn="l">
              <a:spcBef>
                <a:spcPts val="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@override</a:t>
            </a:r>
            <a:endParaRPr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  void initState() {</a:t>
            </a:r>
            <a:endParaRPr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    super.initState();</a:t>
            </a:r>
            <a:endParaRPr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    bacaData();</a:t>
            </a:r>
            <a:endParaRPr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    </a:t>
            </a:r>
            <a:r>
              <a:rPr b="1" lang="en-ID" sz="1800">
                <a:solidFill>
                  <a:srgbClr val="FF0000"/>
                </a:solidFill>
                <a:latin typeface="Consolas"/>
                <a:ea typeface="Consolas"/>
                <a:cs typeface="Consolas"/>
                <a:sym typeface="Consolas"/>
              </a:rPr>
              <a:t>_txtCari = "";</a:t>
            </a:r>
            <a:endParaRPr b="1"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  }</a:t>
            </a:r>
            <a:endParaRPr sz="1800">
              <a:solidFill>
                <a:srgbClr val="FF0000"/>
              </a:solidFill>
              <a:latin typeface="Consolas"/>
              <a:ea typeface="Consolas"/>
              <a:cs typeface="Consolas"/>
              <a:sym typeface="Consolas"/>
            </a:endParaRPr>
          </a:p>
          <a:p>
            <a:pPr indent="0" lvl="0" marL="0" rtl="0" algn="l">
              <a:spcBef>
                <a:spcPts val="0"/>
              </a:spcBef>
              <a:spcAft>
                <a:spcPts val="0"/>
              </a:spcAft>
              <a:buClr>
                <a:schemeClr val="dk1"/>
              </a:buClr>
              <a:buFont typeface="Arial"/>
              <a:buNone/>
            </a:pPr>
            <a:r>
              <a:t/>
            </a:r>
            <a:endParaRPr sz="1800">
              <a:solidFill>
                <a:srgbClr val="FF0000"/>
              </a:solidFill>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bacadata</a:t>
            </a:r>
            <a:endParaRPr b="1" sz="3600">
              <a:solidFill>
                <a:srgbClr val="000090"/>
              </a:solidFill>
            </a:endParaRPr>
          </a:p>
        </p:txBody>
      </p:sp>
      <p:cxnSp>
        <p:nvCxnSpPr>
          <p:cNvPr id="128" name="Google Shape;128;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29" name="Google Shape;129;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6"/>
          <p:cNvSpPr txBox="1"/>
          <p:nvPr>
            <p:ph idx="1" type="body"/>
          </p:nvPr>
        </p:nvSpPr>
        <p:spPr>
          <a:xfrm>
            <a:off x="457200" y="783771"/>
            <a:ext cx="2555966" cy="38108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100"/>
              <a:buNone/>
            </a:pPr>
            <a:r>
              <a:rPr lang="en-ID" sz="2000"/>
              <a:t>Update bacadata so it can handle if the API return no data because of the filter</a:t>
            </a:r>
            <a:endParaRPr sz="2000">
              <a:latin typeface="Consolas"/>
              <a:ea typeface="Consolas"/>
              <a:cs typeface="Consolas"/>
              <a:sym typeface="Consolas"/>
            </a:endParaRPr>
          </a:p>
        </p:txBody>
      </p:sp>
      <p:sp>
        <p:nvSpPr>
          <p:cNvPr id="131" name="Google Shape;131;p6"/>
          <p:cNvSpPr txBox="1"/>
          <p:nvPr/>
        </p:nvSpPr>
        <p:spPr>
          <a:xfrm>
            <a:off x="3775875" y="106675"/>
            <a:ext cx="5428800" cy="4402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bacaData()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Future&lt;String&gt; data = fetchData();</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data.then((value)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Map json = jsonDecode(value);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if(json['result']=='success')</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for (var mov in json['data'])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PopMovie pm = PopMovie.fromJson(mov);</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r>
              <a:rPr lang="en-ID">
                <a:solidFill>
                  <a:srgbClr val="FF0000"/>
                </a:solidFill>
                <a:latin typeface="Consolas"/>
                <a:ea typeface="Consolas"/>
                <a:cs typeface="Consolas"/>
                <a:sym typeface="Consolas"/>
              </a:rPr>
              <a:t>		</a:t>
            </a:r>
            <a:r>
              <a:rPr lang="en-ID" sz="1400">
                <a:solidFill>
                  <a:srgbClr val="FF0000"/>
                </a:solidFill>
                <a:latin typeface="Consolas"/>
                <a:ea typeface="Consolas"/>
                <a:cs typeface="Consolas"/>
                <a:sym typeface="Consolas"/>
              </a:rPr>
              <a:t>PMs.add(pm);</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else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PMs.clear();</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setState(()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sz="1400">
              <a:solidFill>
                <a:srgbClr val="FF0000"/>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fetchdata and interface</a:t>
            </a:r>
            <a:endParaRPr/>
          </a:p>
        </p:txBody>
      </p:sp>
      <p:cxnSp>
        <p:nvCxnSpPr>
          <p:cNvPr id="137" name="Google Shape;137;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38" name="Google Shape;138;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7"/>
          <p:cNvSpPr txBox="1"/>
          <p:nvPr>
            <p:ph idx="1" type="body"/>
          </p:nvPr>
        </p:nvSpPr>
        <p:spPr>
          <a:xfrm>
            <a:off x="457200" y="783771"/>
            <a:ext cx="8229600" cy="209559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100"/>
              <a:buNone/>
            </a:pPr>
            <a:r>
              <a:rPr lang="en-ID" sz="2000">
                <a:latin typeface="Arial"/>
                <a:ea typeface="Arial"/>
                <a:cs typeface="Arial"/>
                <a:sym typeface="Arial"/>
              </a:rPr>
              <a:t>In fetchdata change http.get to http.post, and add the parameter.</a:t>
            </a:r>
            <a:endParaRPr/>
          </a:p>
          <a:p>
            <a:pPr indent="0" lvl="0" marL="0" rtl="0" algn="l">
              <a:spcBef>
                <a:spcPts val="320"/>
              </a:spcBef>
              <a:spcAft>
                <a:spcPts val="0"/>
              </a:spcAft>
              <a:buClr>
                <a:schemeClr val="dk1"/>
              </a:buClr>
              <a:buSzPts val="1600"/>
              <a:buNone/>
            </a:pPr>
            <a:r>
              <a:rPr lang="en-ID" sz="1600">
                <a:latin typeface="Consolas"/>
                <a:ea typeface="Consolas"/>
                <a:cs typeface="Consolas"/>
                <a:sym typeface="Consolas"/>
              </a:rPr>
              <a:t>Future&lt;String&gt; fetchData() async {</a:t>
            </a:r>
            <a:endParaRPr/>
          </a:p>
          <a:p>
            <a:pPr indent="0" lvl="0" marL="0" rtl="0" algn="l">
              <a:spcBef>
                <a:spcPts val="320"/>
              </a:spcBef>
              <a:spcAft>
                <a:spcPts val="0"/>
              </a:spcAft>
              <a:buClr>
                <a:schemeClr val="dk1"/>
              </a:buClr>
              <a:buSzPts val="1600"/>
              <a:buNone/>
            </a:pPr>
            <a:r>
              <a:rPr lang="en-ID" sz="1600">
                <a:latin typeface="Consolas"/>
                <a:ea typeface="Consolas"/>
                <a:cs typeface="Consolas"/>
                <a:sym typeface="Consolas"/>
              </a:rPr>
              <a:t>  </a:t>
            </a:r>
            <a:r>
              <a:rPr lang="en-ID" sz="1600">
                <a:solidFill>
                  <a:srgbClr val="FF0000"/>
                </a:solidFill>
                <a:latin typeface="Consolas"/>
                <a:ea typeface="Consolas"/>
                <a:cs typeface="Consolas"/>
                <a:sym typeface="Consolas"/>
              </a:rPr>
              <a:t>final response = await http.post(Uri.parse("https://ubaya.cloud/flutter/[NRP]/movielist.php"),body: {'cari': _txtcari}</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a:t>
            </a:r>
            <a:endParaRPr/>
          </a:p>
        </p:txBody>
      </p:sp>
      <p:sp>
        <p:nvSpPr>
          <p:cNvPr id="140" name="Google Shape;140;p7"/>
          <p:cNvSpPr txBox="1"/>
          <p:nvPr/>
        </p:nvSpPr>
        <p:spPr>
          <a:xfrm>
            <a:off x="557351" y="3125950"/>
            <a:ext cx="8271600" cy="1569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D" sz="1600">
                <a:solidFill>
                  <a:srgbClr val="FF0000"/>
                </a:solidFill>
                <a:latin typeface="Consolas"/>
                <a:ea typeface="Consolas"/>
                <a:cs typeface="Consolas"/>
                <a:sym typeface="Consolas"/>
              </a:rPr>
              <a:t>Container(</a:t>
            </a:r>
            <a:endParaRPr sz="16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600">
                <a:solidFill>
                  <a:srgbClr val="FF0000"/>
                </a:solidFill>
                <a:latin typeface="Consolas"/>
                <a:ea typeface="Consolas"/>
                <a:cs typeface="Consolas"/>
                <a:sym typeface="Consolas"/>
              </a:rPr>
              <a:t>   height: MediaQuery.of(context).size.height - 200,</a:t>
            </a:r>
            <a:endParaRPr sz="16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600">
                <a:solidFill>
                  <a:srgbClr val="FF0000"/>
                </a:solidFill>
                <a:latin typeface="Consolas"/>
                <a:ea typeface="Consolas"/>
                <a:cs typeface="Consolas"/>
                <a:sym typeface="Consolas"/>
              </a:rPr>
              <a:t>   child: </a:t>
            </a:r>
            <a:r>
              <a:rPr b="1" lang="en-ID" sz="1600">
                <a:solidFill>
                  <a:srgbClr val="FF0000"/>
                </a:solidFill>
                <a:latin typeface="Consolas"/>
                <a:ea typeface="Consolas"/>
                <a:cs typeface="Consolas"/>
                <a:sym typeface="Consolas"/>
              </a:rPr>
              <a:t>PMs.isNotEmpty ? DaftarPopMovie(PMs) </a:t>
            </a:r>
            <a:br>
              <a:rPr b="1" lang="en-ID" sz="1600">
                <a:solidFill>
                  <a:srgbClr val="FF0000"/>
                </a:solidFill>
                <a:latin typeface="Consolas"/>
                <a:ea typeface="Consolas"/>
                <a:cs typeface="Consolas"/>
                <a:sym typeface="Consolas"/>
              </a:rPr>
            </a:br>
            <a:r>
              <a:rPr b="1" lang="en-ID" sz="1600">
                <a:solidFill>
                  <a:srgbClr val="FF0000"/>
                </a:solidFill>
                <a:latin typeface="Consolas"/>
                <a:ea typeface="Consolas"/>
                <a:cs typeface="Consolas"/>
                <a:sym typeface="Consolas"/>
              </a:rPr>
              <a:t>					     : const Text("tidak ada data"),</a:t>
            </a:r>
            <a:br>
              <a:rPr lang="en-ID" sz="1600">
                <a:solidFill>
                  <a:srgbClr val="FF0000"/>
                </a:solidFill>
                <a:latin typeface="Consolas"/>
                <a:ea typeface="Consolas"/>
                <a:cs typeface="Consolas"/>
                <a:sym typeface="Consolas"/>
              </a:rPr>
            </a:br>
            <a:r>
              <a:rPr lang="en-ID" sz="1600">
                <a:solidFill>
                  <a:srgbClr val="FF0000"/>
                </a:solidFill>
                <a:latin typeface="Consolas"/>
                <a:ea typeface="Consolas"/>
                <a:cs typeface="Consolas"/>
                <a:sym typeface="Consolas"/>
              </a:rPr>
              <a:t>)</a:t>
            </a:r>
            <a:endParaRPr sz="16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600">
              <a:solidFill>
                <a:srgbClr val="FF0000"/>
              </a:solidFill>
              <a:latin typeface="Consolas"/>
              <a:ea typeface="Consolas"/>
              <a:cs typeface="Consolas"/>
              <a:sym typeface="Consolas"/>
            </a:endParaRPr>
          </a:p>
        </p:txBody>
      </p:sp>
      <p:sp>
        <p:nvSpPr>
          <p:cNvPr id="141" name="Google Shape;141;p7"/>
          <p:cNvSpPr txBox="1"/>
          <p:nvPr/>
        </p:nvSpPr>
        <p:spPr>
          <a:xfrm>
            <a:off x="457200" y="2633487"/>
            <a:ext cx="5869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1100"/>
              <a:buFont typeface="Arial"/>
              <a:buNone/>
            </a:pPr>
            <a:r>
              <a:rPr lang="en-ID" sz="1800">
                <a:solidFill>
                  <a:schemeClr val="dk1"/>
                </a:solidFill>
                <a:latin typeface="Arial"/>
                <a:ea typeface="Arial"/>
                <a:cs typeface="Arial"/>
                <a:sym typeface="Arial"/>
              </a:rPr>
              <a:t>If there is no data, we will show an information text.</a:t>
            </a:r>
            <a:endParaRPr sz="1800">
              <a:solidFill>
                <a:schemeClr val="dk1"/>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Check the result</a:t>
            </a:r>
            <a:endParaRPr/>
          </a:p>
        </p:txBody>
      </p:sp>
      <p:cxnSp>
        <p:nvCxnSpPr>
          <p:cNvPr id="147" name="Google Shape;147;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48" name="Google Shape;148;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8"/>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100"/>
              <a:buNone/>
            </a:pPr>
            <a:r>
              <a:rPr lang="en-ID" sz="2000"/>
              <a:t>Run and do several filtering with different keyword</a:t>
            </a:r>
            <a:endParaRPr/>
          </a:p>
          <a:p>
            <a:pPr indent="0" lvl="0" marL="0" rtl="0" algn="l">
              <a:lnSpc>
                <a:spcPct val="120000"/>
              </a:lnSpc>
              <a:spcBef>
                <a:spcPts val="1000"/>
              </a:spcBef>
              <a:spcAft>
                <a:spcPts val="0"/>
              </a:spcAft>
              <a:buClr>
                <a:schemeClr val="dk1"/>
              </a:buClr>
              <a:buSzPts val="1100"/>
              <a:buNone/>
            </a:pPr>
            <a:r>
              <a:t/>
            </a:r>
            <a:endParaRPr sz="1600"/>
          </a:p>
          <a:p>
            <a:pPr indent="0" lvl="0" marL="0" rtl="0" algn="l">
              <a:lnSpc>
                <a:spcPct val="120000"/>
              </a:lnSpc>
              <a:spcBef>
                <a:spcPts val="1000"/>
              </a:spcBef>
              <a:spcAft>
                <a:spcPts val="0"/>
              </a:spcAft>
              <a:buClr>
                <a:schemeClr val="dk1"/>
              </a:buClr>
              <a:buSzPts val="1100"/>
              <a:buNone/>
            </a:pPr>
            <a:r>
              <a:t/>
            </a:r>
            <a:endParaRPr sz="2000">
              <a:latin typeface="Consolas"/>
              <a:ea typeface="Consolas"/>
              <a:cs typeface="Consolas"/>
              <a:sym typeface="Consolas"/>
            </a:endParaRPr>
          </a:p>
        </p:txBody>
      </p:sp>
      <p:pic>
        <p:nvPicPr>
          <p:cNvPr id="150" name="Google Shape;150;p8"/>
          <p:cNvPicPr preferRelativeResize="0"/>
          <p:nvPr/>
        </p:nvPicPr>
        <p:blipFill rotWithShape="1">
          <a:blip r:embed="rId4">
            <a:alphaModFix/>
          </a:blip>
          <a:srcRect b="0" l="0" r="0" t="0"/>
          <a:stretch/>
        </p:blipFill>
        <p:spPr>
          <a:xfrm>
            <a:off x="2321053" y="1242202"/>
            <a:ext cx="1750293" cy="3625251"/>
          </a:xfrm>
          <a:prstGeom prst="rect">
            <a:avLst/>
          </a:prstGeom>
          <a:noFill/>
          <a:ln>
            <a:noFill/>
          </a:ln>
        </p:spPr>
      </p:pic>
      <p:pic>
        <p:nvPicPr>
          <p:cNvPr id="151" name="Google Shape;151;p8"/>
          <p:cNvPicPr preferRelativeResize="0"/>
          <p:nvPr/>
        </p:nvPicPr>
        <p:blipFill rotWithShape="1">
          <a:blip r:embed="rId5">
            <a:alphaModFix/>
          </a:blip>
          <a:srcRect b="0" l="0" r="0" t="0"/>
          <a:stretch/>
        </p:blipFill>
        <p:spPr>
          <a:xfrm>
            <a:off x="4411380" y="1214809"/>
            <a:ext cx="1763518" cy="36526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sp>
        <p:nvSpPr>
          <p:cNvPr id="156" name="Google Shape;156;p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LOGIN HANDLING</a:t>
            </a:r>
            <a:endParaRPr/>
          </a:p>
        </p:txBody>
      </p:sp>
      <p:sp>
        <p:nvSpPr>
          <p:cNvPr id="157" name="Google Shape;157;p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cxnSp>
        <p:nvCxnSpPr>
          <p:cNvPr id="162" name="Google Shape;162;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3" name="Google Shape;163;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10"/>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Database Preparation</a:t>
            </a:r>
            <a:endParaRPr/>
          </a:p>
        </p:txBody>
      </p:sp>
      <p:cxnSp>
        <p:nvCxnSpPr>
          <p:cNvPr id="165" name="Google Shape;165;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6" name="Google Shape;166;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0"/>
          <p:cNvSpPr/>
          <p:nvPr/>
        </p:nvSpPr>
        <p:spPr>
          <a:xfrm>
            <a:off x="307975" y="993548"/>
            <a:ext cx="82296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For the second example, we will fix our login screen which we built in previous weeks when we study about shared preferences.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We will use master_user table which already in our database.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cxnSp>
        <p:nvCxnSpPr>
          <p:cNvPr id="172" name="Google Shape;172;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73" name="Google Shape;173;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11"/>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Prepare the web service</a:t>
            </a:r>
            <a:endParaRPr/>
          </a:p>
        </p:txBody>
      </p:sp>
      <p:cxnSp>
        <p:nvCxnSpPr>
          <p:cNvPr id="175" name="Google Shape;175;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76" name="Google Shape;176;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7" name="Google Shape;177;p11"/>
          <p:cNvSpPr/>
          <p:nvPr/>
        </p:nvSpPr>
        <p:spPr>
          <a:xfrm>
            <a:off x="307975" y="993548"/>
            <a:ext cx="8229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Create a web service to handle login. For example login.php</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11"/>
          <p:cNvSpPr/>
          <p:nvPr/>
        </p:nvSpPr>
        <p:spPr>
          <a:xfrm>
            <a:off x="460375" y="1749274"/>
            <a:ext cx="7838237" cy="31085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Consolas"/>
                <a:ea typeface="Consolas"/>
                <a:cs typeface="Consolas"/>
                <a:sym typeface="Consolas"/>
              </a:rPr>
              <a:t>//write after connection initiation</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extract($_POST);</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$sql = "SELECT * FROM master_user where user_id=? and user_password=?";</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$stmt = $conn-&gt;prepare($sql);</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$stmt-&gt;bind_param("ss",$user_id,$user_password);</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$stmt-&gt;execute();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$result = $stmt-&gt;get_result();</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if ($result-&gt;num_rows &gt; 0)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$r=mysqli_fetch_assoc($result);</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$arr=["result"=&gt;"success","user_name"=&gt;$r['user_name']];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else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$arr= ["result"=&gt;"error","message"=&gt;"sql error: $sql"];</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echo json_encode($arr);</a:t>
            </a:r>
            <a:endParaRPr>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cxnSp>
        <p:nvCxnSpPr>
          <p:cNvPr id="183" name="Google Shape;183;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4" name="Google Shape;184;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12"/>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Check web service</a:t>
            </a:r>
            <a:endParaRPr/>
          </a:p>
        </p:txBody>
      </p:sp>
      <p:cxnSp>
        <p:nvCxnSpPr>
          <p:cNvPr id="186" name="Google Shape;186;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7" name="Google Shape;187;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88" name="Google Shape;188;p12"/>
          <p:cNvPicPr preferRelativeResize="0"/>
          <p:nvPr/>
        </p:nvPicPr>
        <p:blipFill rotWithShape="1">
          <a:blip r:embed="rId4">
            <a:alphaModFix/>
          </a:blip>
          <a:srcRect b="0" l="0" r="0" t="0"/>
          <a:stretch/>
        </p:blipFill>
        <p:spPr>
          <a:xfrm>
            <a:off x="174171" y="741225"/>
            <a:ext cx="8403771" cy="36610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2" name="Shape 192"/>
        <p:cNvGrpSpPr/>
        <p:nvPr/>
      </p:nvGrpSpPr>
      <p:grpSpPr>
        <a:xfrm>
          <a:off x="0" y="0"/>
          <a:ext cx="0" cy="0"/>
          <a:chOff x="0" y="0"/>
          <a:chExt cx="0" cy="0"/>
        </a:xfrm>
      </p:grpSpPr>
      <p:cxnSp>
        <p:nvCxnSpPr>
          <p:cNvPr id="193" name="Google Shape;193;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4" name="Google Shape;194;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1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onclick login</a:t>
            </a:r>
            <a:endParaRPr/>
          </a:p>
        </p:txBody>
      </p:sp>
      <p:cxnSp>
        <p:nvCxnSpPr>
          <p:cNvPr id="196" name="Google Shape;196;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7" name="Google Shape;197;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13"/>
          <p:cNvSpPr/>
          <p:nvPr/>
        </p:nvSpPr>
        <p:spPr>
          <a:xfrm>
            <a:off x="307975" y="863752"/>
            <a:ext cx="8229600" cy="378565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ID" sz="1200">
                <a:solidFill>
                  <a:schemeClr val="dk1"/>
                </a:solidFill>
              </a:rPr>
              <a:t>Tambah variabel pesan error</a:t>
            </a:r>
            <a:endParaRPr sz="1200">
              <a:solidFill>
                <a:schemeClr val="dk1"/>
              </a:solidFill>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String _error_login =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chemeClr val="dk1"/>
                </a:solidFill>
              </a:rPr>
              <a:t>Set nilainya di initState</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@override</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void initState()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    super.initState();</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    _emailController.text =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    _passwordController.text =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    _error_login = "";</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chemeClr val="dk1"/>
                </a:solidFill>
              </a:rPr>
              <a:t>Buat widget text error</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Padding(</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padding: const EdgeInsets.all(10),</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child: Text(</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_error_login,</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       		style: const TextStyle(color: Colors.red),</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FF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cxnSp>
        <p:nvCxnSpPr>
          <p:cNvPr id="203" name="Google Shape;203;g3997a1b6568_0_12"/>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204" name="Google Shape;204;g3997a1b6568_0_12"/>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g3997a1b6568_0_12"/>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onclick login</a:t>
            </a:r>
            <a:endParaRPr/>
          </a:p>
        </p:txBody>
      </p:sp>
      <p:cxnSp>
        <p:nvCxnSpPr>
          <p:cNvPr id="206" name="Google Shape;206;g3997a1b6568_0_12"/>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207" name="Google Shape;207;g3997a1b6568_0_12"/>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g3997a1b6568_0_12"/>
          <p:cNvSpPr/>
          <p:nvPr/>
        </p:nvSpPr>
        <p:spPr>
          <a:xfrm>
            <a:off x="307975" y="863752"/>
            <a:ext cx="8229600" cy="378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void doLogin() async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final response = await http.post(</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Uri.parse("https://ubaya.cloud/flutter/[NRP]/login.php"),</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body: {'user_id': _user_id, 'user_password': _user_password});</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(response.statusCode == 200)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Map json = jsonDecode(response.body);</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(json['result'] == 'success')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final prefs = await SharedPreferences.getInstance();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prefs.setString("user_id", _user_id);</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prefs.setString("user_name", json['user_name']);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main();</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 else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_error_login = "Incorrect user or password";</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 else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throw Exception('Failed to read API');</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p:txBody>
      </p:sp>
      <p:pic>
        <p:nvPicPr>
          <p:cNvPr id="209" name="Google Shape;209;g3997a1b6568_0_12"/>
          <p:cNvPicPr preferRelativeResize="0"/>
          <p:nvPr/>
        </p:nvPicPr>
        <p:blipFill rotWithShape="1">
          <a:blip r:embed="rId4">
            <a:alphaModFix/>
          </a:blip>
          <a:srcRect b="0" l="0" r="0" t="0"/>
          <a:stretch/>
        </p:blipFill>
        <p:spPr>
          <a:xfrm>
            <a:off x="6520071" y="576956"/>
            <a:ext cx="2017510" cy="42797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14"/>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MOVIE DETAIL</a:t>
            </a:r>
            <a:endParaRPr/>
          </a:p>
        </p:txBody>
      </p:sp>
      <p:sp>
        <p:nvSpPr>
          <p:cNvPr id="215" name="Google Shape;215;p14"/>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 name="Shape 219"/>
        <p:cNvGrpSpPr/>
        <p:nvPr/>
      </p:nvGrpSpPr>
      <p:grpSpPr>
        <a:xfrm>
          <a:off x="0" y="0"/>
          <a:ext cx="0" cy="0"/>
          <a:chOff x="0" y="0"/>
          <a:chExt cx="0" cy="0"/>
        </a:xfrm>
      </p:grpSpPr>
      <p:sp>
        <p:nvSpPr>
          <p:cNvPr id="220" name="Google Shape;220;p1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Movie Detail</a:t>
            </a:r>
            <a:endParaRPr/>
          </a:p>
        </p:txBody>
      </p:sp>
      <p:cxnSp>
        <p:nvCxnSpPr>
          <p:cNvPr id="221" name="Google Shape;221;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22" name="Google Shape;222;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15"/>
          <p:cNvSpPr txBox="1"/>
          <p:nvPr/>
        </p:nvSpPr>
        <p:spPr>
          <a:xfrm>
            <a:off x="457200" y="855023"/>
            <a:ext cx="8229600" cy="373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ID" sz="2400">
                <a:solidFill>
                  <a:schemeClr val="dk1"/>
                </a:solidFill>
                <a:latin typeface="Arial"/>
                <a:ea typeface="Arial"/>
                <a:cs typeface="Arial"/>
                <a:sym typeface="Arial"/>
              </a:rPr>
              <a:t>Next example for parameterized webservice: picking all fields of one record in movie table selected by certain id_movie. </a:t>
            </a:r>
            <a:endParaRPr/>
          </a:p>
          <a:p>
            <a:pPr indent="0" lvl="0" marL="0" marR="0" rtl="0" algn="l">
              <a:spcBef>
                <a:spcPts val="0"/>
              </a:spcBef>
              <a:spcAft>
                <a:spcPts val="0"/>
              </a:spcAft>
              <a:buNone/>
            </a:pPr>
            <a:r>
              <a:rPr lang="en-ID" sz="2400">
                <a:solidFill>
                  <a:schemeClr val="dk1"/>
                </a:solidFill>
                <a:latin typeface="Arial"/>
                <a:ea typeface="Arial"/>
                <a:cs typeface="Arial"/>
                <a:sym typeface="Arial"/>
              </a:rPr>
              <a:t>Furthermore, it will also be added with some data as a result of parent-child relation of this table </a:t>
            </a:r>
            <a:endParaRPr sz="1800">
              <a:solidFill>
                <a:schemeClr val="dk1"/>
              </a:solidFill>
              <a:latin typeface="Arial"/>
              <a:ea typeface="Arial"/>
              <a:cs typeface="Arial"/>
              <a:sym typeface="Arial"/>
            </a:endParaRPr>
          </a:p>
        </p:txBody>
      </p:sp>
      <p:sp>
        <p:nvSpPr>
          <p:cNvPr descr="blob:https://web.whatsapp.com/4be9237d-cfc1-462e-ba51-978e9348df04" id="224" name="Google Shape;224;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1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Web Service detailmovie.php</a:t>
            </a:r>
            <a:endParaRPr b="1" sz="3600">
              <a:solidFill>
                <a:srgbClr val="000090"/>
              </a:solidFill>
            </a:endParaRPr>
          </a:p>
        </p:txBody>
      </p:sp>
      <p:cxnSp>
        <p:nvCxnSpPr>
          <p:cNvPr id="230" name="Google Shape;230;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31" name="Google Shape;231;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2" name="Google Shape;232;p16"/>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600">
                <a:solidFill>
                  <a:srgbClr val="FF0000"/>
                </a:solidFill>
                <a:latin typeface="Consolas"/>
                <a:ea typeface="Consolas"/>
                <a:cs typeface="Consolas"/>
                <a:sym typeface="Consolas"/>
              </a:rPr>
              <a:t>....</a:t>
            </a:r>
            <a:br>
              <a:rPr lang="en-ID" sz="1600">
                <a:solidFill>
                  <a:srgbClr val="FF0000"/>
                </a:solidFill>
                <a:latin typeface="Consolas"/>
                <a:ea typeface="Consolas"/>
                <a:cs typeface="Consolas"/>
                <a:sym typeface="Consolas"/>
              </a:rPr>
            </a:br>
            <a:r>
              <a:rPr lang="en-ID" sz="1600">
                <a:solidFill>
                  <a:srgbClr val="FF0000"/>
                </a:solidFill>
                <a:latin typeface="Consolas"/>
                <a:ea typeface="Consolas"/>
                <a:cs typeface="Consolas"/>
                <a:sym typeface="Consolas"/>
              </a:rPr>
              <a:t>    $id=$_POST['id']; </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$sql = "SELECT * FROM movie where movie_id = ? ";</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$stmt = $conn-&gt;prepare($sql);</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$stmt-&gt;bind_param("i",$id);</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$stmt-&gt;execute();</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$result = $stmt-&gt;get_result();</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if ($result-&gt;num_rows &gt; 0) {</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$r=mysqli_fetch_assoc($result);</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//nanti ditaruh movie genre dsb..</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$arr=["result"=&gt;"success","data"=&gt;$r];</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 else {</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$arr= ["result"=&gt;"error","message"=&gt;"sql error: $sql"];</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echo json_encode($arr);</a:t>
            </a:r>
            <a:endParaRPr i="0" sz="1600" u="none" cap="none" strike="noStrike">
              <a:solidFill>
                <a:srgbClr val="FF0000"/>
              </a:solidFill>
              <a:latin typeface="Consolas"/>
              <a:ea typeface="Consolas"/>
              <a:cs typeface="Consolas"/>
              <a:sym typeface="Consolas"/>
            </a:endParaRPr>
          </a:p>
        </p:txBody>
      </p:sp>
      <p:sp>
        <p:nvSpPr>
          <p:cNvPr descr="blob:https://web.whatsapp.com/4be9237d-cfc1-462e-ba51-978e9348df04" id="233" name="Google Shape;233;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7" name="Shape 237"/>
        <p:cNvGrpSpPr/>
        <p:nvPr/>
      </p:nvGrpSpPr>
      <p:grpSpPr>
        <a:xfrm>
          <a:off x="0" y="0"/>
          <a:ext cx="0" cy="0"/>
          <a:chOff x="0" y="0"/>
          <a:chExt cx="0" cy="0"/>
        </a:xfrm>
      </p:grpSpPr>
      <p:sp>
        <p:nvSpPr>
          <p:cNvPr id="238" name="Google Shape;238;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Check Web Service</a:t>
            </a:r>
            <a:endParaRPr/>
          </a:p>
        </p:txBody>
      </p:sp>
      <p:cxnSp>
        <p:nvCxnSpPr>
          <p:cNvPr id="239" name="Google Shape;239;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0" name="Google Shape;240;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41" name="Google Shape;241;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42" name="Google Shape;242;p17"/>
          <p:cNvPicPr preferRelativeResize="0"/>
          <p:nvPr/>
        </p:nvPicPr>
        <p:blipFill rotWithShape="1">
          <a:blip r:embed="rId4">
            <a:alphaModFix/>
          </a:blip>
          <a:srcRect b="0" l="0" r="0" t="0"/>
          <a:stretch/>
        </p:blipFill>
        <p:spPr>
          <a:xfrm>
            <a:off x="390706" y="852394"/>
            <a:ext cx="8525691" cy="37141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6" name="Shape 246"/>
        <p:cNvGrpSpPr/>
        <p:nvPr/>
      </p:nvGrpSpPr>
      <p:grpSpPr>
        <a:xfrm>
          <a:off x="0" y="0"/>
          <a:ext cx="0" cy="0"/>
          <a:chOff x="0" y="0"/>
          <a:chExt cx="0" cy="0"/>
        </a:xfrm>
      </p:grpSpPr>
      <p:sp>
        <p:nvSpPr>
          <p:cNvPr id="247" name="Google Shape;247;p1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Page detailpop.dart</a:t>
            </a:r>
            <a:endParaRPr b="1" sz="3600">
              <a:solidFill>
                <a:srgbClr val="000090"/>
              </a:solidFill>
            </a:endParaRPr>
          </a:p>
        </p:txBody>
      </p:sp>
      <p:cxnSp>
        <p:nvCxnSpPr>
          <p:cNvPr id="248" name="Google Shape;248;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9" name="Google Shape;249;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 name="Google Shape;250;p18"/>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Create a new page with stateful skeleton, for showing a movie information. Prepare this page to receive a parameter : movieID</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rgbClr val="FF0000"/>
              </a:solidFill>
              <a:latin typeface="Arial"/>
              <a:ea typeface="Arial"/>
              <a:cs typeface="Arial"/>
              <a:sym typeface="Arial"/>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class DetailPop extends StatefulWidget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int movieID;</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DetailPop({super.key, required this.movieID});</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State&lt;StatefulWidget&gt; createState()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return _DetailPopState();</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class _DetailPopState extends State&lt;DetailPop&gt;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Widget build(BuildContext context)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return Scaffold(</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appBar: AppBar(</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title: const Text('Detail of Popular Movie'),</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body: ListView(children: &lt;Widget&gt;[Text(widget.movieID.toString())]));</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  }</a:t>
            </a:r>
            <a:endParaRPr>
              <a:latin typeface="Consolas"/>
              <a:ea typeface="Consolas"/>
              <a:cs typeface="Consolas"/>
              <a:sym typeface="Consolas"/>
            </a:endParaRPr>
          </a:p>
          <a:p>
            <a:pPr indent="0" lvl="1" marL="457200" marR="0" rtl="0" algn="l">
              <a:spcBef>
                <a:spcPts val="0"/>
              </a:spcBef>
              <a:spcAft>
                <a:spcPts val="0"/>
              </a:spcAft>
              <a:buNone/>
            </a:pPr>
            <a:r>
              <a:rPr i="0" lang="en-ID" sz="1200" u="none" cap="none" strike="noStrike">
                <a:solidFill>
                  <a:srgbClr val="FF0000"/>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t/>
            </a:r>
            <a:endParaRPr i="0" sz="1200" u="none" cap="none" strike="noStrike">
              <a:solidFill>
                <a:srgbClr val="FF0000"/>
              </a:solidFill>
              <a:latin typeface="Consolas"/>
              <a:ea typeface="Consolas"/>
              <a:cs typeface="Consolas"/>
              <a:sym typeface="Consolas"/>
            </a:endParaRPr>
          </a:p>
        </p:txBody>
      </p:sp>
      <p:sp>
        <p:nvSpPr>
          <p:cNvPr descr="blob:https://web.whatsapp.com/4be9237d-cfc1-462e-ba51-978e9348df04" id="251" name="Google Shape;251;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1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Calling DetailPop</a:t>
            </a:r>
            <a:endParaRPr b="1" sz="3600">
              <a:solidFill>
                <a:srgbClr val="000090"/>
              </a:solidFill>
            </a:endParaRPr>
          </a:p>
        </p:txBody>
      </p:sp>
      <p:cxnSp>
        <p:nvCxnSpPr>
          <p:cNvPr id="257" name="Google Shape;257;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58" name="Google Shape;258;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19"/>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Page DetailPop will open when user click on the movie title in popularmovie page. We can use GestureDetector and its onTap so when the title is tapped, we go to the DetailPop screen (if you want to tap the whole list tile, simply use onTap)</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		</a:t>
            </a:r>
            <a:r>
              <a:rPr lang="en-ID" sz="1300">
                <a:solidFill>
                  <a:schemeClr val="dk1"/>
                </a:solidFill>
                <a:latin typeface="Consolas"/>
                <a:ea typeface="Consolas"/>
                <a:cs typeface="Consolas"/>
                <a:sym typeface="Consolas"/>
              </a:rPr>
              <a:t>leading: Icon(Icons.movie, size: 30),</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chemeClr val="dk1"/>
                </a:solidFill>
                <a:latin typeface="Consolas"/>
                <a:ea typeface="Consolas"/>
                <a:cs typeface="Consolas"/>
                <a:sym typeface="Consolas"/>
              </a:rPr>
              <a:t>             </a:t>
            </a:r>
            <a:r>
              <a:rPr lang="en-ID" sz="1300">
                <a:solidFill>
                  <a:srgbClr val="FF0000"/>
                </a:solidFill>
                <a:latin typeface="Consolas"/>
                <a:ea typeface="Consolas"/>
                <a:cs typeface="Consolas"/>
                <a:sym typeface="Consolas"/>
              </a:rPr>
              <a:t>title: GestureDetector(</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child: Text(PMs[index].title),</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onTap: () {</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Navigator.push(</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context,</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MaterialPageRoute(</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builder: (context) =&gt;</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r>
              <a:rPr lang="en-ID" sz="1300">
                <a:solidFill>
                  <a:srgbClr val="FF0000"/>
                </a:solidFill>
                <a:latin typeface="Consolas"/>
                <a:ea typeface="Consolas"/>
                <a:cs typeface="Consolas"/>
                <a:sym typeface="Consolas"/>
              </a:rPr>
              <a:t> </a:t>
            </a:r>
            <a:r>
              <a:rPr lang="en-ID" sz="1300">
                <a:solidFill>
                  <a:srgbClr val="FF0000"/>
                </a:solidFill>
                <a:latin typeface="Consolas"/>
                <a:ea typeface="Consolas"/>
                <a:cs typeface="Consolas"/>
                <a:sym typeface="Consolas"/>
              </a:rPr>
              <a:t>              DetailPop(movieID: PMs[index].id),</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r>
              <a:rPr lang="en-ID" sz="1300">
                <a:solidFill>
                  <a:schemeClr val="dk1"/>
                </a:solidFill>
                <a:latin typeface="Consolas"/>
                <a:ea typeface="Consolas"/>
                <a:cs typeface="Consolas"/>
                <a:sym typeface="Consolas"/>
              </a:rPr>
              <a:t>                  </a:t>
            </a:r>
            <a:br>
              <a:rPr lang="en-ID" sz="1300">
                <a:solidFill>
                  <a:schemeClr val="dk1"/>
                </a:solidFill>
                <a:latin typeface="Consolas"/>
                <a:ea typeface="Consolas"/>
                <a:cs typeface="Consolas"/>
                <a:sym typeface="Consolas"/>
              </a:rPr>
            </a:br>
            <a:r>
              <a:rPr lang="en-ID" sz="1300">
                <a:solidFill>
                  <a:schemeClr val="dk1"/>
                </a:solidFill>
                <a:latin typeface="Consolas"/>
                <a:ea typeface="Consolas"/>
                <a:cs typeface="Consolas"/>
                <a:sym typeface="Consolas"/>
              </a:rPr>
              <a:t>                subtitle: Text(PMs[index].overview),</a:t>
            </a:r>
            <a:endParaRPr sz="1100">
              <a:latin typeface="Consolas"/>
              <a:ea typeface="Consolas"/>
              <a:cs typeface="Consolas"/>
              <a:sym typeface="Consolas"/>
            </a:endParaRPr>
          </a:p>
          <a:p>
            <a:pPr indent="0" lvl="0" marL="0" marR="0" rtl="0" algn="l">
              <a:spcBef>
                <a:spcPts val="0"/>
              </a:spcBef>
              <a:spcAft>
                <a:spcPts val="0"/>
              </a:spcAft>
              <a:buNone/>
            </a:pPr>
            <a:r>
              <a:t/>
            </a:r>
            <a:endParaRPr b="0" i="0" sz="1200" u="none" cap="none" strike="noStrike">
              <a:solidFill>
                <a:srgbClr val="FF0000"/>
              </a:solidFill>
              <a:latin typeface="Arial"/>
              <a:ea typeface="Arial"/>
              <a:cs typeface="Arial"/>
              <a:sym typeface="Arial"/>
            </a:endParaRPr>
          </a:p>
        </p:txBody>
      </p:sp>
      <p:sp>
        <p:nvSpPr>
          <p:cNvPr descr="blob:https://web.whatsapp.com/4be9237d-cfc1-462e-ba51-978e9348df04" id="260" name="Google Shape;260;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61" name="Google Shape;261;p19"/>
          <p:cNvPicPr preferRelativeResize="0"/>
          <p:nvPr/>
        </p:nvPicPr>
        <p:blipFill rotWithShape="1">
          <a:blip r:embed="rId4">
            <a:alphaModFix/>
          </a:blip>
          <a:srcRect b="0" l="0" r="0" t="0"/>
          <a:stretch/>
        </p:blipFill>
        <p:spPr>
          <a:xfrm>
            <a:off x="6280335" y="1880558"/>
            <a:ext cx="1377146" cy="2892006"/>
          </a:xfrm>
          <a:prstGeom prst="rect">
            <a:avLst/>
          </a:prstGeom>
          <a:noFill/>
          <a:ln>
            <a:noFill/>
          </a:ln>
        </p:spPr>
      </p:pic>
      <p:cxnSp>
        <p:nvCxnSpPr>
          <p:cNvPr id="262" name="Google Shape;262;p19"/>
          <p:cNvCxnSpPr/>
          <p:nvPr/>
        </p:nvCxnSpPr>
        <p:spPr>
          <a:xfrm flipH="1" rot="10800000">
            <a:off x="7142668" y="2571750"/>
            <a:ext cx="625620" cy="249088"/>
          </a:xfrm>
          <a:prstGeom prst="straightConnector1">
            <a:avLst/>
          </a:prstGeom>
          <a:noFill/>
          <a:ln cap="flat" cmpd="sng" w="25400">
            <a:solidFill>
              <a:srgbClr val="FF0000"/>
            </a:solidFill>
            <a:prstDash val="solid"/>
            <a:round/>
            <a:headEnd len="sm" w="sm" type="none"/>
            <a:tailEnd len="med" w="med" type="triangle"/>
          </a:ln>
          <a:effectLst>
            <a:outerShdw blurRad="40000" rotWithShape="0" dir="5400000" dist="20000">
              <a:srgbClr val="000000">
                <a:alpha val="37647"/>
              </a:srgbClr>
            </a:outerShdw>
          </a:effectLst>
        </p:spPr>
      </p:cxnSp>
      <p:pic>
        <p:nvPicPr>
          <p:cNvPr id="263" name="Google Shape;263;p19"/>
          <p:cNvPicPr preferRelativeResize="0"/>
          <p:nvPr/>
        </p:nvPicPr>
        <p:blipFill rotWithShape="1">
          <a:blip r:embed="rId5">
            <a:alphaModFix/>
          </a:blip>
          <a:srcRect b="0" l="0" r="0" t="0"/>
          <a:stretch/>
        </p:blipFill>
        <p:spPr>
          <a:xfrm>
            <a:off x="7716532" y="2078964"/>
            <a:ext cx="1377146" cy="289200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sp>
        <p:nvSpPr>
          <p:cNvPr id="268" name="Google Shape;268;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Fix DetailPop</a:t>
            </a:r>
            <a:endParaRPr b="1" sz="3600">
              <a:solidFill>
                <a:srgbClr val="000090"/>
              </a:solidFill>
            </a:endParaRPr>
          </a:p>
        </p:txBody>
      </p:sp>
      <p:cxnSp>
        <p:nvCxnSpPr>
          <p:cNvPr id="269" name="Google Shape;269;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70" name="Google Shape;270;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 name="Google Shape;271;p20"/>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Prepare a variable for storing one movie data using our existing PopMovie class</a:t>
            </a:r>
            <a:endParaRPr/>
          </a:p>
          <a:p>
            <a:pPr indent="0" lvl="0" marL="0" marR="0" rtl="0" algn="l">
              <a:spcBef>
                <a:spcPts val="0"/>
              </a:spcBef>
              <a:spcAft>
                <a:spcPts val="0"/>
              </a:spcAft>
              <a:buNone/>
            </a:pPr>
            <a:r>
              <a:t/>
            </a:r>
            <a:endParaRPr b="0" i="0" sz="1200" u="none" cap="none" strike="noStrike">
              <a:solidFill>
                <a:srgbClr val="FF0000"/>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Consolas"/>
                <a:ea typeface="Consolas"/>
                <a:cs typeface="Consolas"/>
                <a:sym typeface="Consolas"/>
              </a:rPr>
              <a:t>class _DetailPopState extends State&lt;DetailPop&gt; {</a:t>
            </a:r>
            <a:endParaRPr>
              <a:latin typeface="Consolas"/>
              <a:ea typeface="Consolas"/>
              <a:cs typeface="Consolas"/>
              <a:sym typeface="Consolas"/>
            </a:endParaRPr>
          </a:p>
          <a:p>
            <a:pPr indent="0" lvl="0" marL="0" marR="0" rtl="0" algn="l">
              <a:spcBef>
                <a:spcPts val="0"/>
              </a:spcBef>
              <a:spcAft>
                <a:spcPts val="0"/>
              </a:spcAft>
              <a:buNone/>
            </a:pPr>
            <a:r>
              <a:rPr lang="en-ID" sz="1800">
                <a:solidFill>
                  <a:schemeClr val="dk1"/>
                </a:solidFill>
                <a:latin typeface="Consolas"/>
                <a:ea typeface="Consolas"/>
                <a:cs typeface="Consolas"/>
                <a:sym typeface="Consolas"/>
              </a:rPr>
              <a:t>  </a:t>
            </a:r>
            <a:r>
              <a:rPr lang="en-ID" sz="1800">
                <a:solidFill>
                  <a:srgbClr val="FF0000"/>
                </a:solidFill>
                <a:latin typeface="Consolas"/>
                <a:ea typeface="Consolas"/>
                <a:cs typeface="Consolas"/>
                <a:sym typeface="Consolas"/>
              </a:rPr>
              <a:t> PopMovie? _pm;</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void initState()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super.initState();</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bacaData();</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a:t>
            </a:r>
            <a:endParaRPr i="0" sz="1200" u="none" cap="none" strike="noStrike">
              <a:solidFill>
                <a:srgbClr val="FF0000"/>
              </a:solidFill>
              <a:latin typeface="Consolas"/>
              <a:ea typeface="Consolas"/>
              <a:cs typeface="Consolas"/>
              <a:sym typeface="Consolas"/>
            </a:endParaRPr>
          </a:p>
        </p:txBody>
      </p:sp>
      <p:sp>
        <p:nvSpPr>
          <p:cNvPr descr="blob:https://web.whatsapp.com/4be9237d-cfc1-462e-ba51-978e9348df04" id="272" name="Google Shape;272;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6" name="Shape 276"/>
        <p:cNvGrpSpPr/>
        <p:nvPr/>
      </p:nvGrpSpPr>
      <p:grpSpPr>
        <a:xfrm>
          <a:off x="0" y="0"/>
          <a:ext cx="0" cy="0"/>
          <a:chOff x="0" y="0"/>
          <a:chExt cx="0" cy="0"/>
        </a:xfrm>
      </p:grpSpPr>
      <p:sp>
        <p:nvSpPr>
          <p:cNvPr id="277" name="Google Shape;277;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Fix Page DetailPop (2)</a:t>
            </a:r>
            <a:endParaRPr/>
          </a:p>
        </p:txBody>
      </p:sp>
      <p:cxnSp>
        <p:nvCxnSpPr>
          <p:cNvPr id="278" name="Google Shape;278;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79" name="Google Shape;279;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 name="Google Shape;280;p21"/>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Prepare fetchData and bacaData function.</a:t>
            </a:r>
            <a:endParaRPr/>
          </a:p>
          <a:p>
            <a:pPr indent="0" lvl="0" marL="0" marR="0" rtl="0" algn="l">
              <a:spcBef>
                <a:spcPts val="0"/>
              </a:spcBef>
              <a:spcAft>
                <a:spcPts val="0"/>
              </a:spcAft>
              <a:buNone/>
            </a:pPr>
            <a:r>
              <a:t/>
            </a:r>
            <a:endParaRPr b="0" i="0" sz="1200" u="none" cap="none" strike="noStrike">
              <a:solidFill>
                <a:srgbClr val="FF0000"/>
              </a:solidFill>
              <a:latin typeface="Arial"/>
              <a:ea typeface="Arial"/>
              <a:cs typeface="Arial"/>
              <a:sym typeface="Arial"/>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Future&lt;String&gt; fetchData() async {</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final response = await http.post(</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Uri.parse("https://ubaya.</a:t>
            </a:r>
            <a:r>
              <a:rPr lang="en-ID" sz="1500">
                <a:solidFill>
                  <a:srgbClr val="FF0000"/>
                </a:solidFill>
                <a:latin typeface="Consolas"/>
                <a:ea typeface="Consolas"/>
                <a:cs typeface="Consolas"/>
                <a:sym typeface="Consolas"/>
              </a:rPr>
              <a:t>cloud</a:t>
            </a:r>
            <a:r>
              <a:rPr lang="en-ID" sz="1500">
                <a:solidFill>
                  <a:srgbClr val="FF0000"/>
                </a:solidFill>
                <a:latin typeface="Consolas"/>
                <a:ea typeface="Consolas"/>
                <a:cs typeface="Consolas"/>
                <a:sym typeface="Consolas"/>
              </a:rPr>
              <a:t>/flutter/[NRP]/detailmovie.php"),</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body: {'id': widget.movieID.toString()});</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if (response.statusCode == 200) {</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return response.body;</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 else {</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throw Exception('Failed to read API');</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spcBef>
                <a:spcPts val="0"/>
              </a:spcBef>
              <a:spcAft>
                <a:spcPts val="0"/>
              </a:spcAft>
              <a:buNone/>
            </a:pPr>
            <a:r>
              <a:rPr lang="en-ID" sz="1500">
                <a:solidFill>
                  <a:srgbClr val="FF0000"/>
                </a:solidFill>
                <a:latin typeface="Consolas"/>
                <a:ea typeface="Consolas"/>
                <a:cs typeface="Consolas"/>
                <a:sym typeface="Consolas"/>
              </a:rPr>
              <a:t>   }</a:t>
            </a:r>
            <a:endParaRPr i="0" sz="900" u="none" cap="none" strike="noStrike">
              <a:solidFill>
                <a:srgbClr val="FF0000"/>
              </a:solidFill>
              <a:latin typeface="Consolas"/>
              <a:ea typeface="Consolas"/>
              <a:cs typeface="Consolas"/>
              <a:sym typeface="Consolas"/>
            </a:endParaRPr>
          </a:p>
        </p:txBody>
      </p:sp>
      <p:sp>
        <p:nvSpPr>
          <p:cNvPr descr="blob:https://web.whatsapp.com/4be9237d-cfc1-462e-ba51-978e9348df04" id="281" name="Google Shape;28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2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Fix Page DetailPop (3)</a:t>
            </a:r>
            <a:endParaRPr/>
          </a:p>
        </p:txBody>
      </p:sp>
      <p:cxnSp>
        <p:nvCxnSpPr>
          <p:cNvPr id="287" name="Google Shape;287;p2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88" name="Google Shape;288;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 name="Google Shape;289;p22"/>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800">
                <a:solidFill>
                  <a:srgbClr val="FF0000"/>
                </a:solidFill>
                <a:latin typeface="Arial"/>
                <a:ea typeface="Arial"/>
                <a:cs typeface="Arial"/>
                <a:sym typeface="Arial"/>
              </a:rPr>
              <a:t> </a:t>
            </a:r>
            <a:r>
              <a:rPr lang="en-ID" sz="1800">
                <a:solidFill>
                  <a:srgbClr val="FF0000"/>
                </a:solidFill>
                <a:latin typeface="Consolas"/>
                <a:ea typeface="Consolas"/>
                <a:cs typeface="Consolas"/>
                <a:sym typeface="Consolas"/>
              </a:rPr>
              <a:t>bacaData()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fetchData().then((value)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Map json = jsonDecode(value);</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_pm = PopMovie.fromJson(json['data']);</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setState(()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t/>
            </a:r>
            <a:endParaRPr sz="1800">
              <a:solidFill>
                <a:srgbClr val="FF0000"/>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Pay attention the different of bacaData function here with bacaData in PopularMovie, and its incoming JSON structure.</a:t>
            </a:r>
            <a:endParaRPr/>
          </a:p>
          <a:p>
            <a:pPr indent="0" lvl="0" marL="0" marR="0" rtl="0" algn="l">
              <a:spcBef>
                <a:spcPts val="0"/>
              </a:spcBef>
              <a:spcAft>
                <a:spcPts val="0"/>
              </a:spcAft>
              <a:buNone/>
            </a:pPr>
            <a:r>
              <a:t/>
            </a:r>
            <a:endParaRPr b="0" i="0" sz="1200" u="none" cap="none" strike="noStrike">
              <a:solidFill>
                <a:srgbClr val="FF0000"/>
              </a:solidFill>
              <a:latin typeface="Arial"/>
              <a:ea typeface="Arial"/>
              <a:cs typeface="Arial"/>
              <a:sym typeface="Arial"/>
            </a:endParaRPr>
          </a:p>
        </p:txBody>
      </p:sp>
      <p:sp>
        <p:nvSpPr>
          <p:cNvPr descr="blob:https://web.whatsapp.com/4be9237d-cfc1-462e-ba51-978e9348df04" id="290" name="Google Shape;290;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4" name="Shape 294"/>
        <p:cNvGrpSpPr/>
        <p:nvPr/>
      </p:nvGrpSpPr>
      <p:grpSpPr>
        <a:xfrm>
          <a:off x="0" y="0"/>
          <a:ext cx="0" cy="0"/>
          <a:chOff x="0" y="0"/>
          <a:chExt cx="0" cy="0"/>
        </a:xfrm>
      </p:grpSpPr>
      <p:sp>
        <p:nvSpPr>
          <p:cNvPr id="295" name="Google Shape;295;p2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Fix Page DetailPop (4)</a:t>
            </a:r>
            <a:endParaRPr/>
          </a:p>
        </p:txBody>
      </p:sp>
      <p:cxnSp>
        <p:nvCxnSpPr>
          <p:cNvPr id="296" name="Google Shape;296;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7" name="Google Shape;297;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 name="Google Shape;298;p23"/>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100">
                <a:solidFill>
                  <a:srgbClr val="FF0000"/>
                </a:solidFill>
                <a:latin typeface="Consolas"/>
                <a:ea typeface="Consolas"/>
                <a:cs typeface="Consolas"/>
                <a:sym typeface="Consolas"/>
              </a:rPr>
              <a:t>Widget tampilData() {</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if (_pm == null) {</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return const CircularProgressIndicator();</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return Card(</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elevation: 10,</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margin: const EdgeInsets.all(10),</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 Column(children: &lt;Widget&gt;[</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Text(_pm!.title, style: const TextStyle(fontSize: 25)),</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Padding(</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padding: const EdgeInsets.all(10),</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 Text(_pm!.overview, style: const TextStyle(fontSize: 15))),</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9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a:t>
            </a:r>
            <a:endParaRPr sz="900">
              <a:latin typeface="Consolas"/>
              <a:ea typeface="Consolas"/>
              <a:cs typeface="Consolas"/>
              <a:sym typeface="Consolas"/>
            </a:endParaRPr>
          </a:p>
          <a:p>
            <a:pPr indent="0" lvl="0" marL="0" marR="0" rtl="0" algn="l">
              <a:spcBef>
                <a:spcPts val="0"/>
              </a:spcBef>
              <a:spcAft>
                <a:spcPts val="0"/>
              </a:spcAft>
              <a:buNone/>
            </a:pPr>
            <a:br>
              <a:rPr lang="en-ID" sz="1100">
                <a:solidFill>
                  <a:srgbClr val="FF0000"/>
                </a:solidFill>
                <a:latin typeface="Consolas"/>
                <a:ea typeface="Consolas"/>
                <a:cs typeface="Consolas"/>
                <a:sym typeface="Consolas"/>
              </a:rPr>
            </a:br>
            <a:endParaRPr sz="1100">
              <a:solidFill>
                <a:srgbClr val="FF0000"/>
              </a:solidFill>
              <a:latin typeface="Consolas"/>
              <a:ea typeface="Consolas"/>
              <a:cs typeface="Consolas"/>
              <a:sym typeface="Consolas"/>
            </a:endParaRPr>
          </a:p>
        </p:txBody>
      </p:sp>
      <p:sp>
        <p:nvSpPr>
          <p:cNvPr descr="blob:https://web.whatsapp.com/4be9237d-cfc1-462e-ba51-978e9348df04" id="299" name="Google Shape;299;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00" name="Google Shape;300;p23"/>
          <p:cNvPicPr preferRelativeResize="0"/>
          <p:nvPr/>
        </p:nvPicPr>
        <p:blipFill rotWithShape="1">
          <a:blip r:embed="rId4">
            <a:alphaModFix/>
          </a:blip>
          <a:srcRect b="0" l="0" r="0" t="0"/>
          <a:stretch/>
        </p:blipFill>
        <p:spPr>
          <a:xfrm>
            <a:off x="7086863" y="519160"/>
            <a:ext cx="2057137" cy="4245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24"/>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000"/>
              <a:buFont typeface="Arial"/>
              <a:buNone/>
            </a:pPr>
            <a:r>
              <a:rPr b="1" lang="en-ID">
                <a:solidFill>
                  <a:srgbClr val="DAE5F1"/>
                </a:solidFill>
              </a:rPr>
              <a:t>NESTED JSON</a:t>
            </a:r>
            <a:endParaRPr/>
          </a:p>
        </p:txBody>
      </p:sp>
      <p:sp>
        <p:nvSpPr>
          <p:cNvPr id="306" name="Google Shape;306;p24"/>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0" name="Shape 310"/>
        <p:cNvGrpSpPr/>
        <p:nvPr/>
      </p:nvGrpSpPr>
      <p:grpSpPr>
        <a:xfrm>
          <a:off x="0" y="0"/>
          <a:ext cx="0" cy="0"/>
          <a:chOff x="0" y="0"/>
          <a:chExt cx="0" cy="0"/>
        </a:xfrm>
      </p:grpSpPr>
      <p:sp>
        <p:nvSpPr>
          <p:cNvPr id="311" name="Google Shape;311;p2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Why nested JSON</a:t>
            </a:r>
            <a:endParaRPr/>
          </a:p>
        </p:txBody>
      </p:sp>
      <p:cxnSp>
        <p:nvCxnSpPr>
          <p:cNvPr id="312" name="Google Shape;312;p2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13" name="Google Shape;313;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4" name="Google Shape;314;p25"/>
          <p:cNvSpPr txBox="1"/>
          <p:nvPr/>
        </p:nvSpPr>
        <p:spPr>
          <a:xfrm>
            <a:off x="457200" y="771898"/>
            <a:ext cx="8384875"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D" sz="1600" u="none" cap="none" strike="noStrike">
                <a:solidFill>
                  <a:schemeClr val="dk1"/>
                </a:solidFill>
                <a:latin typeface="Arial"/>
                <a:ea typeface="Arial"/>
                <a:cs typeface="Arial"/>
                <a:sym typeface="Arial"/>
              </a:rPr>
              <a:t>In our previous web services, we already get a simple JSON array and JSON object. The JSON structure could come in more complex with a </a:t>
            </a:r>
            <a:r>
              <a:rPr b="1" i="0" lang="en-ID" sz="1600" u="none" cap="none" strike="noStrike">
                <a:solidFill>
                  <a:schemeClr val="dk1"/>
                </a:solidFill>
              </a:rPr>
              <a:t>nested structure</a:t>
            </a:r>
            <a:r>
              <a:rPr b="0" i="0" lang="en-ID" sz="1600" u="none" cap="none" strike="noStrike">
                <a:solidFill>
                  <a:schemeClr val="dk1"/>
                </a:solidFill>
                <a:latin typeface="Arial"/>
                <a:ea typeface="Arial"/>
                <a:cs typeface="Arial"/>
                <a:sym typeface="Arial"/>
              </a:rPr>
              <a:t> . </a:t>
            </a:r>
            <a:endParaRPr/>
          </a:p>
          <a:p>
            <a:pPr indent="0" lvl="0" marL="0" marR="0" rtl="0" algn="l">
              <a:spcBef>
                <a:spcPts val="0"/>
              </a:spcBef>
              <a:spcAft>
                <a:spcPts val="0"/>
              </a:spcAft>
              <a:buNone/>
            </a:pPr>
            <a:r>
              <a:rPr lang="en-ID" sz="1600">
                <a:solidFill>
                  <a:schemeClr val="dk1"/>
                </a:solidFill>
                <a:latin typeface="Arial"/>
                <a:ea typeface="Arial"/>
                <a:cs typeface="Arial"/>
                <a:sym typeface="Arial"/>
              </a:rPr>
              <a:t>This nested structure often use to carry children's data of the current data. </a:t>
            </a:r>
            <a:r>
              <a:rPr b="1" lang="en-ID" sz="1600">
                <a:solidFill>
                  <a:schemeClr val="dk1"/>
                </a:solidFill>
              </a:rPr>
              <a:t>Children data</a:t>
            </a:r>
            <a:r>
              <a:rPr lang="en-ID" sz="1600">
                <a:solidFill>
                  <a:schemeClr val="dk1"/>
                </a:solidFill>
                <a:latin typeface="Arial"/>
                <a:ea typeface="Arial"/>
                <a:cs typeface="Arial"/>
                <a:sym typeface="Arial"/>
              </a:rPr>
              <a:t> come from </a:t>
            </a:r>
            <a:r>
              <a:rPr b="1" lang="en-ID" sz="1600">
                <a:solidFill>
                  <a:schemeClr val="dk1"/>
                </a:solidFill>
              </a:rPr>
              <a:t>one-to-many or many-to-many relation</a:t>
            </a:r>
            <a:r>
              <a:rPr lang="en-ID" sz="1600">
                <a:solidFill>
                  <a:schemeClr val="dk1"/>
                </a:solidFill>
                <a:latin typeface="Arial"/>
                <a:ea typeface="Arial"/>
                <a:cs typeface="Arial"/>
                <a:sym typeface="Arial"/>
              </a:rPr>
              <a:t> between current main table and other tables. </a:t>
            </a:r>
            <a:endParaRPr/>
          </a:p>
          <a:p>
            <a:pPr indent="0" lvl="0" marL="0" marR="0" rtl="0" algn="l">
              <a:spcBef>
                <a:spcPts val="0"/>
              </a:spcBef>
              <a:spcAft>
                <a:spcPts val="0"/>
              </a:spcAft>
              <a:buNone/>
            </a:pPr>
            <a:r>
              <a:rPr lang="en-ID" sz="1600">
                <a:solidFill>
                  <a:schemeClr val="dk1"/>
                </a:solidFill>
                <a:latin typeface="Arial"/>
                <a:ea typeface="Arial"/>
                <a:cs typeface="Arial"/>
                <a:sym typeface="Arial"/>
              </a:rPr>
              <a:t>For example, a JSON of sales order data which also includes its detail order items.</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600">
                <a:solidFill>
                  <a:schemeClr val="dk1"/>
                </a:solidFill>
                <a:latin typeface="Arial"/>
                <a:ea typeface="Arial"/>
                <a:cs typeface="Arial"/>
                <a:sym typeface="Arial"/>
              </a:rPr>
              <a:t>An example that using this nested structure can be used to </a:t>
            </a:r>
            <a:r>
              <a:rPr b="1" lang="en-ID" sz="1600">
                <a:solidFill>
                  <a:schemeClr val="dk1"/>
                </a:solidFill>
              </a:rPr>
              <a:t>shows genre of current movie</a:t>
            </a:r>
            <a:r>
              <a:rPr lang="en-ID" sz="1600">
                <a:solidFill>
                  <a:schemeClr val="dk1"/>
                </a:solidFill>
                <a:latin typeface="Arial"/>
                <a:ea typeface="Arial"/>
                <a:cs typeface="Arial"/>
                <a:sym typeface="Arial"/>
              </a:rPr>
              <a:t>.</a:t>
            </a:r>
            <a:endParaRPr/>
          </a:p>
          <a:p>
            <a:pPr indent="0" lvl="0" marL="0" marR="0" rtl="0" algn="l">
              <a:spcBef>
                <a:spcPts val="0"/>
              </a:spcBef>
              <a:spcAft>
                <a:spcPts val="0"/>
              </a:spcAft>
              <a:buNone/>
            </a:pPr>
            <a:r>
              <a:rPr lang="en-ID" sz="1600">
                <a:solidFill>
                  <a:schemeClr val="dk1"/>
                </a:solidFill>
                <a:latin typeface="Arial"/>
                <a:ea typeface="Arial"/>
                <a:cs typeface="Arial"/>
                <a:sym typeface="Arial"/>
              </a:rPr>
              <a:t>A movie can have more than one genre, and a genre can be used by more than one movie. The movie table have many-to-many relation with genre by using </a:t>
            </a:r>
            <a:r>
              <a:rPr b="1" lang="en-ID" sz="1600">
                <a:solidFill>
                  <a:schemeClr val="dk1"/>
                </a:solidFill>
              </a:rPr>
              <a:t>movie_genres</a:t>
            </a:r>
            <a:r>
              <a:rPr lang="en-ID" sz="1600">
                <a:solidFill>
                  <a:schemeClr val="dk1"/>
                </a:solidFill>
                <a:latin typeface="Arial"/>
                <a:ea typeface="Arial"/>
                <a:cs typeface="Arial"/>
                <a:sym typeface="Arial"/>
              </a:rPr>
              <a:t> as a bridging table.</a:t>
            </a:r>
            <a:endParaRPr/>
          </a:p>
          <a:p>
            <a:pPr indent="0" lvl="0" marL="0" marR="0" rtl="0" algn="l">
              <a:spcBef>
                <a:spcPts val="0"/>
              </a:spcBef>
              <a:spcAft>
                <a:spcPts val="0"/>
              </a:spcAft>
              <a:buNone/>
            </a:pPr>
            <a:br>
              <a:rPr lang="en-ID" sz="1100">
                <a:solidFill>
                  <a:srgbClr val="FF0000"/>
                </a:solidFill>
                <a:latin typeface="Arial"/>
                <a:ea typeface="Arial"/>
                <a:cs typeface="Arial"/>
                <a:sym typeface="Arial"/>
              </a:rPr>
            </a:br>
            <a:endParaRPr sz="1100">
              <a:solidFill>
                <a:srgbClr val="FF0000"/>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descr="blob:https://web.whatsapp.com/4be9237d-cfc1-462e-ba51-978e9348df04" id="315" name="Google Shape;315;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2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Web Service preparation</a:t>
            </a:r>
            <a:endParaRPr/>
          </a:p>
        </p:txBody>
      </p:sp>
      <p:cxnSp>
        <p:nvCxnSpPr>
          <p:cNvPr id="321" name="Google Shape;321;p2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22" name="Google Shape;322;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3" name="Google Shape;323;p26"/>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We will still use detailmovie.php from our previous example, we add a new JSON object which value is a JSON array. </a:t>
            </a:r>
            <a:endParaRPr/>
          </a:p>
          <a:p>
            <a:pPr indent="0" lvl="0" marL="0" marR="0" rtl="0" algn="l">
              <a:spcBef>
                <a:spcPts val="0"/>
              </a:spcBef>
              <a:spcAft>
                <a:spcPts val="0"/>
              </a:spcAft>
              <a:buNone/>
            </a:pPr>
            <a:r>
              <a:rPr lang="en-ID" sz="1400">
                <a:solidFill>
                  <a:schemeClr val="dk1"/>
                </a:solidFill>
                <a:latin typeface="Arial"/>
                <a:ea typeface="Arial"/>
                <a:cs typeface="Arial"/>
                <a:sym typeface="Arial"/>
              </a:rPr>
              <a:t>Put this code at the commented section of detailmovie.php</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$sql2 = "SELECT genre_name FROM genre inner join movie_genres</a:t>
            </a:r>
            <a:endParaRPr sz="13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on genre.genre_id=movie_genres.genre_id</a:t>
            </a:r>
            <a:endParaRPr sz="13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where movie_id=$id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$stmt2 = $conn-&gt;prepare($sql2);</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$stmt2-&gt;execute();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$genres=[];</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$result2 = $stmt2-&gt;get_result();</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if ($result2-&gt;num_rows &gt; 0)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while($r2=mysqli_fetch_assoc($result2))</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array_push($genres,$r2);</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$r["genres"]=$genres;</a:t>
            </a:r>
            <a:endParaRPr sz="1300">
              <a:latin typeface="Consolas"/>
              <a:ea typeface="Consolas"/>
              <a:cs typeface="Consolas"/>
              <a:sym typeface="Consolas"/>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br>
              <a:rPr lang="en-ID" sz="1600">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p:txBody>
      </p:sp>
      <p:sp>
        <p:nvSpPr>
          <p:cNvPr descr="blob:https://web.whatsapp.com/4be9237d-cfc1-462e-ba51-978e9348df04" id="324" name="Google Shape;324;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25" name="Google Shape;325;p26"/>
          <p:cNvPicPr preferRelativeResize="0"/>
          <p:nvPr/>
        </p:nvPicPr>
        <p:blipFill rotWithShape="1">
          <a:blip r:embed="rId4">
            <a:alphaModFix/>
          </a:blip>
          <a:srcRect b="0" l="0" r="0" t="0"/>
          <a:stretch/>
        </p:blipFill>
        <p:spPr>
          <a:xfrm>
            <a:off x="6300469" y="1664897"/>
            <a:ext cx="2386331" cy="3262942"/>
          </a:xfrm>
          <a:prstGeom prst="rect">
            <a:avLst/>
          </a:prstGeom>
          <a:noFill/>
          <a:ln>
            <a:noFill/>
          </a:ln>
        </p:spPr>
      </p:pic>
      <p:sp>
        <p:nvSpPr>
          <p:cNvPr id="326" name="Google Shape;326;p26"/>
          <p:cNvSpPr/>
          <p:nvPr/>
        </p:nvSpPr>
        <p:spPr>
          <a:xfrm rot="465972">
            <a:off x="4019909" y="3994047"/>
            <a:ext cx="2432649" cy="538307"/>
          </a:xfrm>
          <a:prstGeom prst="rightArrow">
            <a:avLst>
              <a:gd fmla="val 66025" name="adj1"/>
              <a:gd fmla="val 50000" name="adj2"/>
            </a:avLst>
          </a:prstGeom>
          <a:gradFill>
            <a:gsLst>
              <a:gs pos="0">
                <a:srgbClr val="3E7FCD"/>
              </a:gs>
              <a:gs pos="100000">
                <a:srgbClr val="96C0FF"/>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0" name="Shape 330"/>
        <p:cNvGrpSpPr/>
        <p:nvPr/>
      </p:nvGrpSpPr>
      <p:grpSpPr>
        <a:xfrm>
          <a:off x="0" y="0"/>
          <a:ext cx="0" cy="0"/>
          <a:chOff x="0" y="0"/>
          <a:chExt cx="0" cy="0"/>
        </a:xfrm>
      </p:grpSpPr>
      <p:sp>
        <p:nvSpPr>
          <p:cNvPr id="331" name="Google Shape;331;p2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Class PopMovie</a:t>
            </a:r>
            <a:endParaRPr b="1" sz="3600">
              <a:solidFill>
                <a:srgbClr val="000090"/>
              </a:solidFill>
            </a:endParaRPr>
          </a:p>
        </p:txBody>
      </p:sp>
      <p:cxnSp>
        <p:nvCxnSpPr>
          <p:cNvPr id="332" name="Google Shape;332;p2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33" name="Google Shape;333;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 name="Google Shape;334;p27"/>
          <p:cNvSpPr txBox="1"/>
          <p:nvPr/>
        </p:nvSpPr>
        <p:spPr>
          <a:xfrm>
            <a:off x="457200" y="771898"/>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400">
                <a:solidFill>
                  <a:srgbClr val="A5A5A5"/>
                </a:solidFill>
                <a:latin typeface="Consolas"/>
                <a:ea typeface="Consolas"/>
                <a:cs typeface="Consolas"/>
                <a:sym typeface="Consolas"/>
              </a:rPr>
              <a:t>class PopMovie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int id;</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String title;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String overview;</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String vote_average;</a:t>
            </a:r>
            <a:endParaRPr>
              <a:latin typeface="Consolas"/>
              <a:ea typeface="Consolas"/>
              <a:cs typeface="Consolas"/>
              <a:sym typeface="Consolas"/>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a:t>
            </a:r>
            <a:r>
              <a:rPr lang="en-ID" sz="1400">
                <a:solidFill>
                  <a:srgbClr val="FF0000"/>
                </a:solidFill>
                <a:latin typeface="Consolas"/>
                <a:ea typeface="Consolas"/>
                <a:cs typeface="Consolas"/>
                <a:sym typeface="Consolas"/>
              </a:rPr>
              <a:t> List? genres;</a:t>
            </a:r>
            <a:endParaRPr>
              <a:latin typeface="Consolas"/>
              <a:ea typeface="Consolas"/>
              <a:cs typeface="Consolas"/>
              <a:sym typeface="Consolas"/>
            </a:endParaRPr>
          </a:p>
          <a:p>
            <a:pPr indent="0" lvl="0" marL="0" marR="0" rtl="0" algn="l">
              <a:spcBef>
                <a:spcPts val="0"/>
              </a:spcBef>
              <a:spcAft>
                <a:spcPts val="0"/>
              </a:spcAft>
              <a:buNone/>
            </a:pPr>
            <a:r>
              <a:t/>
            </a:r>
            <a:endParaRPr sz="1400">
              <a:solidFill>
                <a:schemeClr val="dk1"/>
              </a:solidFill>
              <a:latin typeface="Consolas"/>
              <a:ea typeface="Consolas"/>
              <a:cs typeface="Consolas"/>
              <a:sym typeface="Consolas"/>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a:t>
            </a:r>
            <a:r>
              <a:rPr lang="en-ID" sz="1400">
                <a:solidFill>
                  <a:srgbClr val="A5A5A5"/>
                </a:solidFill>
                <a:latin typeface="Consolas"/>
                <a:ea typeface="Consolas"/>
                <a:cs typeface="Consolas"/>
                <a:sym typeface="Consolas"/>
              </a:rPr>
              <a:t>PopMovie(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{this.id, this.title, this.overview, this.vote_average</a:t>
            </a:r>
            <a:r>
              <a:rPr lang="en-ID" sz="1400">
                <a:solidFill>
                  <a:srgbClr val="FF0000"/>
                </a:solidFill>
                <a:latin typeface="Consolas"/>
                <a:ea typeface="Consolas"/>
                <a:cs typeface="Consolas"/>
                <a:sym typeface="Consolas"/>
              </a:rPr>
              <a:t>, this.genres</a:t>
            </a:r>
            <a:r>
              <a:rPr lang="en-ID" sz="1400">
                <a:solidFill>
                  <a:srgbClr val="A5A5A5"/>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factory PopMovie.fromJson(Map&lt;String, dynamic&gt; json) {</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return PopMovie(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id: json['movie_id'],</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title: json['title'],</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overview: json['overview'],</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        vote_average: json['vote_average'],</a:t>
            </a:r>
            <a:endParaRPr>
              <a:latin typeface="Consolas"/>
              <a:ea typeface="Consolas"/>
              <a:cs typeface="Consolas"/>
              <a:sym typeface="Consolas"/>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a:t>
            </a:r>
            <a:r>
              <a:rPr lang="en-ID" sz="1400">
                <a:solidFill>
                  <a:srgbClr val="FF0000"/>
                </a:solidFill>
                <a:latin typeface="Consolas"/>
                <a:ea typeface="Consolas"/>
                <a:cs typeface="Consolas"/>
                <a:sym typeface="Consolas"/>
              </a:rPr>
              <a:t> genres: json['genres']</a:t>
            </a:r>
            <a:br>
              <a:rPr lang="en-ID" sz="1400">
                <a:solidFill>
                  <a:srgbClr val="FF0000"/>
                </a:solidFill>
                <a:latin typeface="Consolas"/>
                <a:ea typeface="Consolas"/>
                <a:cs typeface="Consolas"/>
                <a:sym typeface="Consolas"/>
              </a:rPr>
            </a:br>
            <a:r>
              <a:rPr lang="en-ID" sz="1400">
                <a:solidFill>
                  <a:srgbClr val="FF0000"/>
                </a:solidFill>
                <a:latin typeface="Consolas"/>
                <a:ea typeface="Consolas"/>
                <a:cs typeface="Consolas"/>
                <a:sym typeface="Consolas"/>
              </a:rPr>
              <a:t>   </a:t>
            </a:r>
            <a:r>
              <a:rPr lang="en-ID" sz="1400">
                <a:solidFill>
                  <a:srgbClr val="A5A5A5"/>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a:t>
            </a:r>
            <a:r>
              <a:rPr lang="en-ID" sz="1400">
                <a:solidFill>
                  <a:srgbClr val="A5A5A5"/>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400">
                <a:solidFill>
                  <a:srgbClr val="A5A5A5"/>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br>
              <a:rPr lang="en-ID" sz="1400">
                <a:solidFill>
                  <a:schemeClr val="dk1"/>
                </a:solidFill>
                <a:latin typeface="Consolas"/>
                <a:ea typeface="Consolas"/>
                <a:cs typeface="Consolas"/>
                <a:sym typeface="Consolas"/>
              </a:rPr>
            </a:br>
            <a:endParaRPr sz="1400">
              <a:solidFill>
                <a:schemeClr val="dk1"/>
              </a:solidFill>
              <a:latin typeface="Consolas"/>
              <a:ea typeface="Consolas"/>
              <a:cs typeface="Consolas"/>
              <a:sym typeface="Consolas"/>
            </a:endParaRPr>
          </a:p>
        </p:txBody>
      </p:sp>
      <p:sp>
        <p:nvSpPr>
          <p:cNvPr descr="blob:https://web.whatsapp.com/4be9237d-cfc1-462e-ba51-978e9348df04" id="335" name="Google Shape;335;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 name="Google Shape;336;p27"/>
          <p:cNvSpPr txBox="1"/>
          <p:nvPr/>
        </p:nvSpPr>
        <p:spPr>
          <a:xfrm>
            <a:off x="3067493" y="981399"/>
            <a:ext cx="5571460" cy="1384995"/>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lt1"/>
                </a:solidFill>
                <a:latin typeface="Arial"/>
                <a:ea typeface="Arial"/>
                <a:cs typeface="Arial"/>
                <a:sym typeface="Arial"/>
              </a:rPr>
              <a:t>Why nullable list? It’s a bit tricky</a:t>
            </a:r>
            <a:endParaRPr/>
          </a:p>
          <a:p>
            <a:pPr indent="0" lvl="0" marL="0" marR="0" rtl="0" algn="l">
              <a:spcBef>
                <a:spcPts val="0"/>
              </a:spcBef>
              <a:spcAft>
                <a:spcPts val="0"/>
              </a:spcAft>
              <a:buNone/>
            </a:pPr>
            <a:r>
              <a:rPr lang="en-ID" sz="1400">
                <a:solidFill>
                  <a:schemeClr val="lt1"/>
                </a:solidFill>
                <a:latin typeface="Arial"/>
                <a:ea typeface="Arial"/>
                <a:cs typeface="Arial"/>
                <a:sym typeface="Arial"/>
              </a:rPr>
              <a:t>Recall on the popular movie screen we use this class, but the API (listmovies.php) do not include the movie genres</a:t>
            </a:r>
            <a:endParaRPr/>
          </a:p>
          <a:p>
            <a:pPr indent="0" lvl="0" marL="0" marR="0" rtl="0" algn="l">
              <a:spcBef>
                <a:spcPts val="0"/>
              </a:spcBef>
              <a:spcAft>
                <a:spcPts val="0"/>
              </a:spcAft>
              <a:buNone/>
            </a:pPr>
            <a:r>
              <a:rPr lang="en-ID" sz="1400">
                <a:solidFill>
                  <a:schemeClr val="lt1"/>
                </a:solidFill>
                <a:latin typeface="Arial"/>
                <a:ea typeface="Arial"/>
                <a:cs typeface="Arial"/>
                <a:sym typeface="Arial"/>
              </a:rPr>
              <a:t>If genres is not nullable, we will get a runtime error when opening the popular movie screen, since the JSON does not contain the ‘genres’ array</a:t>
            </a:r>
            <a:endParaRPr sz="1400">
              <a:solidFill>
                <a:schemeClr val="lt1"/>
              </a:solidFill>
              <a:latin typeface="Arial"/>
              <a:ea typeface="Arial"/>
              <a:cs typeface="Arial"/>
              <a:sym typeface="Arial"/>
            </a:endParaRPr>
          </a:p>
        </p:txBody>
      </p:sp>
      <p:cxnSp>
        <p:nvCxnSpPr>
          <p:cNvPr id="337" name="Google Shape;337;p27"/>
          <p:cNvCxnSpPr/>
          <p:nvPr/>
        </p:nvCxnSpPr>
        <p:spPr>
          <a:xfrm flipH="1">
            <a:off x="2110563" y="1679944"/>
            <a:ext cx="956930" cy="313661"/>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p2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Update tampilData</a:t>
            </a:r>
            <a:endParaRPr b="1" sz="3600">
              <a:solidFill>
                <a:srgbClr val="000090"/>
              </a:solidFill>
            </a:endParaRPr>
          </a:p>
        </p:txBody>
      </p:sp>
      <p:cxnSp>
        <p:nvCxnSpPr>
          <p:cNvPr id="343" name="Google Shape;343;p2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44" name="Google Shape;344;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5" name="Google Shape;345;p28"/>
          <p:cNvSpPr txBox="1"/>
          <p:nvPr/>
        </p:nvSpPr>
        <p:spPr>
          <a:xfrm>
            <a:off x="0" y="737281"/>
            <a:ext cx="8686800" cy="373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              Add the genre below overview.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a:solidFill>
                <a:schemeClr val="dk1"/>
              </a:solidFill>
              <a:latin typeface="Consolas"/>
              <a:ea typeface="Consolas"/>
              <a:cs typeface="Consolas"/>
              <a:sym typeface="Consolas"/>
            </a:endParaRPr>
          </a:p>
          <a:p>
            <a:pPr indent="0" lvl="0" marL="0" marR="0" rtl="0" algn="l">
              <a:spcBef>
                <a:spcPts val="0"/>
              </a:spcBef>
              <a:spcAft>
                <a:spcPts val="0"/>
              </a:spcAft>
              <a:buNone/>
            </a:pPr>
            <a:r>
              <a:rPr lang="en-ID">
                <a:solidFill>
                  <a:schemeClr val="dk1"/>
                </a:solidFill>
                <a:latin typeface="Consolas"/>
                <a:ea typeface="Consolas"/>
                <a:cs typeface="Consolas"/>
                <a:sym typeface="Consolas"/>
              </a:rPr>
              <a:t> </a:t>
            </a:r>
            <a:r>
              <a:rPr lang="en-ID">
                <a:solidFill>
                  <a:srgbClr val="FF0000"/>
                </a:solidFill>
                <a:latin typeface="Consolas"/>
                <a:ea typeface="Consolas"/>
                <a:cs typeface="Consolas"/>
                <a:sym typeface="Consolas"/>
              </a:rPr>
              <a:t>const Padding(padding: EdgeInsets.all(10), child: Text("Genre:")),</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Padding(</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padding: const EdgeInsets.all(10),</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child: ListView.builder(</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shrinkWrap: true,</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itemCount: _pm?.genres?.length,</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itemBuilder: (BuildContext ctxt, int index) {</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return Text(_pm?.genres?[index]['genre_name']);</a:t>
            </a:r>
            <a:endParaRPr sz="1000">
              <a:latin typeface="Consolas"/>
              <a:ea typeface="Consolas"/>
              <a:cs typeface="Consolas"/>
              <a:sym typeface="Consolas"/>
            </a:endParaRPr>
          </a:p>
          <a:p>
            <a:pPr indent="0" lvl="0" marL="0" marR="0" rtl="0" algn="l">
              <a:spcBef>
                <a:spcPts val="0"/>
              </a:spcBef>
              <a:spcAft>
                <a:spcPts val="0"/>
              </a:spcAft>
              <a:buNone/>
            </a:pPr>
            <a:r>
              <a:rPr lang="en-ID">
                <a:solidFill>
                  <a:srgbClr val="FF0000"/>
                </a:solidFill>
                <a:latin typeface="Consolas"/>
                <a:ea typeface="Consolas"/>
                <a:cs typeface="Consolas"/>
                <a:sym typeface="Consolas"/>
              </a:rPr>
              <a:t>      }))</a:t>
            </a:r>
            <a:endParaRPr sz="10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descr="blob:https://web.whatsapp.com/4be9237d-cfc1-462e-ba51-978e9348df04" id="346" name="Google Shape;346;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47" name="Google Shape;347;p28"/>
          <p:cNvPicPr preferRelativeResize="0"/>
          <p:nvPr/>
        </p:nvPicPr>
        <p:blipFill rotWithShape="1">
          <a:blip r:embed="rId4">
            <a:alphaModFix/>
          </a:blip>
          <a:srcRect b="0" l="0" r="0" t="0"/>
          <a:stretch/>
        </p:blipFill>
        <p:spPr>
          <a:xfrm>
            <a:off x="6892804" y="576943"/>
            <a:ext cx="2182186" cy="4550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1" name="Shape 351"/>
        <p:cNvGrpSpPr/>
        <p:nvPr/>
      </p:nvGrpSpPr>
      <p:grpSpPr>
        <a:xfrm>
          <a:off x="0" y="0"/>
          <a:ext cx="0" cy="0"/>
          <a:chOff x="0" y="0"/>
          <a:chExt cx="0" cy="0"/>
        </a:xfrm>
      </p:grpSpPr>
      <p:sp>
        <p:nvSpPr>
          <p:cNvPr id="352" name="Google Shape;352;p2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EXERCISE</a:t>
            </a:r>
            <a:endParaRPr/>
          </a:p>
        </p:txBody>
      </p:sp>
      <p:sp>
        <p:nvSpPr>
          <p:cNvPr id="353" name="Google Shape;353;p2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7" name="Shape 357"/>
        <p:cNvGrpSpPr/>
        <p:nvPr/>
      </p:nvGrpSpPr>
      <p:grpSpPr>
        <a:xfrm>
          <a:off x="0" y="0"/>
          <a:ext cx="0" cy="0"/>
          <a:chOff x="0" y="0"/>
          <a:chExt cx="0" cy="0"/>
        </a:xfrm>
      </p:grpSpPr>
      <p:sp>
        <p:nvSpPr>
          <p:cNvPr id="358" name="Google Shape;358;p3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Exercise</a:t>
            </a:r>
            <a:endParaRPr/>
          </a:p>
        </p:txBody>
      </p:sp>
      <p:cxnSp>
        <p:nvCxnSpPr>
          <p:cNvPr id="359" name="Google Shape;359;p3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60" name="Google Shape;360;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361" name="Google Shape;361;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2" name="Google Shape;362;p30"/>
          <p:cNvSpPr/>
          <p:nvPr/>
        </p:nvSpPr>
        <p:spPr>
          <a:xfrm>
            <a:off x="460375" y="831273"/>
            <a:ext cx="8374867"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2000">
                <a:solidFill>
                  <a:schemeClr val="dk1"/>
                </a:solidFill>
                <a:latin typeface="Arial"/>
                <a:ea typeface="Arial"/>
                <a:cs typeface="Arial"/>
                <a:sym typeface="Arial"/>
              </a:rPr>
              <a:t>With the same steps in previous chapter, add information about actor/actress in the movie, equipped with their cast. (taken from person and movie_cast table)</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ID" sz="2000">
                <a:solidFill>
                  <a:schemeClr val="dk1"/>
                </a:solidFill>
                <a:latin typeface="Arial"/>
                <a:ea typeface="Arial"/>
                <a:cs typeface="Arial"/>
                <a:sym typeface="Arial"/>
              </a:rPr>
              <a:t>Example:</a:t>
            </a:r>
            <a:br>
              <a:rPr lang="en-ID" sz="2000">
                <a:solidFill>
                  <a:schemeClr val="dk1"/>
                </a:solidFill>
                <a:latin typeface="Arial"/>
                <a:ea typeface="Arial"/>
                <a:cs typeface="Arial"/>
                <a:sym typeface="Arial"/>
              </a:rPr>
            </a:br>
            <a:r>
              <a:rPr lang="en-ID" sz="2000">
                <a:solidFill>
                  <a:schemeClr val="dk1"/>
                </a:solidFill>
                <a:latin typeface="Arial"/>
                <a:ea typeface="Arial"/>
                <a:cs typeface="Arial"/>
                <a:sym typeface="Arial"/>
              </a:rPr>
              <a:t>  Robert Downey Jr – Tony Stark/ Ironman</a:t>
            </a:r>
            <a:br>
              <a:rPr lang="en-ID" sz="2000">
                <a:solidFill>
                  <a:schemeClr val="dk1"/>
                </a:solidFill>
                <a:latin typeface="Arial"/>
                <a:ea typeface="Arial"/>
                <a:cs typeface="Arial"/>
                <a:sym typeface="Arial"/>
              </a:rPr>
            </a:br>
            <a:r>
              <a:rPr lang="en-ID" sz="2000">
                <a:solidFill>
                  <a:schemeClr val="dk1"/>
                </a:solidFill>
                <a:latin typeface="Arial"/>
                <a:ea typeface="Arial"/>
                <a:cs typeface="Arial"/>
                <a:sym typeface="Arial"/>
              </a:rPr>
              <a:t>  Chris Evan – Captain America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6" name="Shape 366"/>
        <p:cNvGrpSpPr/>
        <p:nvPr/>
      </p:nvGrpSpPr>
      <p:grpSpPr>
        <a:xfrm>
          <a:off x="0" y="0"/>
          <a:ext cx="0" cy="0"/>
          <a:chOff x="0" y="0"/>
          <a:chExt cx="0" cy="0"/>
        </a:xfrm>
      </p:grpSpPr>
      <p:sp>
        <p:nvSpPr>
          <p:cNvPr id="367" name="Google Shape;367;p31"/>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368" name="Google Shape;368;p31"/>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