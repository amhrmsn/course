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Helvetica Neue"/>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2" roundtripDataSignature="AMtx7mjOyGNa+TxRLhwi53/TgVwu9I2I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HelveticaNeue-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Italic.fntdata"/><Relationship Id="rId30" Type="http://schemas.openxmlformats.org/officeDocument/2006/relationships/font" Target="fonts/HelveticaNeue-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4"/>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4"/>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25"/>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5"/>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4" name="Google Shape;24;p2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6"/>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2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27"/>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7"/>
          <p:cNvSpPr/>
          <p:nvPr>
            <p:ph idx="2" type="pic"/>
          </p:nvPr>
        </p:nvSpPr>
        <p:spPr>
          <a:xfrm>
            <a:off x="1792288" y="459581"/>
            <a:ext cx="5486400" cy="3086100"/>
          </a:xfrm>
          <a:prstGeom prst="rect">
            <a:avLst/>
          </a:prstGeom>
          <a:noFill/>
          <a:ln>
            <a:noFill/>
          </a:ln>
        </p:spPr>
      </p:sp>
      <p:sp>
        <p:nvSpPr>
          <p:cNvPr id="36" name="Google Shape;36;p27"/>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 name="Google Shape;37;p2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2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8"/>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28"/>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2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2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29"/>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29"/>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29"/>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29"/>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2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3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3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32"/>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2"/>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8" name="Google Shape;68;p32"/>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solidFill>
                <a:srgbClr val="88A44E"/>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3"/>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4"/>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4"/>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3"/>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hyperlink" Target="https://pub.dev/packages/image_picke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jpg"/><Relationship Id="rId4" Type="http://schemas.openxmlformats.org/officeDocument/2006/relationships/hyperlink" Target="https://ubaya.cloud/flutter/%5BNRP%5D/%22+_pm?.scenes?%5Bindex" TargetMode="External"/><Relationship Id="rId10" Type="http://schemas.openxmlformats.org/officeDocument/2006/relationships/hyperlink" Target="https://ubaya.cloud/flutter/%5BNRP%5D/%22+_pm?.scenes?%5Bindex" TargetMode="External"/><Relationship Id="rId9" Type="http://schemas.openxmlformats.org/officeDocument/2006/relationships/hyperlink" Target="https://ubaya.cloud/flutter/%5BNRP%5D/%22+_pm?.scenes?%5Bindex" TargetMode="External"/><Relationship Id="rId5" Type="http://schemas.openxmlformats.org/officeDocument/2006/relationships/hyperlink" Target="https://ubaya.cloud/flutter/%5BNRP%5D/%22+_pm?.scenes?%5Bindex" TargetMode="External"/><Relationship Id="rId6" Type="http://schemas.openxmlformats.org/officeDocument/2006/relationships/hyperlink" Target="https://ubaya.cloud/flutter/%5BNRP%5D/%22+_pm?.scenes?%5Bindex" TargetMode="External"/><Relationship Id="rId7" Type="http://schemas.openxmlformats.org/officeDocument/2006/relationships/hyperlink" Target="https://ubaya.cloud/flutter/%5BNRP%5D/%22+_pm?.scenes?%5Bindex" TargetMode="External"/><Relationship Id="rId8" Type="http://schemas.openxmlformats.org/officeDocument/2006/relationships/hyperlink" Target="https://ubaya.cloud/flutter/%5BNRP%5D/%22+_pm?.scenes?%5Bindex"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0.jp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1"/>
          <p:cNvSpPr txBox="1"/>
          <p:nvPr>
            <p:ph type="ctrTitle"/>
          </p:nvPr>
        </p:nvSpPr>
        <p:spPr>
          <a:xfrm>
            <a:off x="685799" y="1597819"/>
            <a:ext cx="8266612" cy="127297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Arial"/>
              <a:buNone/>
            </a:pPr>
            <a:r>
              <a:rPr b="1" lang="en-ID" sz="3600">
                <a:solidFill>
                  <a:schemeClr val="lt1"/>
                </a:solidFill>
              </a:rPr>
              <a:t>Image : Picking and Uploading</a:t>
            </a:r>
            <a:endParaRPr/>
          </a:p>
        </p:txBody>
      </p:sp>
      <p:sp>
        <p:nvSpPr>
          <p:cNvPr id="89" name="Google Shape;89;p1"/>
          <p:cNvSpPr txBox="1"/>
          <p:nvPr>
            <p:ph idx="1" type="subTitle"/>
          </p:nvPr>
        </p:nvSpPr>
        <p:spPr>
          <a:xfrm>
            <a:off x="4685145" y="3468832"/>
            <a:ext cx="3962400" cy="110316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600"/>
              <a:buNone/>
            </a:pPr>
            <a:r>
              <a:rPr lang="en-ID" sz="1600">
                <a:solidFill>
                  <a:srgbClr val="FFFFFF"/>
                </a:solidFill>
              </a:rPr>
              <a:t>Week 12</a:t>
            </a:r>
            <a:endParaRPr/>
          </a:p>
          <a:p>
            <a:pPr indent="0" lvl="0" marL="0" rtl="0" algn="l">
              <a:spcBef>
                <a:spcPts val="320"/>
              </a:spcBef>
              <a:spcAft>
                <a:spcPts val="0"/>
              </a:spcAft>
              <a:buClr>
                <a:srgbClr val="C6D9F1"/>
              </a:buClr>
              <a:buSzPts val="1600"/>
              <a:buNone/>
            </a:pPr>
            <a:r>
              <a:rPr lang="en-ID" sz="1600">
                <a:solidFill>
                  <a:srgbClr val="C6D9F1"/>
                </a:solidFill>
              </a:rPr>
              <a:t>Program Studi Teknik Informatika</a:t>
            </a:r>
            <a:endParaRPr sz="1600">
              <a:solidFill>
                <a:srgbClr val="C6D9F1"/>
              </a:solidFill>
            </a:endParaRPr>
          </a:p>
          <a:p>
            <a:pPr indent="0" lvl="0" marL="0" rtl="0" algn="l">
              <a:spcBef>
                <a:spcPts val="320"/>
              </a:spcBef>
              <a:spcAft>
                <a:spcPts val="0"/>
              </a:spcAft>
              <a:buClr>
                <a:srgbClr val="C6D9F1"/>
              </a:buClr>
              <a:buSzPts val="1600"/>
              <a:buNone/>
            </a:pPr>
            <a:r>
              <a:rPr lang="en-ID" sz="1600">
                <a:solidFill>
                  <a:srgbClr val="C6D9F1"/>
                </a:solidFill>
              </a:rPr>
              <a:t>Fakultas Teknik – Universitas Surabaya</a:t>
            </a:r>
            <a:endParaRPr/>
          </a:p>
        </p:txBody>
      </p:sp>
      <p:sp>
        <p:nvSpPr>
          <p:cNvPr id="90" name="Google Shape;90;p1"/>
          <p:cNvSpPr txBox="1"/>
          <p:nvPr/>
        </p:nvSpPr>
        <p:spPr>
          <a:xfrm>
            <a:off x="685799" y="1166090"/>
            <a:ext cx="5721927" cy="461674"/>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lt1"/>
              </a:buClr>
              <a:buSzPts val="2400"/>
              <a:buFont typeface="Arial"/>
              <a:buNone/>
            </a:pPr>
            <a:r>
              <a:rPr b="0" i="0" lang="en-ID" sz="2400" u="none" cap="none" strike="noStrike">
                <a:solidFill>
                  <a:schemeClr val="lt1"/>
                </a:solidFill>
                <a:latin typeface="Arial"/>
                <a:ea typeface="Arial"/>
                <a:cs typeface="Arial"/>
                <a:sym typeface="Arial"/>
              </a:rPr>
              <a:t>Emerging Technology : Flutter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b="1" lang="en-ID" sz="5400">
                <a:solidFill>
                  <a:srgbClr val="DAE5F1"/>
                </a:solidFill>
              </a:rPr>
              <a:t>IMAGE PICKER</a:t>
            </a:r>
            <a:endParaRPr/>
          </a:p>
        </p:txBody>
      </p:sp>
      <p:sp>
        <p:nvSpPr>
          <p:cNvPr id="96" name="Google Shape;96;p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i="0" lang="en-ID" sz="8000" u="none" cap="none" strike="noStrike">
                <a:solidFill>
                  <a:srgbClr val="538CD5"/>
                </a:solidFill>
                <a:latin typeface="Arial"/>
                <a:ea typeface="Arial"/>
                <a:cs typeface="Arial"/>
                <a:sym typeface="Arial"/>
              </a:rPr>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ImagePicker</a:t>
            </a:r>
            <a:endParaRPr b="1" sz="3600">
              <a:solidFill>
                <a:srgbClr val="000090"/>
              </a:solidFill>
            </a:endParaRPr>
          </a:p>
        </p:txBody>
      </p:sp>
      <p:cxnSp>
        <p:nvCxnSpPr>
          <p:cNvPr id="102" name="Google Shape;102;p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03" name="Google Shape;103;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3"/>
          <p:cNvSpPr txBox="1"/>
          <p:nvPr>
            <p:ph idx="1" type="body"/>
          </p:nvPr>
        </p:nvSpPr>
        <p:spPr>
          <a:xfrm>
            <a:off x="457200" y="783771"/>
            <a:ext cx="8229600" cy="381085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10000"/>
              </a:lnSpc>
              <a:spcBef>
                <a:spcPts val="0"/>
              </a:spcBef>
              <a:spcAft>
                <a:spcPts val="0"/>
              </a:spcAft>
              <a:buClr>
                <a:schemeClr val="dk1"/>
              </a:buClr>
              <a:buSzPct val="59459"/>
              <a:buNone/>
            </a:pPr>
            <a:r>
              <a:rPr lang="en-ID" sz="2000"/>
              <a:t>One of the simple ways for getting photo, from gallery or camera, is by using a supported plugin. An example of simple and powerful plugin is ImagePicker. </a:t>
            </a:r>
            <a:r>
              <a:rPr lang="en-ID" sz="2000" u="sng">
                <a:solidFill>
                  <a:schemeClr val="hlink"/>
                </a:solidFill>
                <a:hlinkClick r:id="rId4"/>
              </a:rPr>
              <a:t>https://pub.dev/packages/image_picker</a:t>
            </a:r>
            <a:endParaRPr sz="2000"/>
          </a:p>
          <a:p>
            <a:pPr indent="0" lvl="0" marL="0" rtl="0" algn="l">
              <a:lnSpc>
                <a:spcPct val="90000"/>
              </a:lnSpc>
              <a:spcBef>
                <a:spcPts val="1000"/>
              </a:spcBef>
              <a:spcAft>
                <a:spcPts val="0"/>
              </a:spcAft>
              <a:buClr>
                <a:schemeClr val="dk1"/>
              </a:buClr>
              <a:buSzPct val="59459"/>
              <a:buNone/>
            </a:pPr>
            <a:r>
              <a:t/>
            </a:r>
            <a:endParaRPr sz="2000"/>
          </a:p>
          <a:p>
            <a:pPr indent="0" lvl="0" marL="0" rtl="0" algn="l">
              <a:lnSpc>
                <a:spcPct val="90000"/>
              </a:lnSpc>
              <a:spcBef>
                <a:spcPts val="1000"/>
              </a:spcBef>
              <a:spcAft>
                <a:spcPts val="0"/>
              </a:spcAft>
              <a:buClr>
                <a:schemeClr val="dk1"/>
              </a:buClr>
              <a:buSzPct val="59459"/>
              <a:buNone/>
            </a:pPr>
            <a:r>
              <a:rPr lang="en-ID" sz="2000"/>
              <a:t>pubspec.yaml:</a:t>
            </a:r>
            <a:endParaRPr/>
          </a:p>
          <a:p>
            <a:pPr indent="0" lvl="0" marL="0" rtl="0" algn="l">
              <a:lnSpc>
                <a:spcPct val="90000"/>
              </a:lnSpc>
              <a:spcBef>
                <a:spcPts val="1000"/>
              </a:spcBef>
              <a:spcAft>
                <a:spcPts val="0"/>
              </a:spcAft>
              <a:buClr>
                <a:schemeClr val="dk1"/>
              </a:buClr>
              <a:buSzPct val="59459"/>
              <a:buNone/>
            </a:pPr>
            <a:r>
              <a:rPr lang="en-ID" sz="2000">
                <a:solidFill>
                  <a:srgbClr val="FF0000"/>
                </a:solidFill>
                <a:latin typeface="Consolas"/>
                <a:ea typeface="Consolas"/>
                <a:cs typeface="Consolas"/>
                <a:sym typeface="Consolas"/>
              </a:rPr>
              <a:t>image_picker: ^1.2.1</a:t>
            </a:r>
            <a:endParaRPr sz="2000">
              <a:solidFill>
                <a:srgbClr val="FF0000"/>
              </a:solidFill>
              <a:latin typeface="Consolas"/>
              <a:ea typeface="Consolas"/>
              <a:cs typeface="Consolas"/>
              <a:sym typeface="Consolas"/>
            </a:endParaRPr>
          </a:p>
          <a:p>
            <a:pPr indent="0" lvl="0" marL="0" rtl="0" algn="l">
              <a:lnSpc>
                <a:spcPct val="90000"/>
              </a:lnSpc>
              <a:spcBef>
                <a:spcPts val="1000"/>
              </a:spcBef>
              <a:spcAft>
                <a:spcPts val="0"/>
              </a:spcAft>
              <a:buClr>
                <a:schemeClr val="dk1"/>
              </a:buClr>
              <a:buSzPct val="59459"/>
              <a:buNone/>
            </a:pPr>
            <a:r>
              <a:rPr lang="en-ID" sz="2000"/>
              <a:t>Import:</a:t>
            </a:r>
            <a:endParaRPr/>
          </a:p>
          <a:p>
            <a:pPr indent="0" lvl="0" marL="0" rtl="0" algn="l">
              <a:lnSpc>
                <a:spcPct val="90000"/>
              </a:lnSpc>
              <a:spcBef>
                <a:spcPts val="1000"/>
              </a:spcBef>
              <a:spcAft>
                <a:spcPts val="0"/>
              </a:spcAft>
              <a:buClr>
                <a:schemeClr val="dk1"/>
              </a:buClr>
              <a:buSzPct val="62588"/>
              <a:buNone/>
            </a:pPr>
            <a:r>
              <a:rPr lang="en-ID" sz="1900">
                <a:solidFill>
                  <a:srgbClr val="FF0000"/>
                </a:solidFill>
                <a:latin typeface="Consolas"/>
                <a:ea typeface="Consolas"/>
                <a:cs typeface="Consolas"/>
                <a:sym typeface="Consolas"/>
              </a:rPr>
              <a:t>import 'package:image_picker/image_picker.dart';</a:t>
            </a:r>
            <a:endParaRPr>
              <a:latin typeface="Consolas"/>
              <a:ea typeface="Consolas"/>
              <a:cs typeface="Consolas"/>
              <a:sym typeface="Consolas"/>
            </a:endParaRPr>
          </a:p>
          <a:p>
            <a:pPr indent="0" lvl="0" marL="0" rtl="0" algn="l">
              <a:lnSpc>
                <a:spcPct val="90000"/>
              </a:lnSpc>
              <a:spcBef>
                <a:spcPts val="1000"/>
              </a:spcBef>
              <a:spcAft>
                <a:spcPts val="0"/>
              </a:spcAft>
              <a:buClr>
                <a:schemeClr val="dk1"/>
              </a:buClr>
              <a:buSzPct val="59459"/>
              <a:buNone/>
            </a:pPr>
            <a:r>
              <a:t/>
            </a:r>
            <a:endParaRPr sz="2000"/>
          </a:p>
          <a:p>
            <a:pPr indent="0" lvl="0" marL="0" rtl="0" algn="l">
              <a:lnSpc>
                <a:spcPct val="120000"/>
              </a:lnSpc>
              <a:spcBef>
                <a:spcPts val="0"/>
              </a:spcBef>
              <a:spcAft>
                <a:spcPts val="0"/>
              </a:spcAft>
              <a:buClr>
                <a:schemeClr val="dk1"/>
              </a:buClr>
              <a:buSzPct val="59459"/>
              <a:buNone/>
            </a:pPr>
            <a:r>
              <a:rPr lang="en-ID" sz="2000"/>
              <a:t>For IOS and there are some additional setting</a:t>
            </a:r>
            <a:endParaRPr sz="2000">
              <a:latin typeface="Calibri"/>
              <a:ea typeface="Calibri"/>
              <a:cs typeface="Calibri"/>
              <a:sym typeface="Calibri"/>
            </a:endParaRPr>
          </a:p>
          <a:p>
            <a:pPr indent="0" lvl="0" marL="0" rtl="0" algn="l">
              <a:lnSpc>
                <a:spcPct val="90000"/>
              </a:lnSpc>
              <a:spcBef>
                <a:spcPts val="1000"/>
              </a:spcBef>
              <a:spcAft>
                <a:spcPts val="0"/>
              </a:spcAft>
              <a:buClr>
                <a:schemeClr val="dk1"/>
              </a:buClr>
              <a:buSzPct val="59459"/>
              <a:buNone/>
            </a:pPr>
            <a:r>
              <a:t/>
            </a:r>
            <a:endParaRPr sz="2000">
              <a:latin typeface="Calibri"/>
              <a:ea typeface="Calibri"/>
              <a:cs typeface="Calibri"/>
              <a:sym typeface="Calibri"/>
            </a:endParaRPr>
          </a:p>
          <a:p>
            <a:pPr indent="0" lvl="0" marL="0" rtl="0" algn="l">
              <a:spcBef>
                <a:spcPts val="533"/>
              </a:spcBef>
              <a:spcAft>
                <a:spcPts val="0"/>
              </a:spcAft>
              <a:buClr>
                <a:schemeClr val="dk1"/>
              </a:buClr>
              <a:buSzPct val="205945"/>
              <a:buNone/>
            </a:pPr>
            <a:r>
              <a:t/>
            </a:r>
            <a:endParaRPr sz="1400">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sp>
        <p:nvSpPr>
          <p:cNvPr id="109" name="Google Shape;109;p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ImagePicker (2)</a:t>
            </a:r>
            <a:endParaRPr/>
          </a:p>
        </p:txBody>
      </p:sp>
      <p:cxnSp>
        <p:nvCxnSpPr>
          <p:cNvPr id="110" name="Google Shape;110;p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11" name="Google Shape;111;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4"/>
          <p:cNvSpPr txBox="1"/>
          <p:nvPr>
            <p:ph idx="1" type="body"/>
          </p:nvPr>
        </p:nvSpPr>
        <p:spPr>
          <a:xfrm>
            <a:off x="457200" y="783771"/>
            <a:ext cx="8229600" cy="3810852"/>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spcBef>
                <a:spcPts val="0"/>
              </a:spcBef>
              <a:spcAft>
                <a:spcPts val="0"/>
              </a:spcAft>
              <a:buClr>
                <a:schemeClr val="dk1"/>
              </a:buClr>
              <a:buSzPct val="100000"/>
              <a:buNone/>
            </a:pPr>
            <a:r>
              <a:rPr b="1" lang="en-ID" sz="5500"/>
              <a:t>iOS</a:t>
            </a:r>
            <a:r>
              <a:rPr lang="en-ID" sz="4000"/>
              <a:t> </a:t>
            </a:r>
            <a:endParaRPr/>
          </a:p>
          <a:p>
            <a:pPr indent="0" lvl="0" marL="0" rtl="0" algn="l">
              <a:spcBef>
                <a:spcPts val="320"/>
              </a:spcBef>
              <a:spcAft>
                <a:spcPts val="0"/>
              </a:spcAft>
              <a:buClr>
                <a:schemeClr val="dk1"/>
              </a:buClr>
              <a:buSzPct val="100000"/>
              <a:buNone/>
            </a:pPr>
            <a:r>
              <a:rPr lang="en-ID" sz="4000"/>
              <a:t>Add the following keys to your </a:t>
            </a:r>
            <a:r>
              <a:rPr i="1" lang="en-ID" sz="4000"/>
              <a:t>Info.plist</a:t>
            </a:r>
            <a:r>
              <a:rPr lang="en-ID" sz="4000"/>
              <a:t> file, located in &lt;project root&gt;/ios/Runner/Info.plist:</a:t>
            </a:r>
            <a:endParaRPr/>
          </a:p>
          <a:p>
            <a:pPr indent="0" lvl="0" marL="0" rtl="0" algn="l">
              <a:spcBef>
                <a:spcPts val="320"/>
              </a:spcBef>
              <a:spcAft>
                <a:spcPts val="0"/>
              </a:spcAft>
              <a:buClr>
                <a:schemeClr val="dk1"/>
              </a:buClr>
              <a:buSzPct val="100000"/>
              <a:buNone/>
            </a:pPr>
            <a:r>
              <a:rPr b="1" lang="en-ID" sz="4000"/>
              <a:t>NSPhotoLibraryUsageDescription</a:t>
            </a:r>
            <a:r>
              <a:rPr lang="en-ID" sz="4000"/>
              <a:t> - describe why your app needs permission for the photo library. This is called </a:t>
            </a:r>
            <a:r>
              <a:rPr i="1" lang="en-ID" sz="4000"/>
              <a:t>Privacy - Photo Library Usage Description</a:t>
            </a:r>
            <a:r>
              <a:rPr lang="en-ID" sz="4000"/>
              <a:t> in the visual editor.</a:t>
            </a:r>
            <a:endParaRPr/>
          </a:p>
          <a:p>
            <a:pPr indent="0" lvl="0" marL="0" rtl="0" algn="l">
              <a:spcBef>
                <a:spcPts val="320"/>
              </a:spcBef>
              <a:spcAft>
                <a:spcPts val="0"/>
              </a:spcAft>
              <a:buClr>
                <a:schemeClr val="dk1"/>
              </a:buClr>
              <a:buSzPct val="100000"/>
              <a:buNone/>
            </a:pPr>
            <a:r>
              <a:rPr b="1" lang="en-ID" sz="4000"/>
              <a:t>NSCameraUsageDescription</a:t>
            </a:r>
            <a:r>
              <a:rPr lang="en-ID" sz="4000"/>
              <a:t> - describe why your app needs access to the camera. This is called </a:t>
            </a:r>
            <a:r>
              <a:rPr i="1" lang="en-ID" sz="4000"/>
              <a:t>Privacy - Camera Usage Description</a:t>
            </a:r>
            <a:r>
              <a:rPr lang="en-ID" sz="4000"/>
              <a:t> in the visual editor.</a:t>
            </a:r>
            <a:endParaRPr/>
          </a:p>
          <a:p>
            <a:pPr indent="0" lvl="0" marL="0" rtl="0" algn="l">
              <a:spcBef>
                <a:spcPts val="320"/>
              </a:spcBef>
              <a:spcAft>
                <a:spcPts val="0"/>
              </a:spcAft>
              <a:buClr>
                <a:schemeClr val="dk1"/>
              </a:buClr>
              <a:buSzPct val="100000"/>
              <a:buNone/>
            </a:pPr>
            <a:r>
              <a:rPr b="1" lang="en-ID" sz="4000"/>
              <a:t>NSMicrophoneUsageDescription</a:t>
            </a:r>
            <a:r>
              <a:rPr lang="en-ID" sz="4000"/>
              <a:t> - describe why your app needs access to the microphone, if you intend to record videos. This is called </a:t>
            </a:r>
            <a:r>
              <a:rPr i="1" lang="en-ID" sz="4000"/>
              <a:t>Privacy - Microphone Usage Description</a:t>
            </a:r>
            <a:r>
              <a:rPr lang="en-ID" sz="4000"/>
              <a:t> in the visual editor.</a:t>
            </a:r>
            <a:endParaRPr/>
          </a:p>
          <a:p>
            <a:pPr indent="0" lvl="0" marL="0" rtl="0" algn="l">
              <a:spcBef>
                <a:spcPts val="320"/>
              </a:spcBef>
              <a:spcAft>
                <a:spcPts val="0"/>
              </a:spcAft>
              <a:buClr>
                <a:schemeClr val="dk1"/>
              </a:buClr>
              <a:buSzPct val="100000"/>
              <a:buNone/>
            </a:pPr>
            <a:r>
              <a:t/>
            </a:r>
            <a:endParaRPr sz="4000"/>
          </a:p>
          <a:p>
            <a:pPr indent="0" lvl="0" marL="0" rtl="0" algn="l">
              <a:spcBef>
                <a:spcPts val="440"/>
              </a:spcBef>
              <a:spcAft>
                <a:spcPts val="0"/>
              </a:spcAft>
              <a:buClr>
                <a:schemeClr val="dk1"/>
              </a:buClr>
              <a:buSzPct val="100000"/>
              <a:buNone/>
            </a:pPr>
            <a:r>
              <a:rPr b="1" lang="en-ID" sz="5500"/>
              <a:t>Android</a:t>
            </a:r>
            <a:r>
              <a:rPr lang="en-ID" sz="4000"/>
              <a:t> </a:t>
            </a:r>
            <a:endParaRPr/>
          </a:p>
          <a:p>
            <a:pPr indent="0" lvl="0" marL="0" rtl="0" algn="l">
              <a:spcBef>
                <a:spcPts val="320"/>
              </a:spcBef>
              <a:spcAft>
                <a:spcPts val="0"/>
              </a:spcAft>
              <a:buClr>
                <a:schemeClr val="dk1"/>
              </a:buClr>
              <a:buSzPct val="100000"/>
              <a:buNone/>
            </a:pPr>
            <a:r>
              <a:rPr lang="en-ID" sz="4000"/>
              <a:t>No configuration required - the plugin should work out of the box.</a:t>
            </a:r>
            <a:endParaRPr sz="4000">
              <a:latin typeface="Calibri"/>
              <a:ea typeface="Calibri"/>
              <a:cs typeface="Calibri"/>
              <a:sym typeface="Calibri"/>
            </a:endParaRPr>
          </a:p>
          <a:p>
            <a:pPr indent="0" lvl="0" marL="0" rtl="0" algn="l">
              <a:lnSpc>
                <a:spcPct val="90000"/>
              </a:lnSpc>
              <a:spcBef>
                <a:spcPts val="1000"/>
              </a:spcBef>
              <a:spcAft>
                <a:spcPts val="0"/>
              </a:spcAft>
              <a:buClr>
                <a:schemeClr val="dk1"/>
              </a:buClr>
              <a:buSzPct val="68750"/>
              <a:buNone/>
            </a:pPr>
            <a:r>
              <a:t/>
            </a:r>
            <a:endParaRPr sz="4000">
              <a:latin typeface="Calibri"/>
              <a:ea typeface="Calibri"/>
              <a:cs typeface="Calibri"/>
              <a:sym typeface="Calibri"/>
            </a:endParaRPr>
          </a:p>
          <a:p>
            <a:pPr indent="0" lvl="0" marL="0" rtl="0" algn="l">
              <a:spcBef>
                <a:spcPts val="533"/>
              </a:spcBef>
              <a:spcAft>
                <a:spcPts val="0"/>
              </a:spcAft>
              <a:buClr>
                <a:schemeClr val="dk1"/>
              </a:buClr>
              <a:buSzPts val="2667"/>
              <a:buNone/>
            </a:pPr>
            <a:r>
              <a:t/>
            </a:r>
            <a:endParaRPr sz="1400">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 name="Shape 116"/>
        <p:cNvGrpSpPr/>
        <p:nvPr/>
      </p:nvGrpSpPr>
      <p:grpSpPr>
        <a:xfrm>
          <a:off x="0" y="0"/>
          <a:ext cx="0" cy="0"/>
          <a:chOff x="0" y="0"/>
          <a:chExt cx="0" cy="0"/>
        </a:xfrm>
      </p:grpSpPr>
      <p:sp>
        <p:nvSpPr>
          <p:cNvPr id="117" name="Google Shape;117;p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Study case</a:t>
            </a:r>
            <a:endParaRPr/>
          </a:p>
        </p:txBody>
      </p:sp>
      <p:cxnSp>
        <p:nvCxnSpPr>
          <p:cNvPr id="118" name="Google Shape;118;p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19" name="Google Shape;119;p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0" name="Google Shape;120;p5"/>
          <p:cNvSpPr txBox="1"/>
          <p:nvPr>
            <p:ph idx="1" type="body"/>
          </p:nvPr>
        </p:nvSpPr>
        <p:spPr>
          <a:xfrm>
            <a:off x="457200" y="783771"/>
            <a:ext cx="8229600" cy="381085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100"/>
              <a:buNone/>
            </a:pPr>
            <a:r>
              <a:rPr lang="en-ID" sz="2000"/>
              <a:t>We will use the imagepicker in our previous application in the edit movie page. The ImagePicker will be use for inputting several scenes of the movie. We will put the image scene in a </a:t>
            </a:r>
            <a:r>
              <a:rPr b="1" lang="en-ID" sz="2000"/>
              <a:t>folder</a:t>
            </a:r>
            <a:r>
              <a:rPr lang="en-ID" sz="2000"/>
              <a:t>, and the folder name is using the </a:t>
            </a:r>
            <a:r>
              <a:rPr b="1" lang="en-ID" sz="2000"/>
              <a:t>movie_id</a:t>
            </a:r>
            <a:r>
              <a:rPr lang="en-ID" sz="2000"/>
              <a:t>.</a:t>
            </a:r>
            <a:br>
              <a:rPr lang="en-ID" sz="2000"/>
            </a:br>
            <a:br>
              <a:rPr lang="en-ID" sz="2000"/>
            </a:br>
            <a:r>
              <a:rPr lang="en-ID" sz="2000"/>
              <a:t>we will add scenes text and a button for starting to upload the scene image. We will use raw bottom sheet to show choices of how to get the image, is it using camera or picking from gallery.</a:t>
            </a:r>
            <a:endParaRPr sz="20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 name="Shape 124"/>
        <p:cNvGrpSpPr/>
        <p:nvPr/>
      </p:nvGrpSpPr>
      <p:grpSpPr>
        <a:xfrm>
          <a:off x="0" y="0"/>
          <a:ext cx="0" cy="0"/>
          <a:chOff x="0" y="0"/>
          <a:chExt cx="0" cy="0"/>
        </a:xfrm>
      </p:grpSpPr>
      <p:sp>
        <p:nvSpPr>
          <p:cNvPr id="125" name="Google Shape;125;p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Update editpopmovie.dart</a:t>
            </a:r>
            <a:endParaRPr b="1" sz="3600">
              <a:solidFill>
                <a:srgbClr val="000090"/>
              </a:solidFill>
            </a:endParaRPr>
          </a:p>
        </p:txBody>
      </p:sp>
      <p:cxnSp>
        <p:nvCxnSpPr>
          <p:cNvPr id="126" name="Google Shape;126;p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27" name="Google Shape;127;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 name="Google Shape;128;p6"/>
          <p:cNvSpPr txBox="1"/>
          <p:nvPr>
            <p:ph idx="1" type="body"/>
          </p:nvPr>
        </p:nvSpPr>
        <p:spPr>
          <a:xfrm>
            <a:off x="457200" y="737281"/>
            <a:ext cx="8229600" cy="385734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ID" sz="1800"/>
              <a:t>Add a button to show a bottom sheet. In the bottom sheet there are two buttons. one for picking image in gallery, another for take a photo.</a:t>
            </a:r>
            <a:endParaRPr sz="1400"/>
          </a:p>
          <a:p>
            <a:pPr indent="0" lvl="0" marL="0" rtl="0" algn="l">
              <a:spcBef>
                <a:spcPts val="300"/>
              </a:spcBef>
              <a:spcAft>
                <a:spcPts val="0"/>
              </a:spcAft>
              <a:buClr>
                <a:srgbClr val="FF0000"/>
              </a:buClr>
              <a:buSzPts val="1500"/>
              <a:buNone/>
            </a:pPr>
            <a:r>
              <a:rPr lang="en-ID" sz="1500">
                <a:solidFill>
                  <a:srgbClr val="FF0000"/>
                </a:solidFill>
              </a:rPr>
              <a:t>	</a:t>
            </a:r>
            <a:r>
              <a:rPr lang="en-ID" sz="1400">
                <a:solidFill>
                  <a:srgbClr val="FF0000"/>
                </a:solidFill>
                <a:latin typeface="Consolas"/>
                <a:ea typeface="Consolas"/>
                <a:cs typeface="Consolas"/>
                <a:sym typeface="Consolas"/>
              </a:rPr>
              <a:t> const Padding(</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padding: EdgeInsets.symmetric(vertical: 16.0),</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child: Text("Scenes")),</a:t>
            </a:r>
            <a:endParaRPr/>
          </a:p>
          <a:p>
            <a:pPr indent="0" lvl="0" marL="0" rtl="0" algn="l">
              <a:spcBef>
                <a:spcPts val="280"/>
              </a:spcBef>
              <a:spcAft>
                <a:spcPts val="0"/>
              </a:spcAft>
              <a:buClr>
                <a:schemeClr val="dk1"/>
              </a:buClr>
              <a:buSzPts val="1400"/>
              <a:buNone/>
            </a:pPr>
            <a:r>
              <a:t/>
            </a:r>
            <a:endParaRPr sz="1400">
              <a:solidFill>
                <a:srgbClr val="FF0000"/>
              </a:solidFill>
              <a:latin typeface="Consolas"/>
              <a:ea typeface="Consolas"/>
              <a:cs typeface="Consolas"/>
              <a:sym typeface="Consolas"/>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Padding(</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padding: const EdgeInsets.symmetric(vertical: 16.0),</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child: ElevatedButton(</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onPressed: ()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_showPicker(context);</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child: const Text('Pick Scene'),</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 name="Shape 132"/>
        <p:cNvGrpSpPr/>
        <p:nvPr/>
      </p:nvGrpSpPr>
      <p:grpSpPr>
        <a:xfrm>
          <a:off x="0" y="0"/>
          <a:ext cx="0" cy="0"/>
          <a:chOff x="0" y="0"/>
          <a:chExt cx="0" cy="0"/>
        </a:xfrm>
      </p:grpSpPr>
      <p:sp>
        <p:nvSpPr>
          <p:cNvPr id="133" name="Google Shape;133;p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The _showPicker function</a:t>
            </a:r>
            <a:endParaRPr/>
          </a:p>
        </p:txBody>
      </p:sp>
      <p:cxnSp>
        <p:nvCxnSpPr>
          <p:cNvPr id="134" name="Google Shape;134;p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35" name="Google Shape;135;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6" name="Google Shape;136;p7"/>
          <p:cNvSpPr/>
          <p:nvPr/>
        </p:nvSpPr>
        <p:spPr>
          <a:xfrm>
            <a:off x="155575" y="819239"/>
            <a:ext cx="4572000" cy="432426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100">
                <a:solidFill>
                  <a:srgbClr val="FF0000"/>
                </a:solidFill>
                <a:latin typeface="Consolas"/>
                <a:ea typeface="Consolas"/>
                <a:cs typeface="Consolas"/>
                <a:sym typeface="Consolas"/>
              </a:rPr>
              <a:t>void _showPicker(context)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showModalBottomSheet(</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context: context,</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builder: (BuildContext bc)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return SafeArea(</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child: Container(</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color: Colors.white,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child: Wrap(</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children: &lt;Widget&gt;[</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ListTile(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tileColor: Colors.white,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leading: const Icon(Icons.photo_library),</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title: const Text('Galeri'),</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onTap: ()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ListTile(</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leading: const Icon(Icons.photo_camera),</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title: const Text('Kamera'),</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onTap: ()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a:p>
        </p:txBody>
      </p:sp>
      <p:pic>
        <p:nvPicPr>
          <p:cNvPr id="137" name="Google Shape;137;p7"/>
          <p:cNvPicPr preferRelativeResize="0"/>
          <p:nvPr/>
        </p:nvPicPr>
        <p:blipFill rotWithShape="1">
          <a:blip r:embed="rId4">
            <a:alphaModFix/>
          </a:blip>
          <a:srcRect b="0" l="0" r="0" t="0"/>
          <a:stretch/>
        </p:blipFill>
        <p:spPr>
          <a:xfrm>
            <a:off x="4727575" y="819239"/>
            <a:ext cx="2449457" cy="432426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sp>
        <p:nvSpPr>
          <p:cNvPr id="142" name="Google Shape;142;p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_image object</a:t>
            </a:r>
            <a:endParaRPr/>
          </a:p>
        </p:txBody>
      </p:sp>
      <p:cxnSp>
        <p:nvCxnSpPr>
          <p:cNvPr id="143" name="Google Shape;143;p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44" name="Google Shape;144;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 name="Google Shape;145;p8"/>
          <p:cNvSpPr txBox="1"/>
          <p:nvPr>
            <p:ph idx="1" type="body"/>
          </p:nvPr>
        </p:nvSpPr>
        <p:spPr>
          <a:xfrm>
            <a:off x="457200" y="737281"/>
            <a:ext cx="8229600" cy="385734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ID" sz="1800"/>
              <a:t>Image from camera or gallery  will be stored in _image object which have File type. If _image not null it will be displayed. </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rgbClr val="FF0000"/>
              </a:buClr>
              <a:buSzPts val="1800"/>
              <a:buNone/>
            </a:pPr>
            <a:r>
              <a:rPr lang="en-ID" sz="1800">
                <a:solidFill>
                  <a:srgbClr val="FF0000"/>
                </a:solidFill>
                <a:latin typeface="Consolas"/>
                <a:ea typeface="Consolas"/>
                <a:cs typeface="Consolas"/>
                <a:sym typeface="Consolas"/>
              </a:rPr>
              <a:t>import 'dart:io';</a:t>
            </a:r>
            <a:endParaRPr sz="1800">
              <a:solidFill>
                <a:srgbClr val="FF0000"/>
              </a:solidFill>
              <a:latin typeface="Consolas"/>
              <a:ea typeface="Consolas"/>
              <a:cs typeface="Consolas"/>
              <a:sym typeface="Consolas"/>
            </a:endParaRPr>
          </a:p>
          <a:p>
            <a:pPr indent="0" lvl="0" marL="0" rtl="0" algn="l">
              <a:spcBef>
                <a:spcPts val="360"/>
              </a:spcBef>
              <a:spcAft>
                <a:spcPts val="0"/>
              </a:spcAft>
              <a:buClr>
                <a:schemeClr val="dk1"/>
              </a:buClr>
              <a:buSzPts val="1100"/>
              <a:buFont typeface="Arial"/>
              <a:buNone/>
            </a:pPr>
            <a:r>
              <a:rPr lang="en-ID" sz="1800">
                <a:solidFill>
                  <a:srgbClr val="FF0000"/>
                </a:solidFill>
                <a:latin typeface="Consolas"/>
                <a:ea typeface="Consolas"/>
                <a:cs typeface="Consolas"/>
                <a:sym typeface="Consolas"/>
              </a:rPr>
              <a:t>import 'package:image_picker/image_picker.dart';</a:t>
            </a:r>
            <a:endParaRPr sz="1800">
              <a:solidFill>
                <a:srgbClr val="FF0000"/>
              </a:solidFill>
              <a:latin typeface="Consolas"/>
              <a:ea typeface="Consolas"/>
              <a:cs typeface="Consolas"/>
              <a:sym typeface="Consolas"/>
            </a:endParaRPr>
          </a:p>
          <a:p>
            <a:pPr indent="0" lvl="0" marL="0" rtl="0" algn="l">
              <a:spcBef>
                <a:spcPts val="360"/>
              </a:spcBef>
              <a:spcAft>
                <a:spcPts val="0"/>
              </a:spcAft>
              <a:buClr>
                <a:srgbClr val="FF0000"/>
              </a:buClr>
              <a:buSzPts val="1800"/>
              <a:buNone/>
            </a:pPr>
            <a:r>
              <a:t/>
            </a:r>
            <a:endParaRPr sz="1800">
              <a:solidFill>
                <a:srgbClr val="FF0000"/>
              </a:solidFill>
              <a:latin typeface="Consolas"/>
              <a:ea typeface="Consolas"/>
              <a:cs typeface="Consolas"/>
              <a:sym typeface="Consolas"/>
            </a:endParaRPr>
          </a:p>
          <a:p>
            <a:pPr indent="0" lvl="0" marL="0" rtl="0" algn="l">
              <a:spcBef>
                <a:spcPts val="360"/>
              </a:spcBef>
              <a:spcAft>
                <a:spcPts val="0"/>
              </a:spcAft>
              <a:buClr>
                <a:srgbClr val="FF0000"/>
              </a:buClr>
              <a:buSzPts val="1800"/>
              <a:buNone/>
            </a:pPr>
            <a:r>
              <a:rPr lang="en-ID" sz="1800">
                <a:solidFill>
                  <a:srgbClr val="FF0000"/>
                </a:solidFill>
                <a:latin typeface="Consolas"/>
                <a:ea typeface="Consolas"/>
                <a:cs typeface="Consolas"/>
                <a:sym typeface="Consolas"/>
              </a:rPr>
              <a:t>…</a:t>
            </a:r>
            <a:br>
              <a:rPr lang="en-ID" sz="1800">
                <a:solidFill>
                  <a:srgbClr val="FF0000"/>
                </a:solidFill>
                <a:latin typeface="Consolas"/>
                <a:ea typeface="Consolas"/>
                <a:cs typeface="Consolas"/>
                <a:sym typeface="Consolas"/>
              </a:rPr>
            </a:br>
            <a:r>
              <a:rPr lang="en-ID" sz="1800">
                <a:solidFill>
                  <a:srgbClr val="FF0000"/>
                </a:solidFill>
                <a:latin typeface="Consolas"/>
                <a:ea typeface="Consolas"/>
                <a:cs typeface="Consolas"/>
                <a:sym typeface="Consolas"/>
              </a:rPr>
              <a:t>Uint8List? _imageBytes;</a:t>
            </a:r>
            <a:endParaRPr sz="1800">
              <a:latin typeface="Consolas"/>
              <a:ea typeface="Consolas"/>
              <a:cs typeface="Consolas"/>
              <a:sym typeface="Consolas"/>
            </a:endParaRPr>
          </a:p>
          <a:p>
            <a:pPr indent="0" lvl="0" marL="0" rtl="0" algn="l">
              <a:spcBef>
                <a:spcPts val="360"/>
              </a:spcBef>
              <a:spcAft>
                <a:spcPts val="0"/>
              </a:spcAft>
              <a:buClr>
                <a:schemeClr val="dk1"/>
              </a:buClr>
              <a:buSzPts val="1800"/>
              <a:buNone/>
            </a:pPr>
            <a:r>
              <a:t/>
            </a:r>
            <a:endParaRPr sz="1800"/>
          </a:p>
        </p:txBody>
      </p:sp>
      <p:sp>
        <p:nvSpPr>
          <p:cNvPr id="146" name="Google Shape;146;p8"/>
          <p:cNvSpPr/>
          <p:nvPr/>
        </p:nvSpPr>
        <p:spPr>
          <a:xfrm>
            <a:off x="337021" y="3489339"/>
            <a:ext cx="699995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600">
                <a:solidFill>
                  <a:srgbClr val="FF0000"/>
                </a:solidFill>
                <a:latin typeface="Consolas"/>
                <a:ea typeface="Consolas"/>
                <a:cs typeface="Consolas"/>
                <a:sym typeface="Consolas"/>
              </a:rPr>
              <a:t>if(_imageBytes!=null)</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Padding(</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padding: const EdgeInsets.symmetric(vertical: 16.0),</a:t>
            </a:r>
            <a:endParaRPr/>
          </a:p>
          <a:p>
            <a:pPr indent="0" lvl="0" marL="0" marR="0" rtl="0" algn="l">
              <a:spcBef>
                <a:spcPts val="0"/>
              </a:spcBef>
              <a:spcAft>
                <a:spcPts val="0"/>
              </a:spcAft>
              <a:buNone/>
            </a:pPr>
            <a:r>
              <a:rPr lang="en-ID" sz="1600">
                <a:solidFill>
                  <a:srgbClr val="FF0000"/>
                </a:solidFill>
                <a:latin typeface="Consolas"/>
                <a:ea typeface="Consolas"/>
                <a:cs typeface="Consolas"/>
                <a:sym typeface="Consolas"/>
              </a:rPr>
              <a:t>        child: Image.memory(_imageBytes!)),</a:t>
            </a:r>
            <a:endParaRPr sz="1600">
              <a:solidFill>
                <a:schemeClr val="dk1"/>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0" name="Shape 150"/>
        <p:cNvGrpSpPr/>
        <p:nvPr/>
      </p:nvGrpSpPr>
      <p:grpSpPr>
        <a:xfrm>
          <a:off x="0" y="0"/>
          <a:ext cx="0" cy="0"/>
          <a:chOff x="0" y="0"/>
          <a:chExt cx="0" cy="0"/>
        </a:xfrm>
      </p:grpSpPr>
      <p:sp>
        <p:nvSpPr>
          <p:cNvPr id="151" name="Google Shape;151;p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_imgGaleri	 and _imgKamera</a:t>
            </a:r>
            <a:endParaRPr b="1" sz="3600">
              <a:solidFill>
                <a:srgbClr val="000090"/>
              </a:solidFill>
            </a:endParaRPr>
          </a:p>
        </p:txBody>
      </p:sp>
      <p:cxnSp>
        <p:nvCxnSpPr>
          <p:cNvPr id="152" name="Google Shape;152;p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53" name="Google Shape;153;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9"/>
          <p:cNvSpPr/>
          <p:nvPr/>
        </p:nvSpPr>
        <p:spPr>
          <a:xfrm>
            <a:off x="307975" y="1082040"/>
            <a:ext cx="4572000" cy="33239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 imgGaleri() async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final picker = ImagePicker();</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final image = await picker.pickImage(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source: ImageSource.gallery,</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imageQuality: 50,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maxHeight: 600,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maxWidth: 600);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if (image != null)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final bytes = await image.readAsBytes();</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setState(()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_imageBytes = bytes;</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p:txBody>
      </p:sp>
      <p:sp>
        <p:nvSpPr>
          <p:cNvPr id="155" name="Google Shape;155;p9"/>
          <p:cNvSpPr/>
          <p:nvPr/>
        </p:nvSpPr>
        <p:spPr>
          <a:xfrm>
            <a:off x="4776652" y="1080452"/>
            <a:ext cx="4572000" cy="31085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rgbClr val="FF0000"/>
                </a:solidFill>
                <a:latin typeface="Consolas"/>
                <a:ea typeface="Consolas"/>
                <a:cs typeface="Consolas"/>
                <a:sym typeface="Consolas"/>
              </a:rPr>
              <a:t> imgKamera() async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final picker = ImagePicker();</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final image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await picker.pickImage(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source: ImageSource.camera,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imageQuality: 20);</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if (image != null)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final bytes = await image.readAsBytes();</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setState(()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_imageBytes = bytes;</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p:txBody>
      </p:sp>
      <p:cxnSp>
        <p:nvCxnSpPr>
          <p:cNvPr id="156" name="Google Shape;156;p9"/>
          <p:cNvCxnSpPr/>
          <p:nvPr/>
        </p:nvCxnSpPr>
        <p:spPr>
          <a:xfrm>
            <a:off x="4451230" y="596239"/>
            <a:ext cx="0" cy="4148289"/>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0" name="Shape 160"/>
        <p:cNvGrpSpPr/>
        <p:nvPr/>
      </p:nvGrpSpPr>
      <p:grpSpPr>
        <a:xfrm>
          <a:off x="0" y="0"/>
          <a:ext cx="0" cy="0"/>
          <a:chOff x="0" y="0"/>
          <a:chExt cx="0" cy="0"/>
        </a:xfrm>
      </p:grpSpPr>
      <p:sp>
        <p:nvSpPr>
          <p:cNvPr id="161" name="Google Shape;161;p1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Call _imgGaleri	and _imgKamera</a:t>
            </a:r>
            <a:endParaRPr b="1" sz="3600">
              <a:solidFill>
                <a:srgbClr val="000090"/>
              </a:solidFill>
            </a:endParaRPr>
          </a:p>
        </p:txBody>
      </p:sp>
      <p:cxnSp>
        <p:nvCxnSpPr>
          <p:cNvPr id="162" name="Google Shape;162;p1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63" name="Google Shape;163;p1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4" name="Google Shape;164;p10"/>
          <p:cNvSpPr/>
          <p:nvPr/>
        </p:nvSpPr>
        <p:spPr>
          <a:xfrm>
            <a:off x="120771" y="821933"/>
            <a:ext cx="8396212"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600">
                <a:solidFill>
                  <a:schemeClr val="dk1"/>
                </a:solidFill>
                <a:latin typeface="Arial"/>
                <a:ea typeface="Arial"/>
                <a:cs typeface="Arial"/>
                <a:sym typeface="Arial"/>
              </a:rPr>
              <a:t>Call our previous two function in related listTile in _showPicker function . And in order two close the menu after click it, we use navigator pop.</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D" sz="1800">
                <a:solidFill>
                  <a:srgbClr val="BFBFBF"/>
                </a:solidFill>
                <a:latin typeface="Consolas"/>
                <a:ea typeface="Consolas"/>
                <a:cs typeface="Consolas"/>
                <a:sym typeface="Consolas"/>
              </a:rPr>
              <a:t>onTap: () {</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imgGaleri();</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Navigator.of(context).pop();</a:t>
            </a:r>
            <a:endParaRPr>
              <a:latin typeface="Consolas"/>
              <a:ea typeface="Consolas"/>
              <a:cs typeface="Consolas"/>
              <a:sym typeface="Consolas"/>
            </a:endParaRPr>
          </a:p>
          <a:p>
            <a:pPr indent="0" lvl="0" marL="0" marR="0" rtl="0" algn="l">
              <a:spcBef>
                <a:spcPts val="0"/>
              </a:spcBef>
              <a:spcAft>
                <a:spcPts val="0"/>
              </a:spcAft>
              <a:buNone/>
            </a:pPr>
            <a:r>
              <a:t/>
            </a:r>
            <a:endParaRPr sz="1800">
              <a:solidFill>
                <a:srgbClr val="FF0000"/>
              </a:solidFill>
              <a:latin typeface="Arial"/>
              <a:ea typeface="Arial"/>
              <a:cs typeface="Arial"/>
              <a:sym typeface="Arial"/>
            </a:endParaRPr>
          </a:p>
          <a:p>
            <a:pPr indent="0" lvl="0" marL="0" marR="0" rtl="0" algn="l">
              <a:spcBef>
                <a:spcPts val="0"/>
              </a:spcBef>
              <a:spcAft>
                <a:spcPts val="0"/>
              </a:spcAft>
              <a:buNone/>
            </a:pPr>
            <a:r>
              <a:t/>
            </a:r>
            <a:endParaRPr sz="1800">
              <a:solidFill>
                <a:srgbClr val="FF0000"/>
              </a:solidFill>
              <a:latin typeface="Arial"/>
              <a:ea typeface="Arial"/>
              <a:cs typeface="Arial"/>
              <a:sym typeface="Arial"/>
            </a:endParaRPr>
          </a:p>
          <a:p>
            <a:pPr indent="0" lvl="0" marL="0" marR="0" rtl="0" algn="l">
              <a:spcBef>
                <a:spcPts val="0"/>
              </a:spcBef>
              <a:spcAft>
                <a:spcPts val="0"/>
              </a:spcAft>
              <a:buNone/>
            </a:pPr>
            <a:r>
              <a:rPr lang="en-ID" sz="1800">
                <a:solidFill>
                  <a:srgbClr val="BFBFBF"/>
                </a:solidFill>
                <a:latin typeface="Consolas"/>
                <a:ea typeface="Consolas"/>
                <a:cs typeface="Consolas"/>
                <a:sym typeface="Consolas"/>
              </a:rPr>
              <a:t>onTap: () {</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imgKamera();</a:t>
            </a:r>
            <a:endParaRPr>
              <a:latin typeface="Consolas"/>
              <a:ea typeface="Consolas"/>
              <a:cs typeface="Consolas"/>
              <a:sym typeface="Consolas"/>
            </a:endParaRPr>
          </a:p>
          <a:p>
            <a:pPr indent="0" lvl="0" marL="0" marR="0" rtl="0" algn="l">
              <a:spcBef>
                <a:spcPts val="0"/>
              </a:spcBef>
              <a:spcAft>
                <a:spcPts val="0"/>
              </a:spcAft>
              <a:buNone/>
            </a:pPr>
            <a:r>
              <a:rPr lang="en-ID" sz="1800">
                <a:solidFill>
                  <a:srgbClr val="FF0000"/>
                </a:solidFill>
                <a:latin typeface="Consolas"/>
                <a:ea typeface="Consolas"/>
                <a:cs typeface="Consolas"/>
                <a:sym typeface="Consolas"/>
              </a:rPr>
              <a:t>Navigator.of(context).pop();</a:t>
            </a:r>
            <a:endParaRPr>
              <a:latin typeface="Consolas"/>
              <a:ea typeface="Consolas"/>
              <a:cs typeface="Consolas"/>
              <a:sym typeface="Consolas"/>
            </a:endParaRPr>
          </a:p>
          <a:p>
            <a:pPr indent="0" lvl="0" marL="0" marR="0" rtl="0" algn="l">
              <a:spcBef>
                <a:spcPts val="0"/>
              </a:spcBef>
              <a:spcAft>
                <a:spcPts val="0"/>
              </a:spcAft>
              <a:buNone/>
            </a:pPr>
            <a:r>
              <a:t/>
            </a:r>
            <a:endParaRPr sz="1800">
              <a:solidFill>
                <a:srgbClr val="FF0000"/>
              </a:solidFill>
              <a:latin typeface="Arial"/>
              <a:ea typeface="Arial"/>
              <a:cs typeface="Arial"/>
              <a:sym typeface="Arial"/>
            </a:endParaRPr>
          </a:p>
          <a:p>
            <a:pPr indent="0" lvl="0" marL="0" marR="0" rtl="0" algn="l">
              <a:spcBef>
                <a:spcPts val="0"/>
              </a:spcBef>
              <a:spcAft>
                <a:spcPts val="0"/>
              </a:spcAft>
              <a:buNone/>
            </a:pPr>
            <a:br>
              <a:rPr lang="en-ID" sz="1400">
                <a:solidFill>
                  <a:srgbClr val="FF0000"/>
                </a:solidFill>
                <a:latin typeface="Helvetica Neue"/>
                <a:ea typeface="Helvetica Neue"/>
                <a:cs typeface="Helvetica Neue"/>
                <a:sym typeface="Helvetica Neue"/>
              </a:rPr>
            </a:br>
            <a:endParaRPr sz="1400">
              <a:solidFill>
                <a:srgbClr val="FF0000"/>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 name="Shape 168"/>
        <p:cNvGrpSpPr/>
        <p:nvPr/>
      </p:nvGrpSpPr>
      <p:grpSpPr>
        <a:xfrm>
          <a:off x="0" y="0"/>
          <a:ext cx="0" cy="0"/>
          <a:chOff x="0" y="0"/>
          <a:chExt cx="0" cy="0"/>
        </a:xfrm>
      </p:grpSpPr>
      <p:sp>
        <p:nvSpPr>
          <p:cNvPr id="169" name="Google Shape;169;p1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Gallery Result</a:t>
            </a:r>
            <a:endParaRPr/>
          </a:p>
        </p:txBody>
      </p:sp>
      <p:cxnSp>
        <p:nvCxnSpPr>
          <p:cNvPr id="170" name="Google Shape;170;p1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71" name="Google Shape;171;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72" name="Google Shape;172;p11"/>
          <p:cNvPicPr preferRelativeResize="0"/>
          <p:nvPr/>
        </p:nvPicPr>
        <p:blipFill rotWithShape="1">
          <a:blip r:embed="rId4">
            <a:alphaModFix/>
          </a:blip>
          <a:srcRect b="0" l="0" r="0" t="0"/>
          <a:stretch/>
        </p:blipFill>
        <p:spPr>
          <a:xfrm>
            <a:off x="436120" y="820558"/>
            <a:ext cx="2185555" cy="3858370"/>
          </a:xfrm>
          <a:prstGeom prst="rect">
            <a:avLst/>
          </a:prstGeom>
          <a:noFill/>
          <a:ln>
            <a:noFill/>
          </a:ln>
        </p:spPr>
      </p:pic>
      <p:pic>
        <p:nvPicPr>
          <p:cNvPr id="173" name="Google Shape;173;p11"/>
          <p:cNvPicPr preferRelativeResize="0"/>
          <p:nvPr/>
        </p:nvPicPr>
        <p:blipFill rotWithShape="1">
          <a:blip r:embed="rId5">
            <a:alphaModFix/>
          </a:blip>
          <a:srcRect b="0" l="0" r="0" t="0"/>
          <a:stretch/>
        </p:blipFill>
        <p:spPr>
          <a:xfrm>
            <a:off x="2806324" y="820557"/>
            <a:ext cx="2185554" cy="3858367"/>
          </a:xfrm>
          <a:prstGeom prst="rect">
            <a:avLst/>
          </a:prstGeom>
          <a:noFill/>
          <a:ln>
            <a:noFill/>
          </a:ln>
        </p:spPr>
      </p:pic>
      <p:pic>
        <p:nvPicPr>
          <p:cNvPr id="174" name="Google Shape;174;p11"/>
          <p:cNvPicPr preferRelativeResize="0"/>
          <p:nvPr/>
        </p:nvPicPr>
        <p:blipFill rotWithShape="1">
          <a:blip r:embed="rId6">
            <a:alphaModFix/>
          </a:blip>
          <a:srcRect b="0" l="0" r="0" t="0"/>
          <a:stretch/>
        </p:blipFill>
        <p:spPr>
          <a:xfrm>
            <a:off x="5176527" y="820556"/>
            <a:ext cx="2185555" cy="38583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sp>
        <p:nvSpPr>
          <p:cNvPr id="179" name="Google Shape;179;p1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Got MissingPluginException?</a:t>
            </a:r>
            <a:endParaRPr/>
          </a:p>
        </p:txBody>
      </p:sp>
      <p:cxnSp>
        <p:nvCxnSpPr>
          <p:cNvPr id="180" name="Google Shape;180;p1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81" name="Google Shape;181;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 name="Google Shape;182;p12"/>
          <p:cNvSpPr/>
          <p:nvPr/>
        </p:nvSpPr>
        <p:spPr>
          <a:xfrm>
            <a:off x="120771" y="821933"/>
            <a:ext cx="8396212"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600">
                <a:solidFill>
                  <a:schemeClr val="dk1"/>
                </a:solidFill>
                <a:latin typeface="Arial"/>
                <a:ea typeface="Arial"/>
                <a:cs typeface="Arial"/>
                <a:sym typeface="Arial"/>
              </a:rPr>
              <a:t>If you are running your app, stop it first then rerun again.</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ID" sz="1600">
                <a:solidFill>
                  <a:schemeClr val="dk1"/>
                </a:solidFill>
                <a:latin typeface="Arial"/>
                <a:ea typeface="Arial"/>
                <a:cs typeface="Arial"/>
                <a:sym typeface="Arial"/>
              </a:rPr>
              <a:t>If you still get the exception, stop your app, then execute flutter clean and flutter pub get, then run again your app.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6" name="Shape 186"/>
        <p:cNvGrpSpPr/>
        <p:nvPr/>
      </p:nvGrpSpPr>
      <p:grpSpPr>
        <a:xfrm>
          <a:off x="0" y="0"/>
          <a:ext cx="0" cy="0"/>
          <a:chOff x="0" y="0"/>
          <a:chExt cx="0" cy="0"/>
        </a:xfrm>
      </p:grpSpPr>
      <p:sp>
        <p:nvSpPr>
          <p:cNvPr id="187" name="Google Shape;187;p13"/>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800"/>
              <a:buFont typeface="Arial"/>
              <a:buNone/>
            </a:pPr>
            <a:r>
              <a:rPr b="1" lang="en-ID" sz="4800">
                <a:solidFill>
                  <a:srgbClr val="DAE5F1"/>
                </a:solidFill>
              </a:rPr>
              <a:t>UPLOAD IMAGE</a:t>
            </a:r>
            <a:endParaRPr/>
          </a:p>
        </p:txBody>
      </p:sp>
      <p:sp>
        <p:nvSpPr>
          <p:cNvPr id="188" name="Google Shape;188;p13"/>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2" name="Shape 192"/>
        <p:cNvGrpSpPr/>
        <p:nvPr/>
      </p:nvGrpSpPr>
      <p:grpSpPr>
        <a:xfrm>
          <a:off x="0" y="0"/>
          <a:ext cx="0" cy="0"/>
          <a:chOff x="0" y="0"/>
          <a:chExt cx="0" cy="0"/>
        </a:xfrm>
      </p:grpSpPr>
      <p:cxnSp>
        <p:nvCxnSpPr>
          <p:cNvPr id="193" name="Google Shape;193;p1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94" name="Google Shape;194;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5" name="Google Shape;195;p14"/>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Upload Image</a:t>
            </a:r>
            <a:endParaRPr/>
          </a:p>
        </p:txBody>
      </p:sp>
      <p:cxnSp>
        <p:nvCxnSpPr>
          <p:cNvPr id="196" name="Google Shape;196;p1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97" name="Google Shape;197;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 name="Google Shape;198;p14"/>
          <p:cNvSpPr/>
          <p:nvPr/>
        </p:nvSpPr>
        <p:spPr>
          <a:xfrm>
            <a:off x="307975" y="993548"/>
            <a:ext cx="8229600"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Next we will upload the picked image to the server. In the server, this image will be store in </a:t>
            </a:r>
            <a:r>
              <a:rPr b="1" lang="en-ID" sz="1800">
                <a:solidFill>
                  <a:schemeClr val="dk1"/>
                </a:solidFill>
                <a:latin typeface="Arial"/>
                <a:ea typeface="Arial"/>
                <a:cs typeface="Arial"/>
                <a:sym typeface="Arial"/>
              </a:rPr>
              <a:t>images/[movie_id] </a:t>
            </a:r>
            <a:r>
              <a:rPr lang="en-ID" sz="1800">
                <a:solidFill>
                  <a:schemeClr val="dk1"/>
                </a:solidFill>
                <a:latin typeface="Arial"/>
                <a:ea typeface="Arial"/>
                <a:cs typeface="Arial"/>
                <a:sym typeface="Arial"/>
              </a:rPr>
              <a:t>directory with unique filename taken from current timestamp. </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For example if we edit movie with id 189, picking the poster image, and then  upload, in the server will generate file, for example:</a:t>
            </a:r>
            <a:br>
              <a:rPr lang="en-ID" sz="1800">
                <a:solidFill>
                  <a:schemeClr val="dk1"/>
                </a:solidFill>
                <a:latin typeface="Arial"/>
                <a:ea typeface="Arial"/>
                <a:cs typeface="Arial"/>
                <a:sym typeface="Arial"/>
              </a:rPr>
            </a:br>
            <a:r>
              <a:rPr lang="en-ID" sz="1800">
                <a:solidFill>
                  <a:schemeClr val="dk1"/>
                </a:solidFill>
                <a:latin typeface="Arial"/>
                <a:ea typeface="Arial"/>
                <a:cs typeface="Arial"/>
                <a:sym typeface="Arial"/>
              </a:rPr>
              <a:t>  /images/189/20241123081512.jpg</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D" sz="1800">
                <a:solidFill>
                  <a:schemeClr val="dk1"/>
                </a:solidFill>
                <a:latin typeface="Arial"/>
                <a:ea typeface="Arial"/>
                <a:cs typeface="Arial"/>
                <a:sym typeface="Arial"/>
              </a:rPr>
              <a:t>Make images directory in your folder set the permission access to 777.</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D" sz="1800">
                <a:solidFill>
                  <a:schemeClr val="dk1"/>
                </a:solidFill>
                <a:latin typeface="Arial"/>
                <a:ea typeface="Arial"/>
                <a:cs typeface="Arial"/>
                <a:sym typeface="Arial"/>
              </a:rPr>
              <a:t>The uri will be sent in a base64Encode format.</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cxnSp>
        <p:nvCxnSpPr>
          <p:cNvPr id="203" name="Google Shape;203;p1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04" name="Google Shape;204;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15"/>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 uploadscene64.php</a:t>
            </a:r>
            <a:endParaRPr/>
          </a:p>
        </p:txBody>
      </p:sp>
      <p:cxnSp>
        <p:nvCxnSpPr>
          <p:cNvPr id="206" name="Google Shape;206;p1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07" name="Google Shape;207;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15"/>
          <p:cNvSpPr/>
          <p:nvPr/>
        </p:nvSpPr>
        <p:spPr>
          <a:xfrm>
            <a:off x="307975" y="737281"/>
            <a:ext cx="3697968"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Prepare web service that accept base64 image and movie_id. Using file_put_content it will store base64 data into image file. You may need to create the images folder first and set it writable</a:t>
            </a:r>
            <a:endParaRPr/>
          </a:p>
          <a:p>
            <a:pPr indent="0" lvl="0" marL="0" marR="0" rtl="0" algn="l">
              <a:spcBef>
                <a:spcPts val="0"/>
              </a:spcBef>
              <a:spcAft>
                <a:spcPts val="0"/>
              </a:spcAft>
              <a:buNone/>
            </a:pPr>
            <a:r>
              <a:t/>
            </a:r>
            <a:endParaRPr sz="1400">
              <a:solidFill>
                <a:srgbClr val="FF0000"/>
              </a:solidFill>
              <a:latin typeface="Consolas"/>
              <a:ea typeface="Consolas"/>
              <a:cs typeface="Consolas"/>
              <a:sym typeface="Consolas"/>
            </a:endParaRPr>
          </a:p>
        </p:txBody>
      </p:sp>
      <p:sp>
        <p:nvSpPr>
          <p:cNvPr id="209" name="Google Shape;209;p15"/>
          <p:cNvSpPr txBox="1"/>
          <p:nvPr/>
        </p:nvSpPr>
        <p:spPr>
          <a:xfrm>
            <a:off x="4330928" y="124926"/>
            <a:ext cx="4593900" cy="47253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700">
                <a:solidFill>
                  <a:srgbClr val="FF0000"/>
                </a:solidFill>
              </a:rPr>
              <a:t>&lt;?php</a:t>
            </a:r>
            <a:endParaRPr sz="700">
              <a:solidFill>
                <a:srgbClr val="FF0000"/>
              </a:solidFill>
            </a:endParaRPr>
          </a:p>
          <a:p>
            <a:pPr indent="0" lvl="0" marL="0" marR="0" rtl="0" algn="l">
              <a:spcBef>
                <a:spcPts val="0"/>
              </a:spcBef>
              <a:spcAft>
                <a:spcPts val="0"/>
              </a:spcAft>
              <a:buNone/>
            </a:pPr>
            <a:r>
              <a:rPr lang="en-ID" sz="700">
                <a:solidFill>
                  <a:srgbClr val="FF0000"/>
                </a:solidFill>
              </a:rPr>
              <a:t>header("Access-Control-Allow-Origin: *");</a:t>
            </a:r>
            <a:endParaRPr sz="700">
              <a:solidFill>
                <a:srgbClr val="FF0000"/>
              </a:solidFill>
            </a:endParaRPr>
          </a:p>
          <a:p>
            <a:pPr indent="0" lvl="0" marL="0" marR="0" rtl="0" algn="l">
              <a:spcBef>
                <a:spcPts val="0"/>
              </a:spcBef>
              <a:spcAft>
                <a:spcPts val="0"/>
              </a:spcAft>
              <a:buNone/>
            </a:pPr>
            <a:r>
              <a:rPr lang="en-ID" sz="700">
                <a:solidFill>
                  <a:srgbClr val="FF0000"/>
                </a:solidFill>
              </a:rPr>
              <a:t>header("Access-Control-Allow-Headers: Content-Type");</a:t>
            </a:r>
            <a:endParaRPr sz="700">
              <a:solidFill>
                <a:srgbClr val="FF0000"/>
              </a:solidFill>
            </a:endParaRPr>
          </a:p>
          <a:p>
            <a:pPr indent="0" lvl="0" marL="0" marR="0" rtl="0" algn="l">
              <a:spcBef>
                <a:spcPts val="0"/>
              </a:spcBef>
              <a:spcAft>
                <a:spcPts val="0"/>
              </a:spcAft>
              <a:buNone/>
            </a:pPr>
            <a:r>
              <a:t/>
            </a:r>
            <a:endParaRPr sz="700">
              <a:solidFill>
                <a:srgbClr val="FF0000"/>
              </a:solidFill>
            </a:endParaRPr>
          </a:p>
          <a:p>
            <a:pPr indent="0" lvl="0" marL="0" marR="0" rtl="0" algn="l">
              <a:spcBef>
                <a:spcPts val="0"/>
              </a:spcBef>
              <a:spcAft>
                <a:spcPts val="0"/>
              </a:spcAft>
              <a:buNone/>
            </a:pPr>
            <a:r>
              <a:rPr lang="en-ID" sz="700">
                <a:solidFill>
                  <a:srgbClr val="FF0000"/>
                </a:solidFill>
              </a:rPr>
              <a:t>    extract($_POST);</a:t>
            </a:r>
            <a:endParaRPr sz="700">
              <a:solidFill>
                <a:srgbClr val="FF0000"/>
              </a:solidFill>
            </a:endParaRPr>
          </a:p>
          <a:p>
            <a:pPr indent="0" lvl="0" marL="0" marR="0" rtl="0" algn="l">
              <a:spcBef>
                <a:spcPts val="0"/>
              </a:spcBef>
              <a:spcAft>
                <a:spcPts val="0"/>
              </a:spcAft>
              <a:buNone/>
            </a:pPr>
            <a:r>
              <a:rPr lang="en-ID" sz="700">
                <a:solidFill>
                  <a:srgbClr val="FF0000"/>
                </a:solidFill>
              </a:rPr>
              <a:t>    function saveBase64Image($base64Image, $movieId) {</a:t>
            </a:r>
            <a:endParaRPr sz="700">
              <a:solidFill>
                <a:srgbClr val="FF0000"/>
              </a:solidFill>
            </a:endParaRPr>
          </a:p>
          <a:p>
            <a:pPr indent="0" lvl="0" marL="0" marR="0" rtl="0" algn="l">
              <a:spcBef>
                <a:spcPts val="0"/>
              </a:spcBef>
              <a:spcAft>
                <a:spcPts val="0"/>
              </a:spcAft>
              <a:buNone/>
            </a:pPr>
            <a:r>
              <a:rPr lang="en-ID" sz="700">
                <a:solidFill>
                  <a:srgbClr val="FF0000"/>
                </a:solidFill>
              </a:rPr>
              <a:t>        $response = [</a:t>
            </a:r>
            <a:endParaRPr sz="700">
              <a:solidFill>
                <a:srgbClr val="FF0000"/>
              </a:solidFill>
            </a:endParaRPr>
          </a:p>
          <a:p>
            <a:pPr indent="0" lvl="0" marL="0" marR="0" rtl="0" algn="l">
              <a:spcBef>
                <a:spcPts val="0"/>
              </a:spcBef>
              <a:spcAft>
                <a:spcPts val="0"/>
              </a:spcAft>
              <a:buNone/>
            </a:pPr>
            <a:r>
              <a:rPr lang="en-ID" sz="700">
                <a:solidFill>
                  <a:srgbClr val="FF0000"/>
                </a:solidFill>
              </a:rPr>
              <a:t>            "result" =&gt; "error",</a:t>
            </a:r>
            <a:endParaRPr sz="700">
              <a:solidFill>
                <a:srgbClr val="FF0000"/>
              </a:solidFill>
            </a:endParaRPr>
          </a:p>
          <a:p>
            <a:pPr indent="0" lvl="0" marL="0" marR="0" rtl="0" algn="l">
              <a:spcBef>
                <a:spcPts val="0"/>
              </a:spcBef>
              <a:spcAft>
                <a:spcPts val="0"/>
              </a:spcAft>
              <a:buNone/>
            </a:pPr>
            <a:r>
              <a:rPr lang="en-ID" sz="700">
                <a:solidFill>
                  <a:srgbClr val="FF0000"/>
                </a:solidFill>
              </a:rPr>
              <a:t>            "message" =&gt; ""</a:t>
            </a:r>
            <a:endParaRPr sz="700">
              <a:solidFill>
                <a:srgbClr val="FF0000"/>
              </a:solidFill>
            </a:endParaRPr>
          </a:p>
          <a:p>
            <a:pPr indent="0" lvl="0" marL="0" marR="0" rtl="0" algn="l">
              <a:spcBef>
                <a:spcPts val="0"/>
              </a:spcBef>
              <a:spcAft>
                <a:spcPts val="0"/>
              </a:spcAft>
              <a:buNone/>
            </a:pPr>
            <a:r>
              <a:rPr lang="en-ID" sz="700">
                <a:solidFill>
                  <a:srgbClr val="FF0000"/>
                </a:solidFill>
              </a:rPr>
              <a:t>        ];</a:t>
            </a:r>
            <a:endParaRPr sz="700">
              <a:solidFill>
                <a:srgbClr val="FF0000"/>
              </a:solidFill>
            </a:endParaRPr>
          </a:p>
          <a:p>
            <a:pPr indent="0" lvl="0" marL="0" marR="0" rtl="0" algn="l">
              <a:spcBef>
                <a:spcPts val="0"/>
              </a:spcBef>
              <a:spcAft>
                <a:spcPts val="0"/>
              </a:spcAft>
              <a:buNone/>
            </a:pPr>
            <a:r>
              <a:rPr lang="en-ID" sz="700">
                <a:solidFill>
                  <a:srgbClr val="FF0000"/>
                </a:solidFill>
              </a:rPr>
              <a:t>        // Decode the Base64 image string</a:t>
            </a:r>
            <a:endParaRPr sz="700">
              <a:solidFill>
                <a:srgbClr val="FF0000"/>
              </a:solidFill>
            </a:endParaRPr>
          </a:p>
          <a:p>
            <a:pPr indent="0" lvl="0" marL="0" marR="0" rtl="0" algn="l">
              <a:spcBef>
                <a:spcPts val="0"/>
              </a:spcBef>
              <a:spcAft>
                <a:spcPts val="0"/>
              </a:spcAft>
              <a:buNone/>
            </a:pPr>
            <a:r>
              <a:rPr lang="en-ID" sz="700">
                <a:solidFill>
                  <a:srgbClr val="FF0000"/>
                </a:solidFill>
              </a:rPr>
              <a:t>        $imageData = base64_decode($base64Image);</a:t>
            </a:r>
            <a:endParaRPr sz="700">
              <a:solidFill>
                <a:srgbClr val="FF0000"/>
              </a:solidFill>
            </a:endParaRPr>
          </a:p>
          <a:p>
            <a:pPr indent="0" lvl="0" marL="0" marR="0" rtl="0" algn="l">
              <a:spcBef>
                <a:spcPts val="0"/>
              </a:spcBef>
              <a:spcAft>
                <a:spcPts val="0"/>
              </a:spcAft>
              <a:buNone/>
            </a:pPr>
            <a:r>
              <a:rPr lang="en-ID" sz="700">
                <a:solidFill>
                  <a:srgbClr val="FF0000"/>
                </a:solidFill>
              </a:rPr>
              <a:t>        if ($imageData === false) {</a:t>
            </a:r>
            <a:endParaRPr sz="700">
              <a:solidFill>
                <a:srgbClr val="FF0000"/>
              </a:solidFill>
            </a:endParaRPr>
          </a:p>
          <a:p>
            <a:pPr indent="0" lvl="0" marL="0" marR="0" rtl="0" algn="l">
              <a:spcBef>
                <a:spcPts val="0"/>
              </a:spcBef>
              <a:spcAft>
                <a:spcPts val="0"/>
              </a:spcAft>
              <a:buNone/>
            </a:pPr>
            <a:r>
              <a:rPr lang="en-ID" sz="700">
                <a:solidFill>
                  <a:srgbClr val="FF0000"/>
                </a:solidFill>
              </a:rPr>
              <a:t>            $response["message"] = "Failed to decode Base64 image.";</a:t>
            </a:r>
            <a:endParaRPr sz="700">
              <a:solidFill>
                <a:srgbClr val="FF0000"/>
              </a:solidFill>
            </a:endParaRPr>
          </a:p>
          <a:p>
            <a:pPr indent="0" lvl="0" marL="0" marR="0" rtl="0" algn="l">
              <a:spcBef>
                <a:spcPts val="0"/>
              </a:spcBef>
              <a:spcAft>
                <a:spcPts val="0"/>
              </a:spcAft>
              <a:buNone/>
            </a:pPr>
            <a:r>
              <a:rPr lang="en-ID" sz="700">
                <a:solidFill>
                  <a:srgbClr val="FF0000"/>
                </a:solidFill>
              </a:rPr>
              <a:t>            return $response;</a:t>
            </a:r>
            <a:endParaRPr sz="700">
              <a:solidFill>
                <a:srgbClr val="FF0000"/>
              </a:solidFill>
            </a:endParaRPr>
          </a:p>
          <a:p>
            <a:pPr indent="0" lvl="0" marL="0" marR="0" rtl="0" algn="l">
              <a:spcBef>
                <a:spcPts val="0"/>
              </a:spcBef>
              <a:spcAft>
                <a:spcPts val="0"/>
              </a:spcAft>
              <a:buNone/>
            </a:pPr>
            <a:r>
              <a:rPr lang="en-ID" sz="700">
                <a:solidFill>
                  <a:srgbClr val="FF0000"/>
                </a:solidFill>
              </a:rPr>
              <a:t>        }</a:t>
            </a:r>
            <a:endParaRPr sz="700">
              <a:solidFill>
                <a:srgbClr val="FF0000"/>
              </a:solidFill>
            </a:endParaRPr>
          </a:p>
          <a:p>
            <a:pPr indent="0" lvl="0" marL="0" marR="0" rtl="0" algn="l">
              <a:spcBef>
                <a:spcPts val="0"/>
              </a:spcBef>
              <a:spcAft>
                <a:spcPts val="0"/>
              </a:spcAft>
              <a:buNone/>
            </a:pPr>
            <a:r>
              <a:rPr lang="en-ID" sz="700">
                <a:solidFill>
                  <a:srgbClr val="FF0000"/>
                </a:solidFill>
              </a:rPr>
              <a:t>        // The directory path</a:t>
            </a:r>
            <a:endParaRPr sz="700">
              <a:solidFill>
                <a:srgbClr val="FF0000"/>
              </a:solidFill>
            </a:endParaRPr>
          </a:p>
          <a:p>
            <a:pPr indent="0" lvl="0" marL="0" marR="0" rtl="0" algn="l">
              <a:spcBef>
                <a:spcPts val="0"/>
              </a:spcBef>
              <a:spcAft>
                <a:spcPts val="0"/>
              </a:spcAft>
              <a:buNone/>
            </a:pPr>
            <a:r>
              <a:rPr lang="en-ID" sz="700">
                <a:solidFill>
                  <a:srgbClr val="FF0000"/>
                </a:solidFill>
              </a:rPr>
              <a:t>        $directory = "images/" . htmlspecialchars($movieId);</a:t>
            </a:r>
            <a:endParaRPr sz="700">
              <a:solidFill>
                <a:srgbClr val="FF0000"/>
              </a:solidFill>
            </a:endParaRPr>
          </a:p>
          <a:p>
            <a:pPr indent="0" lvl="0" marL="0" marR="0" rtl="0" algn="l">
              <a:spcBef>
                <a:spcPts val="0"/>
              </a:spcBef>
              <a:spcAft>
                <a:spcPts val="0"/>
              </a:spcAft>
              <a:buNone/>
            </a:pPr>
            <a:r>
              <a:rPr lang="en-ID" sz="700">
                <a:solidFill>
                  <a:srgbClr val="FF0000"/>
                </a:solidFill>
              </a:rPr>
              <a:t>        // Create the directory if it doesn't exist</a:t>
            </a:r>
            <a:endParaRPr sz="700">
              <a:solidFill>
                <a:srgbClr val="FF0000"/>
              </a:solidFill>
            </a:endParaRPr>
          </a:p>
          <a:p>
            <a:pPr indent="0" lvl="0" marL="0" marR="0" rtl="0" algn="l">
              <a:spcBef>
                <a:spcPts val="0"/>
              </a:spcBef>
              <a:spcAft>
                <a:spcPts val="0"/>
              </a:spcAft>
              <a:buNone/>
            </a:pPr>
            <a:r>
              <a:rPr lang="en-ID" sz="700">
                <a:solidFill>
                  <a:srgbClr val="FF0000"/>
                </a:solidFill>
              </a:rPr>
              <a:t>        if (!is_dir($directory)) {</a:t>
            </a:r>
            <a:endParaRPr sz="700">
              <a:solidFill>
                <a:srgbClr val="FF0000"/>
              </a:solidFill>
            </a:endParaRPr>
          </a:p>
          <a:p>
            <a:pPr indent="0" lvl="0" marL="0" marR="0" rtl="0" algn="l">
              <a:spcBef>
                <a:spcPts val="0"/>
              </a:spcBef>
              <a:spcAft>
                <a:spcPts val="0"/>
              </a:spcAft>
              <a:buNone/>
            </a:pPr>
            <a:r>
              <a:rPr lang="en-ID" sz="700">
                <a:solidFill>
                  <a:srgbClr val="FF0000"/>
                </a:solidFill>
              </a:rPr>
              <a:t>            if (!mkdir($directory, 0777, true)) {</a:t>
            </a:r>
            <a:endParaRPr sz="700">
              <a:solidFill>
                <a:srgbClr val="FF0000"/>
              </a:solidFill>
            </a:endParaRPr>
          </a:p>
          <a:p>
            <a:pPr indent="0" lvl="0" marL="0" marR="0" rtl="0" algn="l">
              <a:spcBef>
                <a:spcPts val="0"/>
              </a:spcBef>
              <a:spcAft>
                <a:spcPts val="0"/>
              </a:spcAft>
              <a:buNone/>
            </a:pPr>
            <a:r>
              <a:rPr lang="en-ID" sz="700">
                <a:solidFill>
                  <a:srgbClr val="FF0000"/>
                </a:solidFill>
              </a:rPr>
              <a:t>                $response["message"] = "Failed to create directory.";</a:t>
            </a:r>
            <a:endParaRPr sz="700">
              <a:solidFill>
                <a:srgbClr val="FF0000"/>
              </a:solidFill>
            </a:endParaRPr>
          </a:p>
          <a:p>
            <a:pPr indent="0" lvl="0" marL="0" marR="0" rtl="0" algn="l">
              <a:spcBef>
                <a:spcPts val="0"/>
              </a:spcBef>
              <a:spcAft>
                <a:spcPts val="0"/>
              </a:spcAft>
              <a:buNone/>
            </a:pPr>
            <a:r>
              <a:rPr lang="en-ID" sz="700">
                <a:solidFill>
                  <a:srgbClr val="FF0000"/>
                </a:solidFill>
              </a:rPr>
              <a:t>                return $response;</a:t>
            </a:r>
            <a:endParaRPr sz="700">
              <a:solidFill>
                <a:srgbClr val="FF0000"/>
              </a:solidFill>
            </a:endParaRPr>
          </a:p>
          <a:p>
            <a:pPr indent="0" lvl="0" marL="0" marR="0" rtl="0" algn="l">
              <a:spcBef>
                <a:spcPts val="0"/>
              </a:spcBef>
              <a:spcAft>
                <a:spcPts val="0"/>
              </a:spcAft>
              <a:buNone/>
            </a:pPr>
            <a:r>
              <a:rPr lang="en-ID" sz="700">
                <a:solidFill>
                  <a:srgbClr val="FF0000"/>
                </a:solidFill>
              </a:rPr>
              <a:t>            }</a:t>
            </a:r>
            <a:endParaRPr sz="700">
              <a:solidFill>
                <a:srgbClr val="FF0000"/>
              </a:solidFill>
            </a:endParaRPr>
          </a:p>
          <a:p>
            <a:pPr indent="0" lvl="0" marL="0" marR="0" rtl="0" algn="l">
              <a:spcBef>
                <a:spcPts val="0"/>
              </a:spcBef>
              <a:spcAft>
                <a:spcPts val="0"/>
              </a:spcAft>
              <a:buNone/>
            </a:pPr>
            <a:r>
              <a:rPr lang="en-ID" sz="700">
                <a:solidFill>
                  <a:srgbClr val="FF0000"/>
                </a:solidFill>
              </a:rPr>
              <a:t>        }</a:t>
            </a:r>
            <a:endParaRPr sz="700">
              <a:solidFill>
                <a:srgbClr val="FF0000"/>
              </a:solidFill>
            </a:endParaRPr>
          </a:p>
          <a:p>
            <a:pPr indent="0" lvl="0" marL="0" marR="0" rtl="0" algn="l">
              <a:spcBef>
                <a:spcPts val="0"/>
              </a:spcBef>
              <a:spcAft>
                <a:spcPts val="0"/>
              </a:spcAft>
              <a:buNone/>
            </a:pPr>
            <a:r>
              <a:rPr lang="en-ID" sz="700">
                <a:solidFill>
                  <a:srgbClr val="FF0000"/>
                </a:solidFill>
              </a:rPr>
              <a:t>        // Generate a unique filename</a:t>
            </a:r>
            <a:endParaRPr sz="700">
              <a:solidFill>
                <a:srgbClr val="FF0000"/>
              </a:solidFill>
            </a:endParaRPr>
          </a:p>
          <a:p>
            <a:pPr indent="0" lvl="0" marL="0" marR="0" rtl="0" algn="l">
              <a:spcBef>
                <a:spcPts val="0"/>
              </a:spcBef>
              <a:spcAft>
                <a:spcPts val="0"/>
              </a:spcAft>
              <a:buNone/>
            </a:pPr>
            <a:r>
              <a:rPr lang="en-ID" sz="700">
                <a:solidFill>
                  <a:srgbClr val="FF0000"/>
                </a:solidFill>
              </a:rPr>
              <a:t>        $timestamp = time();</a:t>
            </a:r>
            <a:endParaRPr sz="700">
              <a:solidFill>
                <a:srgbClr val="FF0000"/>
              </a:solidFill>
            </a:endParaRPr>
          </a:p>
          <a:p>
            <a:pPr indent="0" lvl="0" marL="0" marR="0" rtl="0" algn="l">
              <a:spcBef>
                <a:spcPts val="0"/>
              </a:spcBef>
              <a:spcAft>
                <a:spcPts val="0"/>
              </a:spcAft>
              <a:buNone/>
            </a:pPr>
            <a:r>
              <a:rPr lang="en-ID" sz="700">
                <a:solidFill>
                  <a:srgbClr val="FF0000"/>
                </a:solidFill>
              </a:rPr>
              <a:t>        $filename = $timestamp . ".png"; // Adjust extension if needed</a:t>
            </a:r>
            <a:endParaRPr sz="700">
              <a:solidFill>
                <a:srgbClr val="FF0000"/>
              </a:solidFill>
            </a:endParaRPr>
          </a:p>
          <a:p>
            <a:pPr indent="0" lvl="0" marL="0" marR="0" rtl="0" algn="l">
              <a:spcBef>
                <a:spcPts val="0"/>
              </a:spcBef>
              <a:spcAft>
                <a:spcPts val="0"/>
              </a:spcAft>
              <a:buNone/>
            </a:pPr>
            <a:r>
              <a:rPr lang="en-ID" sz="700">
                <a:solidFill>
                  <a:srgbClr val="FF0000"/>
                </a:solidFill>
              </a:rPr>
              <a:t>        $filePath = $directory . "/" . $filename;</a:t>
            </a:r>
            <a:endParaRPr sz="700">
              <a:solidFill>
                <a:srgbClr val="FF0000"/>
              </a:solidFill>
            </a:endParaRPr>
          </a:p>
          <a:p>
            <a:pPr indent="0" lvl="0" marL="0" marR="0" rtl="0" algn="l">
              <a:spcBef>
                <a:spcPts val="0"/>
              </a:spcBef>
              <a:spcAft>
                <a:spcPts val="0"/>
              </a:spcAft>
              <a:buNone/>
            </a:pPr>
            <a:r>
              <a:rPr lang="en-ID" sz="700">
                <a:solidFill>
                  <a:srgbClr val="FF0000"/>
                </a:solidFill>
              </a:rPr>
              <a:t>        // Save the binary data to the file</a:t>
            </a:r>
            <a:endParaRPr sz="700">
              <a:solidFill>
                <a:srgbClr val="FF0000"/>
              </a:solidFill>
            </a:endParaRPr>
          </a:p>
          <a:p>
            <a:pPr indent="0" lvl="0" marL="0" marR="0" rtl="0" algn="l">
              <a:spcBef>
                <a:spcPts val="0"/>
              </a:spcBef>
              <a:spcAft>
                <a:spcPts val="0"/>
              </a:spcAft>
              <a:buNone/>
            </a:pPr>
            <a:r>
              <a:rPr lang="en-ID" sz="700">
                <a:solidFill>
                  <a:srgbClr val="FF0000"/>
                </a:solidFill>
              </a:rPr>
              <a:t>        if (file_put_contents($filePath, $imageData) === false) {</a:t>
            </a:r>
            <a:endParaRPr sz="700">
              <a:solidFill>
                <a:srgbClr val="FF0000"/>
              </a:solidFill>
            </a:endParaRPr>
          </a:p>
          <a:p>
            <a:pPr indent="0" lvl="0" marL="0" marR="0" rtl="0" algn="l">
              <a:spcBef>
                <a:spcPts val="0"/>
              </a:spcBef>
              <a:spcAft>
                <a:spcPts val="0"/>
              </a:spcAft>
              <a:buNone/>
            </a:pPr>
            <a:r>
              <a:rPr lang="en-ID" sz="700">
                <a:solidFill>
                  <a:srgbClr val="FF0000"/>
                </a:solidFill>
              </a:rPr>
              <a:t>            $response["message"] = "Failed to save the file.";</a:t>
            </a:r>
            <a:endParaRPr sz="700">
              <a:solidFill>
                <a:srgbClr val="FF0000"/>
              </a:solidFill>
            </a:endParaRPr>
          </a:p>
          <a:p>
            <a:pPr indent="0" lvl="0" marL="0" marR="0" rtl="0" algn="l">
              <a:spcBef>
                <a:spcPts val="0"/>
              </a:spcBef>
              <a:spcAft>
                <a:spcPts val="0"/>
              </a:spcAft>
              <a:buNone/>
            </a:pPr>
            <a:r>
              <a:rPr lang="en-ID" sz="700">
                <a:solidFill>
                  <a:srgbClr val="FF0000"/>
                </a:solidFill>
              </a:rPr>
              <a:t>            return $response;</a:t>
            </a:r>
            <a:endParaRPr sz="700">
              <a:solidFill>
                <a:srgbClr val="FF0000"/>
              </a:solidFill>
            </a:endParaRPr>
          </a:p>
          <a:p>
            <a:pPr indent="0" lvl="0" marL="0" marR="0" rtl="0" algn="l">
              <a:spcBef>
                <a:spcPts val="0"/>
              </a:spcBef>
              <a:spcAft>
                <a:spcPts val="0"/>
              </a:spcAft>
              <a:buNone/>
            </a:pPr>
            <a:r>
              <a:rPr lang="en-ID" sz="700">
                <a:solidFill>
                  <a:srgbClr val="FF0000"/>
                </a:solidFill>
              </a:rPr>
              <a:t>        }</a:t>
            </a:r>
            <a:endParaRPr sz="700">
              <a:solidFill>
                <a:srgbClr val="FF0000"/>
              </a:solidFill>
            </a:endParaRPr>
          </a:p>
          <a:p>
            <a:pPr indent="0" lvl="0" marL="0" marR="0" rtl="0" algn="l">
              <a:spcBef>
                <a:spcPts val="0"/>
              </a:spcBef>
              <a:spcAft>
                <a:spcPts val="0"/>
              </a:spcAft>
              <a:buNone/>
            </a:pPr>
            <a:r>
              <a:rPr lang="en-ID" sz="700">
                <a:solidFill>
                  <a:srgbClr val="FF0000"/>
                </a:solidFill>
              </a:rPr>
              <a:t>        $response["result"] = "success";</a:t>
            </a:r>
            <a:endParaRPr sz="700">
              <a:solidFill>
                <a:srgbClr val="FF0000"/>
              </a:solidFill>
            </a:endParaRPr>
          </a:p>
          <a:p>
            <a:pPr indent="0" lvl="0" marL="0" marR="0" rtl="0" algn="l">
              <a:spcBef>
                <a:spcPts val="0"/>
              </a:spcBef>
              <a:spcAft>
                <a:spcPts val="0"/>
              </a:spcAft>
              <a:buNone/>
            </a:pPr>
            <a:r>
              <a:rPr lang="en-ID" sz="700">
                <a:solidFill>
                  <a:srgbClr val="FF0000"/>
                </a:solidFill>
              </a:rPr>
              <a:t>        $response["message"] = "File successfully uploaded.";</a:t>
            </a:r>
            <a:endParaRPr sz="700">
              <a:solidFill>
                <a:srgbClr val="FF0000"/>
              </a:solidFill>
            </a:endParaRPr>
          </a:p>
          <a:p>
            <a:pPr indent="0" lvl="0" marL="0" marR="0" rtl="0" algn="l">
              <a:spcBef>
                <a:spcPts val="0"/>
              </a:spcBef>
              <a:spcAft>
                <a:spcPts val="0"/>
              </a:spcAft>
              <a:buNone/>
            </a:pPr>
            <a:r>
              <a:rPr lang="en-ID" sz="700">
                <a:solidFill>
                  <a:srgbClr val="FF0000"/>
                </a:solidFill>
              </a:rPr>
              <a:t>        $response["file_path"] = $filePath;</a:t>
            </a:r>
            <a:endParaRPr sz="700">
              <a:solidFill>
                <a:srgbClr val="FF0000"/>
              </a:solidFill>
            </a:endParaRPr>
          </a:p>
          <a:p>
            <a:pPr indent="0" lvl="0" marL="0" marR="0" rtl="0" algn="l">
              <a:spcBef>
                <a:spcPts val="0"/>
              </a:spcBef>
              <a:spcAft>
                <a:spcPts val="0"/>
              </a:spcAft>
              <a:buNone/>
            </a:pPr>
            <a:r>
              <a:rPr lang="en-ID" sz="700">
                <a:solidFill>
                  <a:srgbClr val="FF0000"/>
                </a:solidFill>
              </a:rPr>
              <a:t>        return $response;</a:t>
            </a:r>
            <a:endParaRPr sz="700">
              <a:solidFill>
                <a:srgbClr val="FF0000"/>
              </a:solidFill>
            </a:endParaRPr>
          </a:p>
          <a:p>
            <a:pPr indent="0" lvl="0" marL="0" marR="0" rtl="0" algn="l">
              <a:spcBef>
                <a:spcPts val="0"/>
              </a:spcBef>
              <a:spcAft>
                <a:spcPts val="0"/>
              </a:spcAft>
              <a:buNone/>
            </a:pPr>
            <a:r>
              <a:rPr lang="en-ID" sz="700">
                <a:solidFill>
                  <a:srgbClr val="FF0000"/>
                </a:solidFill>
              </a:rPr>
              <a:t>    }</a:t>
            </a:r>
            <a:endParaRPr sz="700">
              <a:solidFill>
                <a:srgbClr val="FF0000"/>
              </a:solidFill>
            </a:endParaRPr>
          </a:p>
          <a:p>
            <a:pPr indent="0" lvl="0" marL="0" marR="0" rtl="0" algn="l">
              <a:spcBef>
                <a:spcPts val="0"/>
              </a:spcBef>
              <a:spcAft>
                <a:spcPts val="0"/>
              </a:spcAft>
              <a:buNone/>
            </a:pPr>
            <a:r>
              <a:t/>
            </a:r>
            <a:endParaRPr sz="700">
              <a:solidFill>
                <a:srgbClr val="FF0000"/>
              </a:solidFill>
            </a:endParaRPr>
          </a:p>
          <a:p>
            <a:pPr indent="0" lvl="0" marL="0" marR="0" rtl="0" algn="l">
              <a:spcBef>
                <a:spcPts val="0"/>
              </a:spcBef>
              <a:spcAft>
                <a:spcPts val="0"/>
              </a:spcAft>
              <a:buNone/>
            </a:pPr>
            <a:r>
              <a:rPr lang="en-ID" sz="700">
                <a:solidFill>
                  <a:srgbClr val="FF0000"/>
                </a:solidFill>
              </a:rPr>
              <a:t>    $response = saveBase64Image($image, $movie_id);</a:t>
            </a:r>
            <a:endParaRPr sz="700">
              <a:solidFill>
                <a:srgbClr val="FF0000"/>
              </a:solidFill>
            </a:endParaRPr>
          </a:p>
          <a:p>
            <a:pPr indent="0" lvl="0" marL="0" marR="0" rtl="0" algn="l">
              <a:spcBef>
                <a:spcPts val="0"/>
              </a:spcBef>
              <a:spcAft>
                <a:spcPts val="0"/>
              </a:spcAft>
              <a:buNone/>
            </a:pPr>
            <a:r>
              <a:rPr lang="en-ID" sz="700">
                <a:solidFill>
                  <a:srgbClr val="FF0000"/>
                </a:solidFill>
              </a:rPr>
              <a:t>    echo json_encode($response);</a:t>
            </a:r>
            <a:endParaRPr sz="700">
              <a:solidFill>
                <a:srgbClr val="FF0000"/>
              </a:solidFill>
            </a:endParaRPr>
          </a:p>
          <a:p>
            <a:pPr indent="0" lvl="0" marL="0" marR="0" rtl="0" algn="l">
              <a:spcBef>
                <a:spcPts val="0"/>
              </a:spcBef>
              <a:spcAft>
                <a:spcPts val="0"/>
              </a:spcAft>
              <a:buNone/>
            </a:pPr>
            <a:r>
              <a:rPr lang="en-ID" sz="700">
                <a:solidFill>
                  <a:srgbClr val="FF0000"/>
                </a:solidFill>
              </a:rPr>
              <a:t>?&gt;</a:t>
            </a:r>
            <a:endParaRPr sz="70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 name="Shape 213"/>
        <p:cNvGrpSpPr/>
        <p:nvPr/>
      </p:nvGrpSpPr>
      <p:grpSpPr>
        <a:xfrm>
          <a:off x="0" y="0"/>
          <a:ext cx="0" cy="0"/>
          <a:chOff x="0" y="0"/>
          <a:chExt cx="0" cy="0"/>
        </a:xfrm>
      </p:grpSpPr>
      <p:cxnSp>
        <p:nvCxnSpPr>
          <p:cNvPr id="214" name="Google Shape;214;p1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15" name="Google Shape;215;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 name="Google Shape;216;p1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Button upload</a:t>
            </a:r>
            <a:endParaRPr/>
          </a:p>
        </p:txBody>
      </p:sp>
      <p:cxnSp>
        <p:nvCxnSpPr>
          <p:cNvPr id="217" name="Google Shape;217;p1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18" name="Google Shape;218;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16"/>
          <p:cNvSpPr/>
          <p:nvPr/>
        </p:nvSpPr>
        <p:spPr>
          <a:xfrm>
            <a:off x="3509554" y="166900"/>
            <a:ext cx="5478871" cy="4708981"/>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void uploadScene64() async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String base64Image = base64Encode(_imageBytes!);</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final response = await http.post(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Uri.parse("https://ubaya.cloud/flutter/</a:t>
            </a:r>
            <a:r>
              <a:rPr b="1" lang="en-ID" sz="1200">
                <a:solidFill>
                  <a:srgbClr val="FF0000"/>
                </a:solidFill>
                <a:latin typeface="Consolas"/>
                <a:ea typeface="Consolas"/>
                <a:cs typeface="Consolas"/>
                <a:sym typeface="Consolas"/>
              </a:rPr>
              <a:t>[NRP]</a:t>
            </a:r>
            <a:r>
              <a:rPr lang="en-ID" sz="1200">
                <a:solidFill>
                  <a:srgbClr val="FF0000"/>
                </a:solidFill>
                <a:latin typeface="Consolas"/>
                <a:ea typeface="Consolas"/>
                <a:cs typeface="Consolas"/>
                <a:sym typeface="Consolas"/>
              </a:rPr>
              <a:t>/uploadscene64.php"),</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body: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'movie_id': widget.movieID.toString(),</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'image': base64Image,</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if (response.statusCode == 200)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Map json = jsonDecode(response.body);</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if (json['result'] == 'success')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if (!mounted) return;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ScaffoldMessenger.of(context)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.showSnackBar(SnackBar(content: Text('Sukses mengupload Scene')));</a:t>
            </a:r>
            <a:br>
              <a:rPr lang="en-ID" sz="1200">
                <a:solidFill>
                  <a:srgbClr val="FF0000"/>
                </a:solidFill>
                <a:latin typeface="Consolas"/>
                <a:ea typeface="Consolas"/>
                <a:cs typeface="Consolas"/>
                <a:sym typeface="Consolas"/>
              </a:rPr>
            </a:br>
            <a:r>
              <a:rPr lang="en-ID" sz="1200">
                <a:solidFill>
                  <a:srgbClr val="FF0000"/>
                </a:solidFill>
                <a:latin typeface="Consolas"/>
                <a:ea typeface="Consolas"/>
                <a:cs typeface="Consolas"/>
                <a:sym typeface="Consolas"/>
              </a:rPr>
              <a:t>setState(()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bacaData();</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 else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throw Exception('Failed to read API');</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p:txBody>
      </p:sp>
      <p:sp>
        <p:nvSpPr>
          <p:cNvPr id="220" name="Google Shape;220;p16"/>
          <p:cNvSpPr/>
          <p:nvPr/>
        </p:nvSpPr>
        <p:spPr>
          <a:xfrm>
            <a:off x="247015" y="757057"/>
            <a:ext cx="30012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add a button that call previous function.</a:t>
            </a:r>
            <a:endParaRPr/>
          </a:p>
        </p:txBody>
      </p:sp>
      <p:sp>
        <p:nvSpPr>
          <p:cNvPr id="221" name="Google Shape;221;p16"/>
          <p:cNvSpPr txBox="1"/>
          <p:nvPr/>
        </p:nvSpPr>
        <p:spPr>
          <a:xfrm>
            <a:off x="155575" y="1884293"/>
            <a:ext cx="3205934"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Arial"/>
                <a:ea typeface="Arial"/>
                <a:cs typeface="Arial"/>
                <a:sym typeface="Arial"/>
              </a:rPr>
              <a:t> if(_imageBytes!=null)</a:t>
            </a:r>
            <a:endParaRPr/>
          </a:p>
          <a:p>
            <a:pPr indent="0" lvl="0" marL="0" marR="0" rtl="0" algn="l">
              <a:spcBef>
                <a:spcPts val="0"/>
              </a:spcBef>
              <a:spcAft>
                <a:spcPts val="0"/>
              </a:spcAft>
              <a:buNone/>
            </a:pPr>
            <a:r>
              <a:rPr lang="en-ID" sz="1200">
                <a:solidFill>
                  <a:srgbClr val="FF0000"/>
                </a:solidFill>
                <a:latin typeface="Arial"/>
                <a:ea typeface="Arial"/>
                <a:cs typeface="Arial"/>
                <a:sym typeface="Arial"/>
              </a:rPr>
              <a:t>        Padding(</a:t>
            </a:r>
            <a:endParaRPr/>
          </a:p>
          <a:p>
            <a:pPr indent="0" lvl="0" marL="0" marR="0" rtl="0" algn="l">
              <a:spcBef>
                <a:spcPts val="0"/>
              </a:spcBef>
              <a:spcAft>
                <a:spcPts val="0"/>
              </a:spcAft>
              <a:buNone/>
            </a:pPr>
            <a:r>
              <a:rPr lang="en-ID" sz="1200">
                <a:solidFill>
                  <a:srgbClr val="FF0000"/>
                </a:solidFill>
                <a:latin typeface="Arial"/>
                <a:ea typeface="Arial"/>
                <a:cs typeface="Arial"/>
                <a:sym typeface="Arial"/>
              </a:rPr>
              <a:t>        padding: const EdgeInsets.symmetric(vertical: 16.0),</a:t>
            </a:r>
            <a:endParaRPr/>
          </a:p>
          <a:p>
            <a:pPr indent="0" lvl="0" marL="0" marR="0" rtl="0" algn="l">
              <a:spcBef>
                <a:spcPts val="0"/>
              </a:spcBef>
              <a:spcAft>
                <a:spcPts val="0"/>
              </a:spcAft>
              <a:buNone/>
            </a:pPr>
            <a:r>
              <a:rPr lang="en-ID" sz="1200">
                <a:solidFill>
                  <a:srgbClr val="FF0000"/>
                </a:solidFill>
                <a:latin typeface="Arial"/>
                <a:ea typeface="Arial"/>
                <a:cs typeface="Arial"/>
                <a:sym typeface="Arial"/>
              </a:rPr>
              <a:t>        child: ElevatedButton(child: const Text("Upload"),</a:t>
            </a:r>
            <a:endParaRPr/>
          </a:p>
          <a:p>
            <a:pPr indent="0" lvl="0" marL="0" marR="0" rtl="0" algn="l">
              <a:spcBef>
                <a:spcPts val="0"/>
              </a:spcBef>
              <a:spcAft>
                <a:spcPts val="0"/>
              </a:spcAft>
              <a:buNone/>
            </a:pPr>
            <a:r>
              <a:rPr lang="en-ID" sz="1200">
                <a:solidFill>
                  <a:srgbClr val="FF0000"/>
                </a:solidFill>
                <a:latin typeface="Arial"/>
                <a:ea typeface="Arial"/>
                <a:cs typeface="Arial"/>
                <a:sym typeface="Arial"/>
              </a:rPr>
              <a:t>        onPressed: () =&gt; uploadScene64())),</a:t>
            </a:r>
            <a:endParaRPr sz="1200">
              <a:solidFill>
                <a:srgbClr val="FF0000"/>
              </a:solidFill>
              <a:latin typeface="Arial"/>
              <a:ea typeface="Arial"/>
              <a:cs typeface="Arial"/>
              <a:sym typeface="Arial"/>
            </a:endParaRPr>
          </a:p>
        </p:txBody>
      </p:sp>
      <p:sp>
        <p:nvSpPr>
          <p:cNvPr id="222" name="Google Shape;222;p16"/>
          <p:cNvSpPr txBox="1"/>
          <p:nvPr/>
        </p:nvSpPr>
        <p:spPr>
          <a:xfrm>
            <a:off x="247015" y="3866606"/>
            <a:ext cx="30012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check your images folder after uploading a scene</a:t>
            </a:r>
            <a:endParaRPr sz="18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6" name="Shape 226"/>
        <p:cNvGrpSpPr/>
        <p:nvPr/>
      </p:nvGrpSpPr>
      <p:grpSpPr>
        <a:xfrm>
          <a:off x="0" y="0"/>
          <a:ext cx="0" cy="0"/>
          <a:chOff x="0" y="0"/>
          <a:chExt cx="0" cy="0"/>
        </a:xfrm>
      </p:grpSpPr>
      <p:sp>
        <p:nvSpPr>
          <p:cNvPr id="227" name="Google Shape;227;p17"/>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4800"/>
              <a:buFont typeface="Arial"/>
              <a:buNone/>
            </a:pPr>
            <a:r>
              <a:rPr b="1" lang="en-ID" sz="4800">
                <a:solidFill>
                  <a:srgbClr val="DAE5F1"/>
                </a:solidFill>
              </a:rPr>
              <a:t>LIST SCENE</a:t>
            </a:r>
            <a:endParaRPr/>
          </a:p>
        </p:txBody>
      </p:sp>
      <p:sp>
        <p:nvSpPr>
          <p:cNvPr id="228" name="Google Shape;228;p17"/>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02</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2" name="Shape 232"/>
        <p:cNvGrpSpPr/>
        <p:nvPr/>
      </p:nvGrpSpPr>
      <p:grpSpPr>
        <a:xfrm>
          <a:off x="0" y="0"/>
          <a:ext cx="0" cy="0"/>
          <a:chOff x="0" y="0"/>
          <a:chExt cx="0" cy="0"/>
        </a:xfrm>
      </p:grpSpPr>
      <p:cxnSp>
        <p:nvCxnSpPr>
          <p:cNvPr id="233" name="Google Shape;233;p1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34" name="Google Shape;234;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5" name="Google Shape;235;p18"/>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update detailmovie.php</a:t>
            </a:r>
            <a:endParaRPr b="1" sz="3600">
              <a:solidFill>
                <a:srgbClr val="000090"/>
              </a:solidFill>
              <a:latin typeface="Arial"/>
              <a:ea typeface="Arial"/>
              <a:cs typeface="Arial"/>
              <a:sym typeface="Arial"/>
            </a:endParaRPr>
          </a:p>
        </p:txBody>
      </p:sp>
      <p:cxnSp>
        <p:nvCxnSpPr>
          <p:cNvPr id="236" name="Google Shape;236;p1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37" name="Google Shape;237;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8" name="Google Shape;238;p18"/>
          <p:cNvSpPr/>
          <p:nvPr/>
        </p:nvSpPr>
        <p:spPr>
          <a:xfrm>
            <a:off x="307975" y="737275"/>
            <a:ext cx="8303400" cy="310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100">
                <a:solidFill>
                  <a:srgbClr val="A5A5A5"/>
                </a:solidFill>
                <a:latin typeface="Consolas"/>
                <a:ea typeface="Consolas"/>
                <a:cs typeface="Consolas"/>
                <a:sym typeface="Consolas"/>
              </a:rPr>
              <a:t>.......... </a:t>
            </a:r>
            <a:br>
              <a:rPr lang="en-ID" sz="1100">
                <a:solidFill>
                  <a:srgbClr val="FF0000"/>
                </a:solidFill>
                <a:latin typeface="Consolas"/>
                <a:ea typeface="Consolas"/>
                <a:cs typeface="Consolas"/>
                <a:sym typeface="Consolas"/>
              </a:rPr>
            </a:br>
            <a:r>
              <a:rPr lang="en-ID" sz="1100">
                <a:solidFill>
                  <a:srgbClr val="FF0000"/>
                </a:solidFill>
                <a:latin typeface="Consolas"/>
                <a:ea typeface="Consolas"/>
                <a:cs typeface="Consolas"/>
                <a:sym typeface="Consolas"/>
              </a:rPr>
              <a:t>// Get image files from the directory</a:t>
            </a:r>
            <a:endParaRPr sz="11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$imageDir = "images/" . htmlspecialchars($id);</a:t>
            </a:r>
            <a:endParaRPr sz="11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$images = [];</a:t>
            </a:r>
            <a:endParaRPr sz="11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if (is_dir($imageDir)) {</a:t>
            </a:r>
            <a:endParaRPr sz="11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$files = scandir($imageDir);</a:t>
            </a:r>
            <a:endParaRPr sz="11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foreach ($files as $file) {</a:t>
            </a:r>
            <a:endParaRPr sz="11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if ($file !== "." &amp;&amp; $file !== ".." &amp;&amp; preg_match('/\.(jpg|jpeg|png|gif)$/i', $file)) {</a:t>
            </a:r>
            <a:endParaRPr sz="11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$images[] = $imageDir . "/" . $file; // Add full file path</a:t>
            </a:r>
            <a:endParaRPr sz="11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sz="11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sz="11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a:t>
            </a:r>
            <a:endParaRPr sz="1100">
              <a:latin typeface="Consolas"/>
              <a:ea typeface="Consolas"/>
              <a:cs typeface="Consolas"/>
              <a:sym typeface="Consolas"/>
            </a:endParaRPr>
          </a:p>
          <a:p>
            <a:pPr indent="0" lvl="0" marL="0" marR="0" rtl="0" algn="l">
              <a:spcBef>
                <a:spcPts val="0"/>
              </a:spcBef>
              <a:spcAft>
                <a:spcPts val="0"/>
              </a:spcAft>
              <a:buNone/>
            </a:pPr>
            <a:r>
              <a:rPr lang="en-ID" sz="1100">
                <a:solidFill>
                  <a:srgbClr val="FF0000"/>
                </a:solidFill>
                <a:latin typeface="Consolas"/>
                <a:ea typeface="Consolas"/>
                <a:cs typeface="Consolas"/>
                <a:sym typeface="Consolas"/>
              </a:rPr>
              <a:t>    $r["scenes"] = $images; </a:t>
            </a:r>
            <a:endParaRPr sz="1100">
              <a:latin typeface="Consolas"/>
              <a:ea typeface="Consolas"/>
              <a:cs typeface="Consolas"/>
              <a:sym typeface="Consolas"/>
            </a:endParaRPr>
          </a:p>
          <a:p>
            <a:pPr indent="0" lvl="0" marL="0" marR="0" rtl="0" algn="l">
              <a:spcBef>
                <a:spcPts val="0"/>
              </a:spcBef>
              <a:spcAft>
                <a:spcPts val="0"/>
              </a:spcAft>
              <a:buNone/>
            </a:pPr>
            <a:r>
              <a:rPr lang="en-ID" sz="1100">
                <a:solidFill>
                  <a:srgbClr val="A5A5A5"/>
                </a:solidFill>
                <a:latin typeface="Consolas"/>
                <a:ea typeface="Consolas"/>
                <a:cs typeface="Consolas"/>
                <a:sym typeface="Consolas"/>
              </a:rPr>
              <a:t>.........</a:t>
            </a:r>
            <a:endParaRPr sz="1100">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 name="Shape 242"/>
        <p:cNvGrpSpPr/>
        <p:nvPr/>
      </p:nvGrpSpPr>
      <p:grpSpPr>
        <a:xfrm>
          <a:off x="0" y="0"/>
          <a:ext cx="0" cy="0"/>
          <a:chOff x="0" y="0"/>
          <a:chExt cx="0" cy="0"/>
        </a:xfrm>
      </p:grpSpPr>
      <p:cxnSp>
        <p:nvCxnSpPr>
          <p:cNvPr id="243" name="Google Shape;243;p1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44" name="Google Shape;244;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5" name="Google Shape;245;p19"/>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add listview</a:t>
            </a:r>
            <a:endParaRPr b="1" sz="3600">
              <a:solidFill>
                <a:srgbClr val="000090"/>
              </a:solidFill>
              <a:latin typeface="Arial"/>
              <a:ea typeface="Arial"/>
              <a:cs typeface="Arial"/>
              <a:sym typeface="Arial"/>
            </a:endParaRPr>
          </a:p>
        </p:txBody>
      </p:sp>
      <p:cxnSp>
        <p:nvCxnSpPr>
          <p:cNvPr id="246" name="Google Shape;246;p1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47" name="Google Shape;247;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8" name="Google Shape;248;p19"/>
          <p:cNvSpPr/>
          <p:nvPr/>
        </p:nvSpPr>
        <p:spPr>
          <a:xfrm>
            <a:off x="307974" y="737281"/>
            <a:ext cx="5152299"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Update the popmovie class to get scenes array.</a:t>
            </a:r>
            <a:br>
              <a:rPr lang="en-ID" sz="1400">
                <a:solidFill>
                  <a:schemeClr val="dk1"/>
                </a:solidFill>
                <a:latin typeface="Arial"/>
                <a:ea typeface="Arial"/>
                <a:cs typeface="Arial"/>
                <a:sym typeface="Arial"/>
              </a:rPr>
            </a:br>
            <a:r>
              <a:rPr lang="en-ID" sz="1400">
                <a:solidFill>
                  <a:schemeClr val="dk1"/>
                </a:solidFill>
                <a:latin typeface="Arial"/>
                <a:ea typeface="Arial"/>
                <a:cs typeface="Arial"/>
                <a:sym typeface="Arial"/>
              </a:rPr>
              <a:t>Add listview :</a:t>
            </a:r>
            <a:endParaRPr/>
          </a:p>
          <a:p>
            <a:pPr indent="0" lvl="0" marL="0" marR="0" rtl="0" algn="l">
              <a:spcBef>
                <a:spcPts val="0"/>
              </a:spcBef>
              <a:spcAft>
                <a:spcPts val="0"/>
              </a:spcAft>
              <a:buNone/>
            </a:pPr>
            <a:r>
              <a:t/>
            </a:r>
            <a:endParaRPr sz="1400">
              <a:solidFill>
                <a:srgbClr val="FF0000"/>
              </a:solidFill>
              <a:latin typeface="Consolas"/>
              <a:ea typeface="Consolas"/>
              <a:cs typeface="Consolas"/>
              <a:sym typeface="Consolas"/>
            </a:endParaRPr>
          </a:p>
        </p:txBody>
      </p:sp>
      <p:sp>
        <p:nvSpPr>
          <p:cNvPr id="249" name="Google Shape;249;p19"/>
          <p:cNvSpPr txBox="1"/>
          <p:nvPr/>
        </p:nvSpPr>
        <p:spPr>
          <a:xfrm>
            <a:off x="460375" y="1475950"/>
            <a:ext cx="8683500" cy="2678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if(_pm != null)</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Padding(</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padding: const EdgeInsets.all(10),</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child: ListView.builder(</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shrinkWrap: true,</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itemCount: _pm!.scenes!.length,</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itemBuilder: (BuildContext ctxt, int index) {</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return Image.network(</a:t>
            </a:r>
            <a:endParaRPr sz="1200">
              <a:solidFill>
                <a:srgbClr val="FF0000"/>
              </a:solidFill>
              <a:latin typeface="Consolas"/>
              <a:ea typeface="Consolas"/>
              <a:cs typeface="Consolas"/>
              <a:sym typeface="Consolas"/>
            </a:endParaRPr>
          </a:p>
          <a:p>
            <a:pPr indent="457200" lvl="0" marL="1828800" marR="0" rtl="0" algn="l">
              <a:spcBef>
                <a:spcPts val="0"/>
              </a:spcBef>
              <a:spcAft>
                <a:spcPts val="0"/>
              </a:spcAft>
              <a:buNone/>
            </a:pPr>
            <a:r>
              <a:rPr lang="en-ID" sz="1200">
                <a:solidFill>
                  <a:srgbClr val="FF0000"/>
                </a:solidFill>
                <a:latin typeface="Consolas"/>
                <a:ea typeface="Consolas"/>
                <a:cs typeface="Consolas"/>
                <a:sym typeface="Consolas"/>
              </a:rPr>
              <a:t>"</a:t>
            </a:r>
            <a:r>
              <a:rPr lang="en-ID" sz="1200" u="sng">
                <a:solidFill>
                  <a:schemeClr val="hlink"/>
                </a:solidFill>
                <a:latin typeface="Consolas"/>
                <a:ea typeface="Consolas"/>
                <a:cs typeface="Consolas"/>
                <a:sym typeface="Consolas"/>
                <a:hlinkClick r:id="rId4"/>
              </a:rPr>
              <a:t>https://ubaya.</a:t>
            </a:r>
            <a:r>
              <a:rPr lang="en-ID" sz="1200" u="sng">
                <a:solidFill>
                  <a:schemeClr val="hlink"/>
                </a:solidFill>
                <a:latin typeface="Consolas"/>
                <a:ea typeface="Consolas"/>
                <a:cs typeface="Consolas"/>
                <a:sym typeface="Consolas"/>
                <a:hlinkClick r:id="rId5"/>
              </a:rPr>
              <a:t>cloud</a:t>
            </a:r>
            <a:r>
              <a:rPr lang="en-ID" sz="1200" u="sng">
                <a:solidFill>
                  <a:schemeClr val="hlink"/>
                </a:solidFill>
                <a:latin typeface="Consolas"/>
                <a:ea typeface="Consolas"/>
                <a:cs typeface="Consolas"/>
                <a:sym typeface="Consolas"/>
                <a:hlinkClick r:id="rId6"/>
              </a:rPr>
              <a:t>/</a:t>
            </a:r>
            <a:r>
              <a:rPr lang="en-ID" sz="1200" u="sng">
                <a:solidFill>
                  <a:schemeClr val="hlink"/>
                </a:solidFill>
                <a:latin typeface="Consolas"/>
                <a:ea typeface="Consolas"/>
                <a:cs typeface="Consolas"/>
                <a:sym typeface="Consolas"/>
                <a:hlinkClick r:id="rId7"/>
              </a:rPr>
              <a:t>flutter</a:t>
            </a:r>
            <a:r>
              <a:rPr lang="en-ID" sz="1200" u="sng">
                <a:solidFill>
                  <a:schemeClr val="hlink"/>
                </a:solidFill>
                <a:latin typeface="Consolas"/>
                <a:ea typeface="Consolas"/>
                <a:cs typeface="Consolas"/>
                <a:sym typeface="Consolas"/>
                <a:hlinkClick r:id="rId8"/>
              </a:rPr>
              <a:t>/</a:t>
            </a:r>
            <a:r>
              <a:rPr b="1" lang="en-ID" sz="1200" u="sng">
                <a:solidFill>
                  <a:schemeClr val="hlink"/>
                </a:solidFill>
                <a:latin typeface="Consolas"/>
                <a:ea typeface="Consolas"/>
                <a:cs typeface="Consolas"/>
                <a:sym typeface="Consolas"/>
                <a:hlinkClick r:id="rId9"/>
              </a:rPr>
              <a:t>[NRP]</a:t>
            </a:r>
            <a:r>
              <a:rPr lang="en-ID" sz="1200" u="sng">
                <a:solidFill>
                  <a:schemeClr val="hlink"/>
                </a:solidFill>
                <a:latin typeface="Consolas"/>
                <a:ea typeface="Consolas"/>
                <a:cs typeface="Consolas"/>
                <a:sym typeface="Consolas"/>
                <a:hlinkClick r:id="rId10"/>
              </a:rPr>
              <a:t>/"+_pm?.scenes?[index</a:t>
            </a:r>
            <a:r>
              <a:rPr lang="en-ID" sz="1200">
                <a:solidFill>
                  <a:srgbClr val="FF0000"/>
                </a:solidFill>
                <a:latin typeface="Consolas"/>
                <a:ea typeface="Consolas"/>
                <a:cs typeface="Consolas"/>
                <a:sym typeface="Consolas"/>
              </a:rPr>
              <a:t>],</a:t>
            </a:r>
            <a:endParaRPr sz="1200">
              <a:solidFill>
                <a:srgbClr val="FF0000"/>
              </a:solidFill>
              <a:latin typeface="Consolas"/>
              <a:ea typeface="Consolas"/>
              <a:cs typeface="Consolas"/>
              <a:sym typeface="Consolas"/>
            </a:endParaRPr>
          </a:p>
          <a:p>
            <a:pPr indent="457200" lvl="0" marL="182880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height: 200, // Set a fixed height</a:t>
            </a:r>
            <a:endParaRPr sz="1200">
              <a:solidFill>
                <a:srgbClr val="FF0000"/>
              </a:solidFill>
              <a:latin typeface="Consolas"/>
              <a:ea typeface="Consolas"/>
              <a:cs typeface="Consolas"/>
              <a:sym typeface="Consolas"/>
            </a:endParaRPr>
          </a:p>
          <a:p>
            <a:pPr indent="457200" lvl="0" marL="1828800" rtl="0" algn="l">
              <a:spcBef>
                <a:spcPts val="0"/>
              </a:spcBef>
              <a:spcAft>
                <a:spcPts val="0"/>
              </a:spcAft>
              <a:buClr>
                <a:schemeClr val="dk1"/>
              </a:buClr>
              <a:buSzPts val="1100"/>
              <a:buFont typeface="Arial"/>
              <a:buNone/>
            </a:pPr>
            <a:r>
              <a:rPr lang="en-ID" sz="1200">
                <a:solidFill>
                  <a:srgbClr val="FF0000"/>
                </a:solidFill>
                <a:latin typeface="Consolas"/>
                <a:ea typeface="Consolas"/>
                <a:cs typeface="Consolas"/>
                <a:sym typeface="Consolas"/>
              </a:rPr>
              <a:t>width: double.infinity, // Set width to fill the screen width</a:t>
            </a:r>
            <a:endParaRPr sz="1200">
              <a:solidFill>
                <a:srgbClr val="FF0000"/>
              </a:solidFill>
              <a:latin typeface="Consolas"/>
              <a:ea typeface="Consolas"/>
              <a:cs typeface="Consolas"/>
              <a:sym typeface="Consolas"/>
            </a:endParaRPr>
          </a:p>
          <a:p>
            <a:pPr indent="457200" lvl="0" marL="1828800" rtl="0" algn="l">
              <a:spcBef>
                <a:spcPts val="0"/>
              </a:spcBef>
              <a:spcAft>
                <a:spcPts val="0"/>
              </a:spcAft>
              <a:buSzPts val="1100"/>
              <a:buNone/>
            </a:pPr>
            <a:r>
              <a:rPr lang="en-ID" sz="1200">
                <a:solidFill>
                  <a:srgbClr val="FF0000"/>
                </a:solidFill>
                <a:latin typeface="Consolas"/>
                <a:ea typeface="Consolas"/>
                <a:cs typeface="Consolas"/>
                <a:sym typeface="Consolas"/>
              </a:rPr>
              <a:t>fit: BoxFit.fitHeight</a:t>
            </a:r>
            <a:endParaRPr sz="1200">
              <a:solidFill>
                <a:srgbClr val="FF0000"/>
              </a:solidFill>
              <a:latin typeface="Consolas"/>
              <a:ea typeface="Consolas"/>
              <a:cs typeface="Consolas"/>
              <a:sym typeface="Consolas"/>
            </a:endParaRPr>
          </a:p>
          <a:p>
            <a:pPr indent="0" lvl="0" marL="1828800" marR="0" rtl="0" algn="l">
              <a:spcBef>
                <a:spcPts val="0"/>
              </a:spcBef>
              <a:spcAft>
                <a:spcPts val="0"/>
              </a:spcAft>
              <a:buNone/>
            </a:pPr>
            <a:r>
              <a:rPr lang="en-ID" sz="1200">
                <a:solidFill>
                  <a:srgbClr val="FF0000"/>
                </a:solidFill>
                <a:latin typeface="Consolas"/>
                <a:ea typeface="Consolas"/>
                <a:cs typeface="Consolas"/>
                <a:sym typeface="Consolas"/>
              </a:rPr>
              <a:t>);</a:t>
            </a:r>
            <a:endParaRPr>
              <a:latin typeface="Consolas"/>
              <a:ea typeface="Consolas"/>
              <a:cs typeface="Consolas"/>
              <a:sym typeface="Consolas"/>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3" name="Shape 253"/>
        <p:cNvGrpSpPr/>
        <p:nvPr/>
      </p:nvGrpSpPr>
      <p:grpSpPr>
        <a:xfrm>
          <a:off x="0" y="0"/>
          <a:ext cx="0" cy="0"/>
          <a:chOff x="0" y="0"/>
          <a:chExt cx="0" cy="0"/>
        </a:xfrm>
      </p:grpSpPr>
      <p:sp>
        <p:nvSpPr>
          <p:cNvPr id="254" name="Google Shape;254;p20"/>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b="1" lang="en-ID" sz="5400">
                <a:solidFill>
                  <a:srgbClr val="DAE5F1"/>
                </a:solidFill>
              </a:rPr>
              <a:t>EXERCISE</a:t>
            </a:r>
            <a:endParaRPr/>
          </a:p>
        </p:txBody>
      </p:sp>
      <p:sp>
        <p:nvSpPr>
          <p:cNvPr id="255" name="Google Shape;255;p20"/>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9" name="Shape 259"/>
        <p:cNvGrpSpPr/>
        <p:nvPr/>
      </p:nvGrpSpPr>
      <p:grpSpPr>
        <a:xfrm>
          <a:off x="0" y="0"/>
          <a:ext cx="0" cy="0"/>
          <a:chOff x="0" y="0"/>
          <a:chExt cx="0" cy="0"/>
        </a:xfrm>
      </p:grpSpPr>
      <p:sp>
        <p:nvSpPr>
          <p:cNvPr id="260" name="Google Shape;260;p2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EXERCISE</a:t>
            </a:r>
            <a:endParaRPr/>
          </a:p>
        </p:txBody>
      </p:sp>
      <p:cxnSp>
        <p:nvCxnSpPr>
          <p:cNvPr id="261" name="Google Shape;261;p2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62" name="Google Shape;262;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descr="blob:https://web.whatsapp.com/4be9237d-cfc1-462e-ba51-978e9348df04" id="263" name="Google Shape;263;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4" name="Google Shape;264;p21"/>
          <p:cNvSpPr/>
          <p:nvPr/>
        </p:nvSpPr>
        <p:spPr>
          <a:xfrm>
            <a:off x="460375" y="831273"/>
            <a:ext cx="837486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2000">
                <a:solidFill>
                  <a:schemeClr val="dk1"/>
                </a:solidFill>
                <a:latin typeface="Arial"/>
                <a:ea typeface="Arial"/>
                <a:cs typeface="Arial"/>
                <a:sym typeface="Arial"/>
              </a:rPr>
              <a:t>Can you delete the uploaded scene?</a:t>
            </a:r>
            <a:endParaRPr sz="14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8" name="Shape 268"/>
        <p:cNvGrpSpPr/>
        <p:nvPr/>
      </p:nvGrpSpPr>
      <p:grpSpPr>
        <a:xfrm>
          <a:off x="0" y="0"/>
          <a:ext cx="0" cy="0"/>
          <a:chOff x="0" y="0"/>
          <a:chExt cx="0" cy="0"/>
        </a:xfrm>
      </p:grpSpPr>
      <p:pic>
        <p:nvPicPr>
          <p:cNvPr descr="Blue-man-Questions-Comments" id="269" name="Google Shape;269;p22"/>
          <p:cNvPicPr preferRelativeResize="0"/>
          <p:nvPr/>
        </p:nvPicPr>
        <p:blipFill rotWithShape="1">
          <a:blip r:embed="rId4">
            <a:alphaModFix/>
          </a:blip>
          <a:srcRect b="0" l="0" r="0" t="0"/>
          <a:stretch/>
        </p:blipFill>
        <p:spPr>
          <a:xfrm>
            <a:off x="388657" y="547551"/>
            <a:ext cx="4474288" cy="46242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nformatik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2010-04-12T23:12:02Z</dcterms:created>
  <dc:creator>Diana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